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0" r:id="rId15"/>
    <p:sldId id="271" r:id="rId16"/>
    <p:sldId id="272" r:id="rId17"/>
    <p:sldId id="268" r:id="rId18"/>
    <p:sldId id="273" r:id="rId19"/>
    <p:sldId id="311" r:id="rId20"/>
    <p:sldId id="274" r:id="rId21"/>
    <p:sldId id="275" r:id="rId22"/>
    <p:sldId id="308" r:id="rId23"/>
    <p:sldId id="277" r:id="rId24"/>
    <p:sldId id="276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309" r:id="rId35"/>
    <p:sldId id="287" r:id="rId36"/>
    <p:sldId id="288" r:id="rId37"/>
    <p:sldId id="289" r:id="rId38"/>
    <p:sldId id="290" r:id="rId39"/>
    <p:sldId id="291" r:id="rId40"/>
    <p:sldId id="310" r:id="rId41"/>
    <p:sldId id="294" r:id="rId42"/>
    <p:sldId id="292" r:id="rId43"/>
    <p:sldId id="293" r:id="rId44"/>
    <p:sldId id="295" r:id="rId45"/>
    <p:sldId id="296" r:id="rId46"/>
    <p:sldId id="297" r:id="rId47"/>
  </p:sldIdLst>
  <p:sldSz cx="9144000" cy="6858000" type="screen4x3"/>
  <p:notesSz cx="6858000" cy="9144000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00FF"/>
    <a:srgbClr val="FF9900"/>
    <a:srgbClr val="66FF33"/>
    <a:srgbClr val="FF33CC"/>
    <a:srgbClr val="003300"/>
    <a:srgbClr val="008000"/>
    <a:srgbClr val="CCCC00"/>
    <a:srgbClr val="FF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972" autoAdjust="0"/>
    <p:restoredTop sz="94582" autoAdjust="0"/>
  </p:normalViewPr>
  <p:slideViewPr>
    <p:cSldViewPr>
      <p:cViewPr varScale="1">
        <p:scale>
          <a:sx n="109" d="100"/>
          <a:sy n="109" d="100"/>
        </p:scale>
        <p:origin x="2286" y="108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5A88D3AC-F88D-DCA0-3386-175A98D04ADF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>
                <a:latin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497EF5D1-9489-216D-1711-8BEA3B0B508C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>
                <a:latin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9DAC108B-3248-AAEB-FEB9-15D3888E9866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A285E75-A20B-9E77-B212-EE0F3FE823D9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AFF40FF3-4AB4-F2A0-F5CE-C5CF048B53D8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>
                <a:latin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F2788A3B-C79B-B554-FD19-51E5534BEDA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>
                <a:latin typeface="굴림" panose="020B0600000101010101" pitchFamily="50" charset="-127"/>
              </a:defRPr>
            </a:lvl1pPr>
          </a:lstStyle>
          <a:p>
            <a:pPr>
              <a:defRPr/>
            </a:pPr>
            <a:fld id="{E1F17537-23E5-4DE5-98DB-6E922DC7B16F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BA1ABAE-82DC-748F-74EF-EB47AB72B2BA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301503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882A1B03-E6EF-1509-0E27-D5B545ECF927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17969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1A9E72B9-FCDD-9AAD-C7C9-D8CAFC259D31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861763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EEF43F0-ABB3-A623-05D2-6644680AA59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4714031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jpe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6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9A25E678-7D8B-35F1-6BC2-27AC2D1B45F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6EB5FB5F-9879-FE8F-DE10-076DA540C66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09EEC06-106C-0AC6-494C-D315AC1264B5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D82FD4F5-F8EC-1EAA-5042-2329980122F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  <a:latin typeface="굴림" panose="020B0600000101010101" pitchFamily="50" charset="-127"/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나눔바른고딕" panose="020B0603020101020101" pitchFamily="50" charset="-127"/>
          <a:ea typeface="나눔바른고딕" panose="020B0603020101020101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나눔바른고딕" panose="020B0603020101020101" pitchFamily="50" charset="-127"/>
          <a:ea typeface="나눔바른고딕" panose="020B0603020101020101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나눔바른고딕" panose="020B0603020101020101" pitchFamily="50" charset="-127"/>
          <a:ea typeface="나눔바른고딕" panose="020B0603020101020101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나눔바른고딕" panose="020B0603020101020101" pitchFamily="50" charset="-127"/>
          <a:ea typeface="나눔바른고딕" panose="020B0603020101020101" pitchFamily="50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80000"/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6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바닥글 개체 틀 3">
            <a:extLst>
              <a:ext uri="{FF2B5EF4-FFF2-40B4-BE49-F238E27FC236}">
                <a16:creationId xmlns:a16="http://schemas.microsoft.com/office/drawing/2014/main" id="{EF4DEAFE-92C6-D447-A594-49DCC51FDA2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SzPct val="80000"/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6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ko-KR" altLang="en-US" sz="1000" b="0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3075" name="Rectangle 2">
            <a:extLst>
              <a:ext uri="{FF2B5EF4-FFF2-40B4-BE49-F238E27FC236}">
                <a16:creationId xmlns:a16="http://schemas.microsoft.com/office/drawing/2014/main" id="{F936D7EA-50A0-F4CE-9E2C-749AA3156C3F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685800" y="2708275"/>
            <a:ext cx="7772400" cy="1143000"/>
          </a:xfrm>
        </p:spPr>
        <p:txBody>
          <a:bodyPr anchor="ctr"/>
          <a:lstStyle/>
          <a:p>
            <a:pPr eaLnBrk="1" hangingPunct="1"/>
            <a:r>
              <a:rPr lang="en-US" altLang="ko-KR" sz="3200" dirty="0">
                <a:solidFill>
                  <a:schemeClr val="tx1"/>
                </a:solidFill>
              </a:rPr>
              <a:t>Network Programming - 17</a:t>
            </a:r>
            <a:br>
              <a:rPr lang="en-US" altLang="ko-KR" sz="3200" dirty="0">
                <a:solidFill>
                  <a:schemeClr val="tx1"/>
                </a:solidFill>
              </a:rPr>
            </a:br>
            <a:r>
              <a:rPr lang="en-US" altLang="ko-KR" sz="2400" dirty="0"/>
              <a:t>Queue </a:t>
            </a:r>
            <a:r>
              <a:rPr lang="ko-KR" altLang="en-US" sz="2400" dirty="0"/>
              <a:t>자료구조와 네트워크 버퍼</a:t>
            </a:r>
            <a:br>
              <a:rPr lang="en-US" altLang="ko-KR" sz="3200" dirty="0">
                <a:solidFill>
                  <a:schemeClr val="tx1"/>
                </a:solidFill>
              </a:rPr>
            </a:br>
            <a:r>
              <a:rPr lang="en-US" altLang="ko-KR" sz="3200" dirty="0">
                <a:solidFill>
                  <a:schemeClr val="tx1"/>
                </a:solidFill>
              </a:rPr>
              <a:t> </a:t>
            </a:r>
            <a:r>
              <a:rPr lang="en-US" altLang="ko-KR" sz="1400" dirty="0">
                <a:solidFill>
                  <a:schemeClr val="tx1"/>
                </a:solidFill>
              </a:rPr>
              <a:t>afewhee@gmail.com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CEA825-B0E1-62AC-DA44-A936DA924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17.0 </a:t>
            </a:r>
            <a:r>
              <a:rPr lang="ko-KR" altLang="en-US" dirty="0"/>
              <a:t>학습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1512AD6-EF27-CC3C-5146-26467C4A58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Queue </a:t>
            </a:r>
            <a:r>
              <a:rPr lang="ko-KR" altLang="en-US" dirty="0"/>
              <a:t>자료구조 기반 </a:t>
            </a:r>
            <a:r>
              <a:rPr lang="en-US" altLang="ko-KR" dirty="0"/>
              <a:t>Buffer</a:t>
            </a:r>
          </a:p>
          <a:p>
            <a:endParaRPr lang="en-US" altLang="ko-KR" dirty="0"/>
          </a:p>
          <a:p>
            <a:r>
              <a:rPr lang="ko-KR" altLang="en-US" dirty="0"/>
              <a:t>선형 큐 </a:t>
            </a:r>
            <a:r>
              <a:rPr lang="en-US" altLang="ko-KR" dirty="0"/>
              <a:t>(Linear Queue)</a:t>
            </a:r>
          </a:p>
          <a:p>
            <a:endParaRPr lang="en-US" altLang="ko-KR" dirty="0"/>
          </a:p>
          <a:p>
            <a:r>
              <a:rPr lang="ko-KR" altLang="en-US" dirty="0"/>
              <a:t>원형 큐</a:t>
            </a:r>
            <a:r>
              <a:rPr lang="en-US" altLang="ko-KR" dirty="0"/>
              <a:t>(Circular Queue) </a:t>
            </a:r>
            <a:r>
              <a:rPr lang="ko-KR" altLang="en-US" dirty="0"/>
              <a:t>통한 </a:t>
            </a:r>
            <a:r>
              <a:rPr lang="en-US" altLang="ko-KR" dirty="0"/>
              <a:t>Buffer </a:t>
            </a:r>
            <a:r>
              <a:rPr lang="ko-KR" altLang="en-US" dirty="0"/>
              <a:t>재사용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문자열 큐</a:t>
            </a:r>
            <a:r>
              <a:rPr lang="en-US" altLang="ko-KR" dirty="0"/>
              <a:t>(String Queue) </a:t>
            </a:r>
            <a:r>
              <a:rPr lang="ko-KR" altLang="en-US" dirty="0"/>
              <a:t>통한 데이터 누적 구조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Network </a:t>
            </a:r>
            <a:r>
              <a:rPr lang="ko-KR" altLang="en-US" dirty="0"/>
              <a:t>송수신 </a:t>
            </a:r>
            <a:r>
              <a:rPr lang="en-US" altLang="ko-KR" dirty="0"/>
              <a:t>Buffer</a:t>
            </a:r>
          </a:p>
          <a:p>
            <a:endParaRPr lang="en-US" altLang="ko-KR" dirty="0"/>
          </a:p>
          <a:p>
            <a:r>
              <a:rPr lang="en-US" altLang="ko-KR" dirty="0"/>
              <a:t>Packet </a:t>
            </a:r>
            <a:r>
              <a:rPr lang="ko-KR" altLang="en-US" dirty="0"/>
              <a:t>처리 구조 기반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42DB3AD-82D9-C0EC-51F4-51CCDB3CCD7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200435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74B0EB-F60E-3C62-FFF2-0D03C47EF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17.1 Queue </a:t>
            </a:r>
            <a:r>
              <a:rPr lang="ko-KR" altLang="en-US" dirty="0"/>
              <a:t>개념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4DB6C8A-AD1C-199A-D03E-1AFF276266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선입 선출</a:t>
            </a:r>
            <a:endParaRPr lang="en-US" altLang="ko-KR" dirty="0"/>
          </a:p>
          <a:p>
            <a:pPr lvl="1"/>
            <a:r>
              <a:rPr lang="en-US" altLang="ko-KR" dirty="0"/>
              <a:t>FIFO (First In First Out)</a:t>
            </a:r>
          </a:p>
          <a:p>
            <a:pPr lvl="1"/>
            <a:endParaRPr lang="en-US" altLang="ko-KR" dirty="0"/>
          </a:p>
          <a:p>
            <a:r>
              <a:rPr lang="ko-KR" altLang="en-US" dirty="0"/>
              <a:t>특징</a:t>
            </a:r>
            <a:endParaRPr lang="en-US" altLang="ko-KR" dirty="0"/>
          </a:p>
          <a:p>
            <a:pPr lvl="1"/>
            <a:r>
              <a:rPr lang="ko-KR" altLang="en-US" dirty="0"/>
              <a:t>입력 순서 보존</a:t>
            </a:r>
            <a:endParaRPr lang="en-US" altLang="ko-KR" dirty="0"/>
          </a:p>
          <a:p>
            <a:pPr lvl="1"/>
            <a:r>
              <a:rPr lang="ko-KR" altLang="en-US" dirty="0"/>
              <a:t>처리 순서 보장</a:t>
            </a:r>
            <a:endParaRPr lang="en-US" altLang="ko-KR" dirty="0"/>
          </a:p>
          <a:p>
            <a:pPr lvl="1"/>
            <a:r>
              <a:rPr lang="ko-KR" altLang="en-US" dirty="0"/>
              <a:t>대기열 구조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동기화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BC25CCF-7B6A-B5B0-4C0D-B549C360406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5674671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116FF-D831-E64E-2D9A-FF2C380C9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517A92-473C-8C61-71AD-6CC78BCCC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17.1.2 Queue </a:t>
            </a:r>
            <a:r>
              <a:rPr lang="ko-KR" altLang="en-US" dirty="0"/>
              <a:t>사용 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FD3DCE4-9927-F6CC-A63E-B2ACB403E1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동기화 관련된 모든 것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윈도우 메시지 처리</a:t>
            </a:r>
            <a:endParaRPr lang="en-US" altLang="ko-KR" dirty="0"/>
          </a:p>
          <a:p>
            <a:pPr lvl="1"/>
            <a:r>
              <a:rPr lang="ko-KR" altLang="en-US" dirty="0"/>
              <a:t>키보드 입력 버퍼</a:t>
            </a:r>
            <a:endParaRPr lang="en-US" altLang="ko-KR" dirty="0"/>
          </a:p>
          <a:p>
            <a:pPr lvl="1"/>
            <a:r>
              <a:rPr lang="ko-KR" altLang="en-US" dirty="0"/>
              <a:t>프린터 출력 대기열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게임 이벤트 큐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네트워크 송신 대기열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네트워크 수신 버퍼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9F4B63B-0B1E-51F6-9064-F36DFD70147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0395268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B7E580-BDCC-ADA1-D19E-526E6693D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17.1.3 Queue </a:t>
            </a:r>
            <a:r>
              <a:rPr lang="ko-KR" altLang="en-US" dirty="0"/>
              <a:t>기본 연산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B0A0256-8569-47BA-9504-1B7A321700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Enqueue</a:t>
            </a:r>
          </a:p>
          <a:p>
            <a:pPr lvl="1"/>
            <a:r>
              <a:rPr lang="en-US" altLang="ko-KR" dirty="0"/>
              <a:t>Queue </a:t>
            </a:r>
            <a:r>
              <a:rPr lang="ko-KR" altLang="en-US" dirty="0"/>
              <a:t>뒤쪽 데이터 추가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/>
              <a:t>Dequeue</a:t>
            </a:r>
          </a:p>
          <a:p>
            <a:pPr lvl="1"/>
            <a:r>
              <a:rPr lang="en-US" altLang="ko-KR" dirty="0"/>
              <a:t>Queue </a:t>
            </a:r>
            <a:r>
              <a:rPr lang="ko-KR" altLang="en-US" dirty="0"/>
              <a:t>앞쪽 데이터 제거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/>
              <a:t>Rear</a:t>
            </a:r>
          </a:p>
          <a:p>
            <a:pPr lvl="1"/>
            <a:r>
              <a:rPr lang="ko-KR" altLang="en-US" dirty="0"/>
              <a:t>다음 입력 위치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/>
              <a:t>Front</a:t>
            </a:r>
          </a:p>
          <a:p>
            <a:pPr lvl="1"/>
            <a:r>
              <a:rPr lang="ko-KR" altLang="en-US" dirty="0"/>
              <a:t>다음 출력 위치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520B9B6-AE97-75D9-78EC-DC1DAE9CC29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0078681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A61017-5E43-C68C-DCE1-72AB8C216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5CC107-C91F-5DD6-4E44-47531D30B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17.1.4 Queue </a:t>
            </a:r>
            <a:r>
              <a:rPr lang="ko-KR" altLang="en-US" dirty="0"/>
              <a:t>기본 연산 과정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079B39-5E6C-91A5-82A1-2D1DEB5B7B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Queue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FD3FE56-5C02-7404-3247-6AC94C308CD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B3D47AA-1F7D-4843-D7DB-E4EA01D1E2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576" y="1484784"/>
            <a:ext cx="7162844" cy="2952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022365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0AE9D4-9C81-6EC8-B51E-C483A6A53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17.2.1 Linear Queue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42443E3-5CD2-32A1-634F-B13E1F03A2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Linear Queue</a:t>
            </a:r>
          </a:p>
          <a:p>
            <a:pPr lvl="1"/>
            <a:r>
              <a:rPr lang="ko-KR" altLang="en-US" dirty="0"/>
              <a:t>배열 기반 </a:t>
            </a:r>
            <a:r>
              <a:rPr lang="en-US" altLang="ko-KR" dirty="0"/>
              <a:t>Queue</a:t>
            </a:r>
          </a:p>
          <a:p>
            <a:pPr lvl="1"/>
            <a:r>
              <a:rPr lang="ko-KR" altLang="en-US" dirty="0"/>
              <a:t>데이터 뒤쪽 추가</a:t>
            </a:r>
          </a:p>
          <a:p>
            <a:pPr lvl="1"/>
            <a:r>
              <a:rPr lang="ko-KR" altLang="en-US" dirty="0"/>
              <a:t>데이터 앞쪽 제거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/>
              <a:t>Rear</a:t>
            </a:r>
          </a:p>
          <a:p>
            <a:pPr lvl="1"/>
            <a:r>
              <a:rPr lang="ko-KR" altLang="en-US" dirty="0"/>
              <a:t>현재 저장 개수</a:t>
            </a:r>
          </a:p>
          <a:p>
            <a:pPr lvl="1"/>
            <a:r>
              <a:rPr lang="ko-KR" altLang="en-US" dirty="0"/>
              <a:t>다음 입력 위치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97D2948-C99E-3756-1F76-9529B76E7EC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8176780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9CCB5-571A-C975-B4E9-7F62BD5A1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9760F1-45B6-599D-0A0C-E55380E68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17.2.2 Linear Queue </a:t>
            </a:r>
            <a:r>
              <a:rPr lang="ko-KR" altLang="en-US" dirty="0"/>
              <a:t>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59966BE-2A35-1765-CFFA-AC4F7761C9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B6835AF-5A6E-6C31-4B5E-D24CAED2484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46B09A-9A34-2DA7-267E-42A2E01038F3}"/>
              </a:ext>
            </a:extLst>
          </p:cNvPr>
          <p:cNvSpPr txBox="1"/>
          <p:nvPr/>
        </p:nvSpPr>
        <p:spPr>
          <a:xfrm>
            <a:off x="467544" y="620688"/>
            <a:ext cx="8136706" cy="4770537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20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20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CQueLinear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		</a:t>
            </a:r>
            <a:r>
              <a:rPr lang="en-US" altLang="ko-KR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큐 클래스</a:t>
            </a:r>
            <a:endParaRPr lang="ko-KR" altLang="en-US" sz="20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20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protected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20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en-US" altLang="ko-KR" sz="20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m_pBuf   {}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		</a:t>
            </a:r>
            <a:r>
              <a:rPr lang="en-US" altLang="ko-KR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큐의 버퍼</a:t>
            </a:r>
            <a:endParaRPr lang="ko-KR" altLang="en-US" sz="20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20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	  </a:t>
            </a:r>
            <a:r>
              <a:rPr lang="en-US" altLang="ko-KR" sz="20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m_iRear  </a:t>
            </a:r>
            <a:r>
              <a:rPr lang="en-US" altLang="ko-KR" sz="2000" b="1" dirty="0">
                <a:solidFill>
                  <a:srgbClr val="00008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{}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		</a:t>
            </a:r>
            <a:r>
              <a:rPr lang="en-US" altLang="ko-KR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입력 문자열 끝 위치</a:t>
            </a:r>
            <a:endParaRPr lang="ko-KR" altLang="en-US" sz="20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20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	  </a:t>
            </a:r>
            <a:r>
              <a:rPr lang="en-US" altLang="ko-KR" sz="20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m_iWidth </a:t>
            </a:r>
            <a:r>
              <a:rPr lang="en-US" altLang="ko-KR" sz="2000" b="1" dirty="0">
                <a:solidFill>
                  <a:srgbClr val="00008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{}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	</a:t>
            </a:r>
            <a:r>
              <a:rPr lang="en-US" altLang="ko-KR" sz="2000" b="1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en-US" altLang="ko-KR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큐의 버퍼 크기</a:t>
            </a:r>
            <a:endParaRPr lang="ko-KR" altLang="en-US" sz="20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20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20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CQueLinear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  <a:p>
            <a:pPr>
              <a:buNone/>
            </a:pP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20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CQueLinear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20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20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iWidth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20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2000" b="1" dirty="0">
                <a:solidFill>
                  <a:srgbClr val="8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~</a:t>
            </a:r>
            <a:r>
              <a:rPr lang="en-US" altLang="ko-KR" sz="20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CQueLinear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  <a:p>
            <a:pPr>
              <a:buNone/>
            </a:pP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20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en-US" altLang="ko-KR" sz="20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Enqueue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20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20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iIn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	</a:t>
            </a:r>
            <a:r>
              <a:rPr lang="en-US" altLang="ko-KR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 추가</a:t>
            </a:r>
            <a:endParaRPr lang="ko-KR" altLang="en-US" sz="20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20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	</a:t>
            </a:r>
            <a:r>
              <a:rPr lang="en-US" altLang="ko-KR" sz="20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Dequeue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20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 </a:t>
            </a:r>
            <a:r>
              <a:rPr lang="en-US" altLang="ko-KR" sz="20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iOut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	</a:t>
            </a:r>
            <a:r>
              <a:rPr lang="en-US" altLang="ko-KR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 꺼냄</a:t>
            </a:r>
            <a:endParaRPr lang="ko-KR" altLang="en-US" sz="20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6961688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1C4B30-8AC1-C1DD-F07C-E7013BA85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B1371D-0A6A-1762-EE03-186C93623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17.2.3 Linear Queue </a:t>
            </a:r>
            <a:r>
              <a:rPr lang="ko-KR" altLang="en-US" dirty="0"/>
              <a:t>클래스 멤버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E3D9E8-C848-3347-1969-C3432F9C80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m_pBuf</a:t>
            </a:r>
          </a:p>
          <a:p>
            <a:pPr lvl="1"/>
            <a:r>
              <a:rPr lang="en-US" altLang="ko-KR" dirty="0"/>
              <a:t>Queue </a:t>
            </a:r>
            <a:r>
              <a:rPr lang="ko-KR" altLang="en-US" dirty="0"/>
              <a:t>저장 공간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/>
              <a:t>m_iRear</a:t>
            </a:r>
          </a:p>
          <a:p>
            <a:pPr lvl="1"/>
            <a:r>
              <a:rPr lang="ko-KR" altLang="en-US" dirty="0"/>
              <a:t>현재 데이터 개수</a:t>
            </a:r>
            <a:endParaRPr lang="en-US" altLang="ko-KR" dirty="0"/>
          </a:p>
          <a:p>
            <a:pPr lvl="1"/>
            <a:r>
              <a:rPr lang="ko-KR" altLang="en-US" dirty="0"/>
              <a:t>다음 입력 위치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/>
              <a:t>m_iWidth</a:t>
            </a:r>
          </a:p>
          <a:p>
            <a:pPr lvl="1"/>
            <a:r>
              <a:rPr lang="en-US" altLang="ko-KR" dirty="0"/>
              <a:t>Queue </a:t>
            </a:r>
            <a:r>
              <a:rPr lang="ko-KR" altLang="en-US" dirty="0"/>
              <a:t>최대 크기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3D13D00-F81E-3812-1B1D-FC2692E1B0C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4631718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8FF39-D49F-710B-DC02-55662A1FF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BF6257-831F-7A09-4232-A5BD2B0D7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17.2.4 Linear Queue </a:t>
            </a:r>
            <a:r>
              <a:rPr lang="ko-KR" altLang="en-US" dirty="0"/>
              <a:t>생성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7D79896-A7B8-5F42-AAED-369734BAE6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동적 배열 생성</a:t>
            </a:r>
          </a:p>
          <a:p>
            <a:r>
              <a:rPr lang="en-US" altLang="ko-KR" dirty="0"/>
              <a:t>Queue </a:t>
            </a:r>
            <a:r>
              <a:rPr lang="ko-KR" altLang="en-US" dirty="0"/>
              <a:t>크기 설정</a:t>
            </a:r>
          </a:p>
          <a:p>
            <a:r>
              <a:rPr lang="ko-KR" altLang="en-US" dirty="0"/>
              <a:t>버퍼 </a:t>
            </a:r>
            <a:r>
              <a:rPr lang="en-US" altLang="ko-KR" dirty="0"/>
              <a:t>0 </a:t>
            </a:r>
            <a:r>
              <a:rPr lang="ko-KR" altLang="en-US" dirty="0"/>
              <a:t>초기화</a:t>
            </a:r>
            <a:endParaRPr lang="ko-KR" altLang="en-US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DC0B939-1B97-9645-A855-09B0BB1A2D2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9DF651-79B2-8736-9CA2-FD4334401AF1}"/>
              </a:ext>
            </a:extLst>
          </p:cNvPr>
          <p:cNvSpPr txBox="1"/>
          <p:nvPr/>
        </p:nvSpPr>
        <p:spPr>
          <a:xfrm>
            <a:off x="539750" y="2780928"/>
            <a:ext cx="8136706" cy="203132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CQueLinear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8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CQueLinear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iWidth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m_iRear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8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m_iWidth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iWidth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m_pBuf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=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m_iWidth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+</a:t>
            </a:r>
            <a:r>
              <a:rPr lang="en-US" altLang="ko-KR" sz="18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]{};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End Pointer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하나 더 추가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...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0309815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509D04-0EDE-D3FA-9E33-0C711849A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17.2.5 Linear Queue Enqueue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0C6AD4A-A27B-8D75-A5E6-64BF900D98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공간 확인</a:t>
            </a:r>
          </a:p>
          <a:p>
            <a:r>
              <a:rPr lang="en-US" altLang="ko-KR" dirty="0"/>
              <a:t>Rear </a:t>
            </a:r>
            <a:r>
              <a:rPr lang="ko-KR" altLang="en-US" dirty="0"/>
              <a:t>위치 데이터 저장</a:t>
            </a:r>
          </a:p>
          <a:p>
            <a:r>
              <a:rPr lang="en-US" altLang="ko-KR" dirty="0"/>
              <a:t>Rear </a:t>
            </a:r>
            <a:r>
              <a:rPr lang="ko-KR" altLang="en-US" dirty="0"/>
              <a:t>증가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3C8C017-95F7-8568-E257-44B47B8E72B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E6F08F5-AABC-918D-8EFE-4CEBE79528A8}"/>
              </a:ext>
            </a:extLst>
          </p:cNvPr>
          <p:cNvSpPr txBox="1"/>
          <p:nvPr/>
        </p:nvSpPr>
        <p:spPr>
          <a:xfrm>
            <a:off x="539750" y="2708920"/>
            <a:ext cx="8208963" cy="230832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CQueLinear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Enqueue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iIn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 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큐에 데이터 추가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</a:t>
            </a:r>
            <a:r>
              <a:rPr lang="en-US" altLang="ko-KR" sz="18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m_iRear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==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m_iWidth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   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남아 있는 공간이 없으면 채우지 못함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-</a:t>
            </a:r>
            <a:r>
              <a:rPr lang="en-US" altLang="ko-KR" sz="18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            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Failed</a:t>
            </a:r>
            <a:endParaRPr lang="en-US" altLang="ko-KR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m_pBuf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m_iRear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++] =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iIn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</a:t>
            </a:r>
            <a:r>
              <a:rPr lang="en-US" altLang="ko-KR" sz="18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950321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685A0-81AA-1B7C-FB43-7071EDCD8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A09841-BD99-28E4-1AAC-FF56E0426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17.2.6 Linear Queue Dequeue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73AE0D-C85D-B304-ED6B-3E132CC98F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0</a:t>
            </a:r>
            <a:r>
              <a:rPr lang="ko-KR" altLang="en-US" dirty="0"/>
              <a:t>번 데이터 출력</a:t>
            </a:r>
          </a:p>
          <a:p>
            <a:r>
              <a:rPr lang="ko-KR" altLang="en-US" dirty="0"/>
              <a:t>남은 데이터 앞으로 이동</a:t>
            </a:r>
          </a:p>
          <a:p>
            <a:r>
              <a:rPr lang="en-US" altLang="ko-KR" dirty="0"/>
              <a:t>Rear </a:t>
            </a:r>
            <a:r>
              <a:rPr lang="ko-KR" altLang="en-US" dirty="0"/>
              <a:t>감소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BFC91CD-E212-A8FB-1942-78ABFC66F0E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FE1A96-7F7D-1C71-AF41-92AD953C0D7B}"/>
              </a:ext>
            </a:extLst>
          </p:cNvPr>
          <p:cNvSpPr txBox="1"/>
          <p:nvPr/>
        </p:nvSpPr>
        <p:spPr>
          <a:xfrm>
            <a:off x="647564" y="2348880"/>
            <a:ext cx="7848872" cy="4247317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CQueLinear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Dequeue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iOut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큐에서 데이터 가져오기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==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m_iRear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             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버퍼가 비워져 있는 경우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</a:t>
            </a:r>
            <a:r>
              <a:rPr lang="en-US" altLang="ko-KR" sz="18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-</a:t>
            </a:r>
            <a:r>
              <a:rPr lang="en-US" altLang="ko-KR" sz="18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            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Failed</a:t>
            </a:r>
            <a:endParaRPr lang="en-US" altLang="ko-KR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*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iOut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m_pBuf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8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8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(;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&lt;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m_iRear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++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*(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m_pBuf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+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= *(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m_pBuf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+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+</a:t>
            </a:r>
            <a:r>
              <a:rPr lang="en-US" altLang="ko-KR" sz="18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한 단계씩 앞 자리로 이동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*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m_pBuf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+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= </a:t>
            </a:r>
            <a:r>
              <a:rPr lang="en-US" altLang="ko-KR" sz="18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          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마지막 자리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 초기화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m_iRear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                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Rear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위치 이동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    </a:t>
            </a:r>
            <a:r>
              <a:rPr lang="en-US" altLang="ko-KR" sz="18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382391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B8032B-9F18-4B45-87CB-B5A2F01F2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17.2.7 Linear Queue </a:t>
            </a:r>
            <a:r>
              <a:rPr lang="ko-KR" altLang="en-US" dirty="0"/>
              <a:t>흐름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82349E-0B89-B70B-3F79-C0810926F4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19DD214-50BB-EE10-293A-05237E03A00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47BB42-E813-ABDD-E785-F59D6BE54CE1}"/>
              </a:ext>
            </a:extLst>
          </p:cNvPr>
          <p:cNvSpPr txBox="1"/>
          <p:nvPr/>
        </p:nvSpPr>
        <p:spPr>
          <a:xfrm>
            <a:off x="683568" y="699418"/>
            <a:ext cx="4572000" cy="144655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dirty="0">
                <a:latin typeface="Consolas" panose="020B0609020204030204" pitchFamily="49" charset="0"/>
              </a:rPr>
              <a:t>Initial</a:t>
            </a:r>
            <a:endParaRPr lang="ko-KR" altLang="en-US" sz="2000" b="1" dirty="0">
              <a:latin typeface="Consolas" panose="020B0609020204030204" pitchFamily="49" charset="0"/>
            </a:endParaRPr>
          </a:p>
          <a:p>
            <a:endParaRPr lang="ko-KR" altLang="en-US" sz="2000" b="1" dirty="0">
              <a:latin typeface="Consolas" panose="020B0609020204030204" pitchFamily="49" charset="0"/>
            </a:endParaRPr>
          </a:p>
          <a:p>
            <a:r>
              <a:rPr lang="ko-KR" altLang="en-US" b="1" dirty="0">
                <a:latin typeface="Consolas" panose="020B0609020204030204" pitchFamily="49" charset="0"/>
              </a:rPr>
              <a:t>[ ][ ][ ][ ][ ]</a:t>
            </a:r>
          </a:p>
          <a:p>
            <a:r>
              <a:rPr lang="ko-KR" altLang="en-US" b="1" dirty="0">
                <a:latin typeface="Consolas" panose="020B0609020204030204" pitchFamily="49" charset="0"/>
              </a:rPr>
              <a:t> rear = 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F0109A-CF0C-A640-70AE-0865A3EEB410}"/>
              </a:ext>
            </a:extLst>
          </p:cNvPr>
          <p:cNvSpPr txBox="1"/>
          <p:nvPr/>
        </p:nvSpPr>
        <p:spPr>
          <a:xfrm>
            <a:off x="693108" y="2132856"/>
            <a:ext cx="4572000" cy="144655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2000" b="1" dirty="0">
                <a:latin typeface="Consolas" panose="020B0609020204030204" pitchFamily="49" charset="0"/>
              </a:rPr>
              <a:t>Enqueue A</a:t>
            </a:r>
          </a:p>
          <a:p>
            <a:endParaRPr lang="ko-KR" altLang="en-US" sz="2000" b="1" dirty="0">
              <a:latin typeface="Consolas" panose="020B0609020204030204" pitchFamily="49" charset="0"/>
            </a:endParaRPr>
          </a:p>
          <a:p>
            <a:r>
              <a:rPr lang="ko-KR" altLang="en-US" b="1" dirty="0">
                <a:latin typeface="Consolas" panose="020B0609020204030204" pitchFamily="49" charset="0"/>
              </a:rPr>
              <a:t>[</a:t>
            </a:r>
            <a:r>
              <a:rPr lang="ko-KR" alt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A</a:t>
            </a:r>
            <a:r>
              <a:rPr lang="ko-KR" altLang="en-US" b="1" dirty="0">
                <a:latin typeface="Consolas" panose="020B0609020204030204" pitchFamily="49" charset="0"/>
              </a:rPr>
              <a:t>][ ][ ][ ][ ]</a:t>
            </a:r>
          </a:p>
          <a:p>
            <a:r>
              <a:rPr lang="ko-KR" altLang="en-US" b="1" dirty="0">
                <a:latin typeface="Consolas" panose="020B0609020204030204" pitchFamily="49" charset="0"/>
              </a:rPr>
              <a:t> rear = 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30114D-301D-03F5-8476-2FAEB00254A2}"/>
              </a:ext>
            </a:extLst>
          </p:cNvPr>
          <p:cNvSpPr txBox="1"/>
          <p:nvPr/>
        </p:nvSpPr>
        <p:spPr>
          <a:xfrm>
            <a:off x="693108" y="3573016"/>
            <a:ext cx="4572000" cy="144655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2000" b="1" dirty="0">
                <a:latin typeface="Consolas" panose="020B0609020204030204" pitchFamily="49" charset="0"/>
              </a:rPr>
              <a:t>Enqueue B</a:t>
            </a:r>
          </a:p>
          <a:p>
            <a:endParaRPr lang="ko-KR" altLang="en-US" sz="2000" b="1" dirty="0">
              <a:latin typeface="Consolas" panose="020B0609020204030204" pitchFamily="49" charset="0"/>
            </a:endParaRPr>
          </a:p>
          <a:p>
            <a:r>
              <a:rPr lang="ko-KR" altLang="en-US" b="1" dirty="0">
                <a:latin typeface="Consolas" panose="020B0609020204030204" pitchFamily="49" charset="0"/>
              </a:rPr>
              <a:t>[</a:t>
            </a:r>
            <a:r>
              <a:rPr lang="ko-KR" alt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A</a:t>
            </a:r>
            <a:r>
              <a:rPr lang="ko-KR" altLang="en-US" b="1" dirty="0">
                <a:latin typeface="Consolas" panose="020B0609020204030204" pitchFamily="49" charset="0"/>
              </a:rPr>
              <a:t>][</a:t>
            </a:r>
            <a:r>
              <a:rPr lang="ko-KR" alt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B</a:t>
            </a:r>
            <a:r>
              <a:rPr lang="ko-KR" altLang="en-US" b="1" dirty="0">
                <a:latin typeface="Consolas" panose="020B0609020204030204" pitchFamily="49" charset="0"/>
              </a:rPr>
              <a:t>][ ][ ][ ]</a:t>
            </a:r>
          </a:p>
          <a:p>
            <a:r>
              <a:rPr lang="ko-KR" altLang="en-US" b="1" dirty="0">
                <a:latin typeface="Consolas" panose="020B0609020204030204" pitchFamily="49" charset="0"/>
              </a:rPr>
              <a:t> rear = 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3D9B056-2378-9EB7-746F-B69E702774E0}"/>
              </a:ext>
            </a:extLst>
          </p:cNvPr>
          <p:cNvSpPr txBox="1"/>
          <p:nvPr/>
        </p:nvSpPr>
        <p:spPr>
          <a:xfrm>
            <a:off x="673671" y="5013176"/>
            <a:ext cx="4572000" cy="144655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ko-KR" altLang="en-US" sz="2000" b="1" dirty="0">
                <a:latin typeface="Consolas" panose="020B0609020204030204" pitchFamily="49" charset="0"/>
              </a:rPr>
              <a:t>Dequeue</a:t>
            </a:r>
          </a:p>
          <a:p>
            <a:endParaRPr lang="ko-KR" altLang="en-US" sz="2000" b="1" dirty="0">
              <a:latin typeface="Consolas" panose="020B0609020204030204" pitchFamily="49" charset="0"/>
            </a:endParaRPr>
          </a:p>
          <a:p>
            <a:r>
              <a:rPr lang="ko-KR" altLang="en-US" b="1" dirty="0">
                <a:latin typeface="Consolas" panose="020B0609020204030204" pitchFamily="49" charset="0"/>
              </a:rPr>
              <a:t>[</a:t>
            </a:r>
            <a:r>
              <a:rPr lang="ko-KR" altLang="en-US" b="1" dirty="0">
                <a:solidFill>
                  <a:srgbClr val="C00000"/>
                </a:solidFill>
                <a:latin typeface="Consolas" panose="020B0609020204030204" pitchFamily="49" charset="0"/>
              </a:rPr>
              <a:t>B</a:t>
            </a:r>
            <a:r>
              <a:rPr lang="ko-KR" altLang="en-US" b="1" dirty="0">
                <a:latin typeface="Consolas" panose="020B0609020204030204" pitchFamily="49" charset="0"/>
              </a:rPr>
              <a:t>][ ][ ][ ][ ]</a:t>
            </a:r>
          </a:p>
          <a:p>
            <a:r>
              <a:rPr lang="ko-KR" altLang="en-US" b="1" dirty="0">
                <a:latin typeface="Consolas" panose="020B0609020204030204" pitchFamily="49" charset="0"/>
              </a:rPr>
              <a:t> rear = 1</a:t>
            </a:r>
          </a:p>
        </p:txBody>
      </p:sp>
    </p:spTree>
    <p:extLst>
      <p:ext uri="{BB962C8B-B14F-4D97-AF65-F5344CB8AC3E}">
        <p14:creationId xmlns:p14="http://schemas.microsoft.com/office/powerpoint/2010/main" val="3027514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ABDE0F-DBA8-257C-3D8A-2C034A07C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17.2.8 Linear Queue </a:t>
            </a:r>
            <a:r>
              <a:rPr lang="ko-KR" altLang="en-US" dirty="0"/>
              <a:t>초기화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8C0699-0D8D-E6F6-41CC-7D64E5AEBE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Queue </a:t>
            </a:r>
            <a:r>
              <a:rPr lang="ko-KR" altLang="en-US" dirty="0"/>
              <a:t>크기 검사</a:t>
            </a:r>
          </a:p>
          <a:p>
            <a:r>
              <a:rPr lang="en-US" altLang="ko-KR" dirty="0"/>
              <a:t>CQueLinear </a:t>
            </a:r>
            <a:r>
              <a:rPr lang="ko-KR" altLang="en-US" dirty="0"/>
              <a:t>객체 생성</a:t>
            </a:r>
          </a:p>
          <a:p>
            <a:r>
              <a:rPr lang="ko-KR" altLang="en-US" dirty="0"/>
              <a:t>응용 클래스 내부 보관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5CCAF8-A638-0A32-BF17-33CEA966666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C526A6-4C23-D9E8-F158-B42B68CF0CB6}"/>
              </a:ext>
            </a:extLst>
          </p:cNvPr>
          <p:cNvSpPr txBox="1"/>
          <p:nvPr/>
        </p:nvSpPr>
        <p:spPr>
          <a:xfrm>
            <a:off x="683568" y="2454225"/>
            <a:ext cx="6984776" cy="230832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CQueueApp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iQueSize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/* = MAX_QUEUE */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iQueSize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en-US" altLang="ko-KR" sz="18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       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큐의 크기가 작으면 실패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</a:t>
            </a:r>
            <a:r>
              <a:rPr lang="en-US" altLang="ko-KR" sz="18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-</a:t>
            </a:r>
            <a:r>
              <a:rPr lang="en-US" altLang="ko-KR" sz="18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m_pQueue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CQueLinear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iQueSize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163248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A3EEFC-19DA-C0AE-969E-4CF3B59B4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17.2.9 Linear Queue EnQueue </a:t>
            </a:r>
            <a:r>
              <a:rPr lang="ko-KR" altLang="en-US" dirty="0"/>
              <a:t>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D674CEB-2BCF-DFD3-C9A8-A38C5F0825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750" y="666547"/>
            <a:ext cx="8280400" cy="5832475"/>
          </a:xfrm>
        </p:spPr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3C11985-945A-E709-0D6B-9D25F94EB6E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5622AA-05DD-C9BA-3675-F68DA4E58DA0}"/>
              </a:ext>
            </a:extLst>
          </p:cNvPr>
          <p:cNvSpPr txBox="1"/>
          <p:nvPr/>
        </p:nvSpPr>
        <p:spPr>
          <a:xfrm>
            <a:off x="539750" y="892346"/>
            <a:ext cx="8064500" cy="3970318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CQueueApp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EnqueuingMode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iSize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strlen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sMsg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iRet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m_pQueue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-&gt;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Enqueue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sMsg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8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</a:t>
            </a:r>
            <a:r>
              <a:rPr lang="en-US" altLang="ko-KR" sz="18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6F008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FAILED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iRet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{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  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sMsg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+=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iSize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-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iRet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printf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E2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800" b="1" dirty="0">
                <a:solidFill>
                  <a:srgbClr val="B776F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\n\n</a:t>
            </a:r>
            <a:r>
              <a:rPr lang="en-US" altLang="ko-KR" sz="1800" b="1" dirty="0">
                <a:solidFill>
                  <a:srgbClr val="FF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ko-KR" altLang="en-US" sz="1800" b="1" dirty="0">
                <a:solidFill>
                  <a:srgbClr val="FF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큐의 공간이 부족해 전부 채워지 못했습니다</a:t>
            </a:r>
            <a:r>
              <a:rPr lang="en-US" altLang="ko-KR" sz="1800" b="1" dirty="0">
                <a:solidFill>
                  <a:srgbClr val="FF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800" b="1" dirty="0">
                <a:solidFill>
                  <a:srgbClr val="B776F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\n</a:t>
            </a:r>
            <a:r>
              <a:rPr lang="en-US" altLang="ko-KR" sz="1800" b="1" dirty="0">
                <a:solidFill>
                  <a:srgbClr val="E2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printf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     </a:t>
            </a:r>
            <a:r>
              <a:rPr lang="en-US" altLang="ko-KR" sz="1800" b="1" dirty="0">
                <a:solidFill>
                  <a:srgbClr val="E2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800" b="1" dirty="0">
                <a:solidFill>
                  <a:srgbClr val="FF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</a:t>
            </a:r>
            <a:r>
              <a:rPr lang="ko-KR" altLang="en-US" sz="1800" b="1" dirty="0">
                <a:solidFill>
                  <a:srgbClr val="FF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남은 데이터</a:t>
            </a:r>
            <a:r>
              <a:rPr lang="en-US" altLang="ko-KR" sz="1800" b="1" dirty="0">
                <a:solidFill>
                  <a:srgbClr val="FF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 %s</a:t>
            </a:r>
            <a:r>
              <a:rPr lang="en-US" altLang="ko-KR" sz="1800" b="1" dirty="0">
                <a:solidFill>
                  <a:srgbClr val="B776F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\n</a:t>
            </a:r>
            <a:r>
              <a:rPr lang="en-US" altLang="ko-KR" sz="1800" b="1" dirty="0">
                <a:solidFill>
                  <a:srgbClr val="E2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}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162011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8F401-38CD-B96A-178D-D9876184D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F7BD95-97B1-4285-510B-9C74444522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17.2.10 Linear Queue DeQueue </a:t>
            </a:r>
            <a:r>
              <a:rPr lang="ko-KR" altLang="en-US" dirty="0"/>
              <a:t>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A9CAAC-0543-51F8-72B2-CCD49622FE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750" y="666547"/>
            <a:ext cx="8280400" cy="5832475"/>
          </a:xfrm>
        </p:spPr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11A99DC-CFB5-BF18-72A3-2ACD20B6FD7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BACB59-039D-99E3-5E97-7E3AB1C20D5E}"/>
              </a:ext>
            </a:extLst>
          </p:cNvPr>
          <p:cNvSpPr txBox="1"/>
          <p:nvPr/>
        </p:nvSpPr>
        <p:spPr>
          <a:xfrm>
            <a:off x="539750" y="666547"/>
            <a:ext cx="7848674" cy="369331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CQueueApp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DequeuingMode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iVal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 </a:t>
            </a:r>
            <a:r>
              <a:rPr lang="en-US" altLang="ko-KR" sz="18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=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m_pQueue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-&gt;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Dequeue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(&amp;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iVal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6F008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FAILED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{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printf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E2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800" b="1" dirty="0">
                <a:solidFill>
                  <a:srgbClr val="FF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Queue</a:t>
            </a:r>
            <a:r>
              <a:rPr lang="ko-KR" altLang="en-US" sz="1800" b="1" dirty="0">
                <a:solidFill>
                  <a:srgbClr val="FF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 비어 있습니다</a:t>
            </a:r>
            <a:r>
              <a:rPr lang="en-US" altLang="ko-KR" sz="1800" b="1" dirty="0">
                <a:solidFill>
                  <a:srgbClr val="FF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800" b="1" dirty="0">
                <a:solidFill>
                  <a:srgbClr val="B776F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\n\n</a:t>
            </a:r>
            <a:r>
              <a:rPr lang="en-US" altLang="ko-KR" sz="1800" b="1" dirty="0">
                <a:solidFill>
                  <a:srgbClr val="E2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</a:t>
            </a:r>
            <a:r>
              <a:rPr lang="en-US" altLang="ko-KR" sz="18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continue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}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printf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E2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800" b="1" dirty="0">
                <a:solidFill>
                  <a:srgbClr val="B776F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\n\n</a:t>
            </a:r>
            <a:r>
              <a:rPr lang="en-US" altLang="ko-KR" sz="1800" b="1" dirty="0">
                <a:solidFill>
                  <a:srgbClr val="FF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ko-KR" altLang="en-US" sz="1800" b="1" dirty="0">
                <a:solidFill>
                  <a:srgbClr val="FF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가져온 글자</a:t>
            </a:r>
            <a:r>
              <a:rPr lang="en-US" altLang="ko-KR" sz="1800" b="1" dirty="0">
                <a:solidFill>
                  <a:srgbClr val="FF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 %c</a:t>
            </a:r>
            <a:r>
              <a:rPr lang="en-US" altLang="ko-KR" sz="1800" b="1" dirty="0">
                <a:solidFill>
                  <a:srgbClr val="B776FB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\n</a:t>
            </a:r>
            <a:r>
              <a:rPr lang="en-US" altLang="ko-KR" sz="1800" b="1" dirty="0">
                <a:solidFill>
                  <a:srgbClr val="E2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iVal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396870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58D439-6760-5380-213C-98678166F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17.2.11 Linear Queue </a:t>
            </a:r>
            <a:r>
              <a:rPr lang="ko-KR" altLang="en-US" dirty="0"/>
              <a:t>문제점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651932-D946-F547-F8A3-60533FCE2D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Dequeue </a:t>
            </a:r>
            <a:r>
              <a:rPr lang="ko-KR" altLang="en-US" dirty="0"/>
              <a:t>발생</a:t>
            </a:r>
          </a:p>
          <a:p>
            <a:pPr lvl="1"/>
            <a:r>
              <a:rPr lang="ko-KR" altLang="en-US" dirty="0"/>
              <a:t>남은 데이터 전체 이동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데이터 개수 증가</a:t>
            </a:r>
          </a:p>
          <a:p>
            <a:pPr lvl="1"/>
            <a:r>
              <a:rPr lang="ko-KR" altLang="en-US" dirty="0"/>
              <a:t>복사 비용 증가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/>
              <a:t>Queue </a:t>
            </a:r>
            <a:r>
              <a:rPr lang="ko-KR" altLang="en-US" dirty="0"/>
              <a:t>사용 빈도 증가</a:t>
            </a:r>
          </a:p>
          <a:p>
            <a:pPr lvl="1"/>
            <a:r>
              <a:rPr lang="ko-KR" altLang="en-US" dirty="0"/>
              <a:t>성능 낭비 증가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6B01468-DE6B-FF67-6A57-1F6FE08786A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8707407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3B9327-8544-86E3-2DE3-59E57AC68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17.3.1 Circular Queue </a:t>
            </a:r>
            <a:r>
              <a:rPr lang="ko-KR" altLang="en-US" dirty="0"/>
              <a:t>필요성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8093E46-0DAF-2979-76FF-7FEB24CF87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Linear Queue </a:t>
            </a:r>
            <a:r>
              <a:rPr lang="ko-KR" altLang="en-US" dirty="0"/>
              <a:t>문제</a:t>
            </a:r>
          </a:p>
          <a:p>
            <a:pPr lvl="1"/>
            <a:r>
              <a:rPr lang="en-US" altLang="ko-KR" dirty="0"/>
              <a:t>Dequeue </a:t>
            </a:r>
            <a:r>
              <a:rPr lang="ko-KR" altLang="en-US" dirty="0"/>
              <a:t>마다 데이터 이동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Circular Queue </a:t>
            </a:r>
            <a:r>
              <a:rPr lang="ko-KR" altLang="en-US" dirty="0"/>
              <a:t>해결</a:t>
            </a:r>
          </a:p>
          <a:p>
            <a:pPr lvl="1"/>
            <a:r>
              <a:rPr lang="ko-KR" altLang="en-US" dirty="0"/>
              <a:t>데이터 이동 제거</a:t>
            </a:r>
          </a:p>
          <a:p>
            <a:pPr lvl="1"/>
            <a:r>
              <a:rPr lang="en-US" altLang="ko-KR" dirty="0"/>
              <a:t>Front Rear </a:t>
            </a:r>
            <a:r>
              <a:rPr lang="ko-KR" altLang="en-US" dirty="0"/>
              <a:t>위치 이동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배열 재사용</a:t>
            </a:r>
          </a:p>
          <a:p>
            <a:pPr lvl="1"/>
            <a:r>
              <a:rPr lang="ko-KR" altLang="en-US" dirty="0"/>
              <a:t>끝 도달 후 처음 위치 이동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8F0BD6C-9853-D4F2-424E-DE4238DA631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2930942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3E1B37-C8F2-63E8-C648-112798B1C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17.3.2 Circular Queue </a:t>
            </a:r>
            <a:r>
              <a:rPr lang="ko-KR" altLang="en-US" dirty="0"/>
              <a:t>장점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DFC0A2-86DC-6C4E-09D5-5E2D2B3081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Write </a:t>
            </a:r>
            <a:r>
              <a:rPr lang="ko-KR" altLang="en-US" dirty="0"/>
              <a:t>위치 분리</a:t>
            </a:r>
          </a:p>
          <a:p>
            <a:endParaRPr lang="ko-KR" altLang="en-US" dirty="0"/>
          </a:p>
          <a:p>
            <a:r>
              <a:rPr lang="en-US" altLang="ko-KR" dirty="0"/>
              <a:t>Read </a:t>
            </a:r>
            <a:r>
              <a:rPr lang="ko-KR" altLang="en-US" dirty="0"/>
              <a:t>위치 분리</a:t>
            </a:r>
          </a:p>
          <a:p>
            <a:endParaRPr lang="ko-KR" altLang="en-US" dirty="0"/>
          </a:p>
          <a:p>
            <a:r>
              <a:rPr lang="ko-KR" altLang="en-US" dirty="0"/>
              <a:t>단일 생산자 </a:t>
            </a:r>
            <a:r>
              <a:rPr lang="en-US" altLang="ko-KR" dirty="0"/>
              <a:t>/ </a:t>
            </a:r>
            <a:r>
              <a:rPr lang="ko-KR" altLang="en-US" dirty="0"/>
              <a:t>단일 소비자 구조</a:t>
            </a:r>
          </a:p>
          <a:p>
            <a:endParaRPr lang="ko-KR" altLang="en-US" dirty="0"/>
          </a:p>
          <a:p>
            <a:r>
              <a:rPr lang="en-US" altLang="ko-KR" dirty="0"/>
              <a:t>Lock </a:t>
            </a:r>
            <a:r>
              <a:rPr lang="ko-KR" altLang="en-US" dirty="0"/>
              <a:t>비용 감소 가능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E13E62D-25D5-11CA-DBB8-A6E22E99824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517474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C50D44-3425-CBEB-7769-D22BC4A85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17.3.3 Circular Queue </a:t>
            </a:r>
            <a:r>
              <a:rPr lang="ko-KR" altLang="en-US" dirty="0"/>
              <a:t>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EB2F7A5-9095-2709-5B13-6A7381348B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Circular Queue</a:t>
            </a:r>
          </a:p>
          <a:p>
            <a:pPr lvl="1"/>
            <a:r>
              <a:rPr lang="ko-KR" altLang="en-US" dirty="0"/>
              <a:t>배열 원형 사용</a:t>
            </a:r>
          </a:p>
          <a:p>
            <a:pPr lvl="1"/>
            <a:r>
              <a:rPr lang="en-US" altLang="ko-KR" dirty="0"/>
              <a:t>Front </a:t>
            </a:r>
            <a:r>
              <a:rPr lang="ko-KR" altLang="en-US" dirty="0"/>
              <a:t>출력 위치</a:t>
            </a:r>
          </a:p>
          <a:p>
            <a:pPr lvl="1"/>
            <a:r>
              <a:rPr lang="en-US" altLang="ko-KR" dirty="0"/>
              <a:t>Rear </a:t>
            </a:r>
            <a:r>
              <a:rPr lang="ko-KR" altLang="en-US" dirty="0"/>
              <a:t>입력 위치</a:t>
            </a:r>
          </a:p>
          <a:p>
            <a:pPr lvl="1"/>
            <a:r>
              <a:rPr lang="en-US" altLang="ko-KR" dirty="0"/>
              <a:t>Space </a:t>
            </a:r>
            <a:r>
              <a:rPr lang="ko-KR" altLang="en-US" dirty="0"/>
              <a:t>남은 공간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다음 위치 계산</a:t>
            </a:r>
          </a:p>
          <a:p>
            <a:pPr lvl="1"/>
            <a:r>
              <a:rPr lang="en-US" altLang="ko-KR" dirty="0"/>
              <a:t>index = index % width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9F5EC28-D763-D18D-97CA-A185BF59254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638791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636F77D1-1FE5-A842-663E-98A2E15A96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크기 </a:t>
            </a:r>
            <a:r>
              <a:rPr lang="en-US" altLang="ko-KR" dirty="0"/>
              <a:t>5 Queue</a:t>
            </a:r>
          </a:p>
          <a:p>
            <a:pPr lvl="1"/>
            <a:r>
              <a:rPr lang="en-US" altLang="ko-KR" dirty="0"/>
              <a:t>0 → 1 → 2 → 3 → 4 → 0</a:t>
            </a:r>
          </a:p>
          <a:p>
            <a:r>
              <a:rPr lang="en-US" altLang="ko-KR" dirty="0"/>
              <a:t>Rear </a:t>
            </a:r>
            <a:r>
              <a:rPr lang="ko-KR" altLang="en-US" dirty="0"/>
              <a:t>증가</a:t>
            </a:r>
          </a:p>
          <a:p>
            <a:pPr lvl="1"/>
            <a:r>
              <a:rPr lang="ko-KR" altLang="en-US" dirty="0"/>
              <a:t>끝 도달</a:t>
            </a:r>
          </a:p>
          <a:p>
            <a:pPr lvl="1"/>
            <a:r>
              <a:rPr lang="ko-KR" altLang="en-US" dirty="0"/>
              <a:t>처음 위치 이동</a:t>
            </a:r>
            <a:endParaRPr lang="en-US" altLang="ko-KR" dirty="0"/>
          </a:p>
          <a:p>
            <a:r>
              <a:rPr lang="en-US" altLang="ko-KR" dirty="0"/>
              <a:t>Front </a:t>
            </a:r>
            <a:r>
              <a:rPr lang="ko-KR" altLang="en-US" dirty="0"/>
              <a:t>증가</a:t>
            </a:r>
          </a:p>
          <a:p>
            <a:pPr lvl="1"/>
            <a:r>
              <a:rPr lang="ko-KR" altLang="en-US" dirty="0"/>
              <a:t>끝 도달</a:t>
            </a:r>
          </a:p>
          <a:p>
            <a:pPr lvl="1"/>
            <a:r>
              <a:rPr lang="ko-KR" altLang="en-US" dirty="0"/>
              <a:t>처음 위치 이동</a:t>
            </a:r>
          </a:p>
          <a:p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4814B44-EC90-ACEE-5227-B710F24DD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17.3.4 Circular Queue </a:t>
            </a:r>
            <a:r>
              <a:rPr lang="ko-KR" altLang="en-US" dirty="0"/>
              <a:t>동작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208C31-0A89-392C-FFE0-C4029883506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600260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D8083-0569-1D3A-15B9-37AFC67CA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0343B9-B19B-4431-D936-DB5F5ADE1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17.3.5 Circular Queue </a:t>
            </a:r>
            <a:r>
              <a:rPr lang="ko-KR" altLang="en-US" dirty="0"/>
              <a:t>동작 예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DAC42A6-2C67-FDFE-0206-6486343AE6D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E3CEE092-37DE-F7FC-E588-E65965B399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63109" y="1556792"/>
            <a:ext cx="8154457" cy="4248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5823576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F0FD5-B0BB-30D5-4F16-69E03CAD0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139E18-2487-DB74-7BCC-D2E0A8915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17.3.6 Circular Queue </a:t>
            </a:r>
            <a:r>
              <a:rPr lang="ko-KR" altLang="en-US" dirty="0"/>
              <a:t>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C74B84-19D4-C0BF-A9FC-EB8FF14AB0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2E008DB-F007-5CCA-C207-7A40B62789C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BE0D99-E0CF-1405-AFC7-D8E6BF81A5FA}"/>
              </a:ext>
            </a:extLst>
          </p:cNvPr>
          <p:cNvSpPr txBox="1"/>
          <p:nvPr/>
        </p:nvSpPr>
        <p:spPr>
          <a:xfrm>
            <a:off x="683568" y="692150"/>
            <a:ext cx="7560840" cy="480131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CQueCircular</a:t>
            </a:r>
            <a:endParaRPr lang="en-US" altLang="ko-KR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protected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   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m_pBuf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{};   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큐의 버퍼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m_iFront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{};   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시작 위치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m_iRear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{};   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끝 위치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m_iSpace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{};   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남아있는 큐의 버퍼 크기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m_iWidth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{};   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큐의 버퍼 크기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CQueCircular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CQueCircular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iWidth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8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~</a:t>
            </a:r>
            <a:r>
              <a:rPr lang="en-US" altLang="ko-KR" sz="18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CQueCircular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Enqueue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iIn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 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 추가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Dequeue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iOut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 꺼냄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8063705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22CD40-37E2-3FE3-077D-25D957C51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17.3.7 Circular Queue </a:t>
            </a:r>
            <a:r>
              <a:rPr lang="ko-KR" altLang="en-US" dirty="0"/>
              <a:t>클래스 멤버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9FBBE65-AF52-A689-6DA0-348D345650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m_iFront</a:t>
            </a:r>
          </a:p>
          <a:p>
            <a:pPr lvl="1"/>
            <a:r>
              <a:rPr lang="ko-KR" altLang="en-US" dirty="0"/>
              <a:t>다음 출력 위치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m_iRear</a:t>
            </a:r>
          </a:p>
          <a:p>
            <a:pPr lvl="1"/>
            <a:r>
              <a:rPr lang="ko-KR" altLang="en-US" dirty="0"/>
              <a:t>다음 입력 위치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m_iSpace</a:t>
            </a:r>
          </a:p>
          <a:p>
            <a:pPr lvl="1"/>
            <a:r>
              <a:rPr lang="ko-KR" altLang="en-US" dirty="0"/>
              <a:t>남은 공간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C91B4E-92AF-C965-B671-2D1DC31F4D3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5203604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724DF-416D-1542-E6CD-EC13620EC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C3138E-1D7F-AE68-2E91-E6A43EFC0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17.3.8 Circular Queue </a:t>
            </a:r>
            <a:r>
              <a:rPr lang="ko-KR" altLang="en-US" dirty="0"/>
              <a:t>생성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22C8F0E-A9F2-EE58-84F2-38CF53AD98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Front 0</a:t>
            </a:r>
          </a:p>
          <a:p>
            <a:r>
              <a:rPr lang="en-US" altLang="ko-KR" dirty="0"/>
              <a:t>Rear 0</a:t>
            </a:r>
          </a:p>
          <a:p>
            <a:r>
              <a:rPr lang="en-US" altLang="ko-KR" dirty="0"/>
              <a:t>Space </a:t>
            </a:r>
            <a:r>
              <a:rPr lang="ko-KR" altLang="en-US" dirty="0"/>
              <a:t>전체 크기</a:t>
            </a:r>
          </a:p>
          <a:p>
            <a:r>
              <a:rPr lang="ko-KR" altLang="en-US" dirty="0"/>
              <a:t>동적 배열 생성</a:t>
            </a:r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E59CE10-F1F7-8F74-D86E-D9588E26D05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0873DC-91BC-877D-2E16-8033391AC8BB}"/>
              </a:ext>
            </a:extLst>
          </p:cNvPr>
          <p:cNvSpPr txBox="1"/>
          <p:nvPr/>
        </p:nvSpPr>
        <p:spPr>
          <a:xfrm>
            <a:off x="467518" y="3140968"/>
            <a:ext cx="8424863" cy="2862322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20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CQueCircular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20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CQueCircular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20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20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iWidth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</a:t>
            </a:r>
            <a:r>
              <a:rPr lang="en-US" altLang="ko-KR" sz="20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m_iFront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= </a:t>
            </a:r>
            <a:r>
              <a:rPr lang="en-US" altLang="ko-KR" sz="20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</a:t>
            </a:r>
            <a:r>
              <a:rPr lang="en-US" altLang="ko-KR" sz="20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m_iRear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= </a:t>
            </a:r>
            <a:r>
              <a:rPr lang="en-US" altLang="ko-KR" sz="20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</a:t>
            </a:r>
            <a:r>
              <a:rPr lang="en-US" altLang="ko-KR" sz="20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m_iSpace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= </a:t>
            </a:r>
            <a:r>
              <a:rPr lang="en-US" altLang="ko-KR" sz="20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iWidth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</a:t>
            </a:r>
            <a:r>
              <a:rPr lang="en-US" altLang="ko-KR" sz="20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m_iWidth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= </a:t>
            </a:r>
            <a:r>
              <a:rPr lang="en-US" altLang="ko-KR" sz="20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iWidth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</a:t>
            </a:r>
            <a:r>
              <a:rPr lang="en-US" altLang="ko-KR" sz="20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m_pBuf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= </a:t>
            </a:r>
            <a:r>
              <a:rPr lang="en-US" altLang="ko-KR" sz="20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20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20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m_iWidth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+</a:t>
            </a:r>
            <a:r>
              <a:rPr lang="en-US" altLang="ko-KR" sz="20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]{};</a:t>
            </a:r>
            <a:r>
              <a:rPr lang="en-US" altLang="ko-KR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End Pointer </a:t>
            </a:r>
            <a:r>
              <a:rPr lang="ko-KR" altLang="en-US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하나 더 추가</a:t>
            </a:r>
            <a:r>
              <a:rPr lang="en-US" altLang="ko-KR" sz="20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...</a:t>
            </a:r>
            <a:endParaRPr lang="ko-KR" altLang="en-US" sz="20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20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1539412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B1BC2B-A453-5571-C9DF-EBE68067D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17.3.9 Circular Queue Enqueue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0577C68-9CC7-B77E-FC15-25C2D31DD5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남은 공간 확인</a:t>
            </a:r>
          </a:p>
          <a:p>
            <a:r>
              <a:rPr lang="en-US" altLang="ko-KR" dirty="0"/>
              <a:t>Rear </a:t>
            </a:r>
            <a:r>
              <a:rPr lang="ko-KR" altLang="en-US" dirty="0"/>
              <a:t>위치 저장</a:t>
            </a:r>
          </a:p>
          <a:p>
            <a:r>
              <a:rPr lang="en-US" altLang="ko-KR" dirty="0"/>
              <a:t>Space </a:t>
            </a:r>
            <a:r>
              <a:rPr lang="ko-KR" altLang="en-US" dirty="0"/>
              <a:t>감소</a:t>
            </a:r>
          </a:p>
          <a:p>
            <a:r>
              <a:rPr lang="en-US" altLang="ko-KR" dirty="0"/>
              <a:t>Rear </a:t>
            </a:r>
            <a:r>
              <a:rPr lang="ko-KR" altLang="en-US" dirty="0"/>
              <a:t>순환 이동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DE041B1-14C8-3C99-FF1A-C555B27B35F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4744D7-C13B-5B9D-8519-E4A8ABD28DEC}"/>
              </a:ext>
            </a:extLst>
          </p:cNvPr>
          <p:cNvSpPr txBox="1"/>
          <p:nvPr/>
        </p:nvSpPr>
        <p:spPr>
          <a:xfrm>
            <a:off x="778713" y="2996952"/>
            <a:ext cx="7849121" cy="329320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6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CQueCircular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6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Enqueue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iIn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 </a:t>
            </a:r>
            <a:r>
              <a:rPr lang="en-US" altLang="ko-KR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큐에 데이터 추가</a:t>
            </a:r>
            <a:endParaRPr lang="ko-KR" altLang="en-US" sz="16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 </a:t>
            </a:r>
            <a:r>
              <a:rPr lang="en-US" altLang="ko-KR" sz="16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==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m_iSpace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             </a:t>
            </a:r>
            <a:r>
              <a:rPr lang="en-US" altLang="ko-KR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남아 있는 공간이 없으면 채우지 못함</a:t>
            </a:r>
            <a:endParaRPr lang="ko-KR" altLang="en-US" sz="16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</a:t>
            </a:r>
            <a:r>
              <a:rPr lang="en-US" altLang="ko-KR" sz="16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-</a:t>
            </a:r>
            <a:r>
              <a:rPr lang="en-US" altLang="ko-KR" sz="16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              </a:t>
            </a:r>
            <a:r>
              <a:rPr lang="en-US" altLang="ko-KR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Failed</a:t>
            </a:r>
            <a:endParaRPr lang="en-US" altLang="ko-KR" sz="16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m_pBuf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m_iRear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 =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iIn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--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m_iSpace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                 </a:t>
            </a:r>
            <a:r>
              <a:rPr lang="en-US" altLang="ko-KR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빈 영역 감소</a:t>
            </a:r>
            <a:endParaRPr lang="ko-KR" altLang="en-US" sz="16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ko-KR" altLang="en-US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++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m_iRear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m_iRear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%=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m_iWidth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         </a:t>
            </a:r>
            <a:r>
              <a:rPr lang="en-US" altLang="ko-KR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Rear </a:t>
            </a:r>
            <a:r>
              <a:rPr lang="ko-KR" altLang="en-US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위치 이동</a:t>
            </a:r>
            <a:endParaRPr lang="ko-KR" altLang="en-US" sz="16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6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403025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006495-38F6-7001-2E48-E3845C1A8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17.3.10 Circular Queue Dequeue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8164D3-FC01-DB4D-C546-5B2EE269D6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비어 있음 확인</a:t>
            </a:r>
          </a:p>
          <a:p>
            <a:r>
              <a:rPr lang="en-US" altLang="ko-KR" dirty="0"/>
              <a:t>Front </a:t>
            </a:r>
            <a:r>
              <a:rPr lang="ko-KR" altLang="en-US" dirty="0"/>
              <a:t>위치 출력</a:t>
            </a:r>
          </a:p>
          <a:p>
            <a:r>
              <a:rPr lang="en-US" altLang="ko-KR" dirty="0"/>
              <a:t>Space </a:t>
            </a:r>
            <a:r>
              <a:rPr lang="ko-KR" altLang="en-US" dirty="0"/>
              <a:t>증가</a:t>
            </a:r>
          </a:p>
          <a:p>
            <a:r>
              <a:rPr lang="en-US" altLang="ko-KR" dirty="0"/>
              <a:t>Front </a:t>
            </a:r>
            <a:r>
              <a:rPr lang="ko-KR" altLang="en-US" dirty="0"/>
              <a:t>순환 이동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6237F28-B2DD-B513-DBDF-CF9B6898FF5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8CDF13-3524-3C33-BAE5-5E73704A4BFD}"/>
              </a:ext>
            </a:extLst>
          </p:cNvPr>
          <p:cNvSpPr txBox="1"/>
          <p:nvPr/>
        </p:nvSpPr>
        <p:spPr>
          <a:xfrm>
            <a:off x="647663" y="2843232"/>
            <a:ext cx="7848674" cy="3970318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CQueCircular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Dequeue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iOut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 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큐에서 데이터 가져오기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m_iSpace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==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m_iWidth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        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버퍼가 비워져 있는 경우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</a:t>
            </a:r>
            <a:r>
              <a:rPr lang="en-US" altLang="ko-KR" sz="18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-</a:t>
            </a:r>
            <a:r>
              <a:rPr lang="en-US" altLang="ko-KR" sz="18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          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Failed</a:t>
            </a:r>
            <a:endParaRPr lang="en-US" altLang="ko-KR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*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iOut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m_pBuf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m_iFront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++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m_iSpace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             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빈 영역 증가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++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m_iFront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m_iFront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%=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m_iWidth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    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Front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위치 이동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24480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A89E8-175D-CA4C-58F9-8706EED7A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5B79F6-3F49-DD43-F7B3-6C4A05E1E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17.3.11</a:t>
            </a:r>
            <a:r>
              <a:rPr lang="pt-BR" altLang="ko-KR" dirty="0"/>
              <a:t> Linear Queue vs Circular Queue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2F67B2-9E9E-3029-69E2-296BD5A5A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Linear Queue</a:t>
            </a:r>
          </a:p>
          <a:p>
            <a:pPr lvl="1"/>
            <a:r>
              <a:rPr lang="ko-KR" altLang="en-US" dirty="0"/>
              <a:t>구현 단순</a:t>
            </a:r>
          </a:p>
          <a:p>
            <a:pPr lvl="1"/>
            <a:r>
              <a:rPr lang="en-US" altLang="ko-KR" dirty="0"/>
              <a:t>Dequeue </a:t>
            </a:r>
            <a:r>
              <a:rPr lang="ko-KR" altLang="en-US" dirty="0"/>
              <a:t>시 데이터 이동 → 성능 손실 가능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en-US" altLang="ko-KR" dirty="0"/>
              <a:t>Circular Queue</a:t>
            </a:r>
          </a:p>
          <a:p>
            <a:pPr lvl="1"/>
            <a:r>
              <a:rPr lang="ko-KR" altLang="en-US" dirty="0"/>
              <a:t>데이터 이동 없음 → 버퍼 재사용 효율 높음</a:t>
            </a:r>
            <a:endParaRPr lang="en-US" altLang="ko-KR" dirty="0"/>
          </a:p>
          <a:p>
            <a:pPr lvl="1"/>
            <a:r>
              <a:rPr lang="en-US" altLang="ko-KR" dirty="0"/>
              <a:t>Front Rear </a:t>
            </a:r>
            <a:r>
              <a:rPr lang="ko-KR" altLang="en-US" dirty="0"/>
              <a:t>관리 필요</a:t>
            </a:r>
          </a:p>
          <a:p>
            <a:pPr lvl="1"/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2301D5A-3487-4BDD-B28C-3460EAD4FFF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7321701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0FA9A-B9F1-BB17-54D2-3BD3F5796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9370E3-2BE3-E119-165E-3CE40AAE5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17.3.12 </a:t>
            </a:r>
            <a:r>
              <a:rPr lang="ko-KR" altLang="en-US" dirty="0"/>
              <a:t>원형 큐 예 </a:t>
            </a:r>
            <a:r>
              <a:rPr lang="en-US" altLang="ko-KR" dirty="0"/>
              <a:t>- Message Queue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349B8F-F223-E7A1-FECF-A74A5A8CAB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네트워크 소켓 이벤트의 사용자 정의 메시지 큐잉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D12D61C-6BB9-555F-9BC3-8C2FB657AFF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D21CEB-D4CF-FFE0-96CC-AC5B869AAB54}"/>
              </a:ext>
            </a:extLst>
          </p:cNvPr>
          <p:cNvSpPr txBox="1"/>
          <p:nvPr/>
        </p:nvSpPr>
        <p:spPr>
          <a:xfrm>
            <a:off x="755576" y="1196752"/>
            <a:ext cx="7632848" cy="526297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struct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6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NwMsg 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unsigned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6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unsigned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6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nMsg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};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6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CQueCircular 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protected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NwMsg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 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m_pBuf    {}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       </a:t>
            </a:r>
            <a:r>
              <a:rPr lang="en-US" altLang="ko-KR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큐의 버퍼</a:t>
            </a:r>
            <a:endParaRPr lang="ko-KR" altLang="en-US" sz="16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m_iFront</a:t>
            </a:r>
            <a:r>
              <a:rPr lang="en-US" altLang="ko-KR" sz="1600" b="1" dirty="0">
                <a:solidFill>
                  <a:srgbClr val="00008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{}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       </a:t>
            </a:r>
            <a:r>
              <a:rPr lang="en-US" altLang="ko-KR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시작 위치</a:t>
            </a:r>
            <a:endParaRPr lang="ko-KR" altLang="en-US" sz="16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m_iRear</a:t>
            </a:r>
            <a:r>
              <a:rPr lang="en-US" altLang="ko-KR" sz="1600" b="1" dirty="0">
                <a:solidFill>
                  <a:srgbClr val="00008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{}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       </a:t>
            </a:r>
            <a:r>
              <a:rPr lang="en-US" altLang="ko-KR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끝 위치</a:t>
            </a:r>
            <a:endParaRPr lang="ko-KR" altLang="en-US" sz="16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m_iSpace</a:t>
            </a:r>
            <a:r>
              <a:rPr lang="en-US" altLang="ko-KR" sz="1600" b="1" dirty="0">
                <a:solidFill>
                  <a:srgbClr val="00008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{}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       </a:t>
            </a:r>
            <a:r>
              <a:rPr lang="en-US" altLang="ko-KR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남아있는 큐의 버퍼 크기</a:t>
            </a:r>
            <a:endParaRPr lang="ko-KR" altLang="en-US" sz="16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m_iWidth</a:t>
            </a:r>
            <a:r>
              <a:rPr lang="en-US" altLang="ko-KR" sz="1600" b="1" dirty="0">
                <a:solidFill>
                  <a:srgbClr val="00008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{}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       </a:t>
            </a:r>
            <a:r>
              <a:rPr lang="en-US" altLang="ko-KR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큐의 버퍼 크기</a:t>
            </a:r>
            <a:endParaRPr lang="ko-KR" altLang="en-US" sz="16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CQueCircular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CQueCircular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iWidth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600" b="1" dirty="0">
                <a:solidFill>
                  <a:srgbClr val="8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~</a:t>
            </a:r>
            <a:r>
              <a:rPr lang="en-US" altLang="ko-KR" sz="16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CQueCircular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16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Enqueue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NwMsg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pIn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    </a:t>
            </a:r>
            <a:r>
              <a:rPr lang="en-US" altLang="ko-KR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 추가</a:t>
            </a:r>
            <a:endParaRPr lang="ko-KR" altLang="en-US" sz="16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16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Dequeue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NwMsg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pOut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   </a:t>
            </a:r>
            <a:r>
              <a:rPr lang="en-US" altLang="ko-KR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 꺼냄</a:t>
            </a:r>
            <a:endParaRPr lang="ko-KR" altLang="en-US" sz="16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15308098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DFBCE4-80F3-875C-123D-C97AC175C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338FBF-58B8-73FC-43E1-A79A81E81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17.4.1 </a:t>
            </a:r>
            <a:r>
              <a:rPr lang="ko-KR" altLang="en-US" dirty="0"/>
              <a:t>메시지</a:t>
            </a:r>
            <a:r>
              <a:rPr lang="en-US" altLang="ko-KR" dirty="0"/>
              <a:t> Queue Enqueue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71E3396-B7F2-CFCD-2B18-84074A2F04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NwMsg </a:t>
            </a:r>
            <a:r>
              <a:rPr lang="ko-KR" altLang="en-US" dirty="0"/>
              <a:t>단위 저장</a:t>
            </a:r>
          </a:p>
          <a:p>
            <a:r>
              <a:rPr lang="ko-KR" altLang="en-US" dirty="0"/>
              <a:t>메시지 전체 복사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627F88A-AD33-1A29-8E2A-F159EB2135F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1A2AB1-1C0F-7D76-EF7B-CCBB5812900E}"/>
              </a:ext>
            </a:extLst>
          </p:cNvPr>
          <p:cNvSpPr txBox="1"/>
          <p:nvPr/>
        </p:nvSpPr>
        <p:spPr>
          <a:xfrm>
            <a:off x="539750" y="1844823"/>
            <a:ext cx="8352210" cy="3693319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CQueCircular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Enqueue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NwMsg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pIn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  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큐에 데이터 추가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 </a:t>
            </a:r>
            <a:r>
              <a:rPr lang="en-US" altLang="ko-KR" sz="18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==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m_iSpace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   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남아 있는 공간이 없으면 채우지 못함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</a:t>
            </a:r>
            <a:r>
              <a:rPr lang="en-US" altLang="ko-KR" sz="18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-</a:t>
            </a:r>
            <a:r>
              <a:rPr lang="en-US" altLang="ko-KR" sz="18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    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Failed</a:t>
            </a:r>
            <a:endParaRPr lang="en-US" altLang="ko-KR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6F008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memcpy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(&amp;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m_pBuf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m_iRear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pIn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sizeof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 err="1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NwMsg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--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m_iSpace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               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빈 영역 감소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++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m_iRear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m_iRear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%=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m_iWidth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       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Rear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위치 이동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284417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A4004-98E5-9DBC-3F1E-3255A3B4B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C673C9-68C7-CFF6-3313-CE9744402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17.4.2 </a:t>
            </a:r>
            <a:r>
              <a:rPr lang="ko-KR" altLang="en-US" dirty="0"/>
              <a:t>메시지</a:t>
            </a:r>
            <a:r>
              <a:rPr lang="en-US" altLang="ko-KR" dirty="0"/>
              <a:t> Queue Dequeue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F14927E-2C2A-DD67-AF95-E5451819CA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NwMsg </a:t>
            </a:r>
            <a:r>
              <a:rPr lang="ko-KR" altLang="en-US" dirty="0"/>
              <a:t>단위 출력</a:t>
            </a:r>
          </a:p>
          <a:p>
            <a:r>
              <a:rPr lang="en-US" altLang="ko-KR" dirty="0"/>
              <a:t>Front </a:t>
            </a:r>
            <a:r>
              <a:rPr lang="ko-KR" altLang="en-US" dirty="0"/>
              <a:t>위치 데이터 복사</a:t>
            </a:r>
          </a:p>
          <a:p>
            <a:r>
              <a:rPr lang="en-US" altLang="ko-KR" dirty="0"/>
              <a:t>Front </a:t>
            </a:r>
            <a:r>
              <a:rPr lang="ko-KR" altLang="en-US" dirty="0"/>
              <a:t>순환 이동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5CDF9B6-AA24-2B55-39FA-D1C530F5825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60F013-23D7-5FC9-84F7-10CB3453CC82}"/>
              </a:ext>
            </a:extLst>
          </p:cNvPr>
          <p:cNvSpPr txBox="1"/>
          <p:nvPr/>
        </p:nvSpPr>
        <p:spPr>
          <a:xfrm>
            <a:off x="683568" y="2348880"/>
            <a:ext cx="7848872" cy="3970318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CQueCircular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Dequeue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NwMsg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pOut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큐에서 데이터 가져오기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m_iSpace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==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m_iWidth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     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버퍼가 비워져 있는 경우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</a:t>
            </a:r>
            <a:r>
              <a:rPr lang="en-US" altLang="ko-KR" sz="18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-</a:t>
            </a:r>
            <a:r>
              <a:rPr lang="en-US" altLang="ko-KR" sz="18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            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Failed</a:t>
            </a:r>
            <a:endParaRPr lang="en-US" altLang="ko-KR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6F008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memcpy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pOut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&amp;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m_pBuf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m_iFront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sizeof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NwMsg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++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m_iSpace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               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빈 영역 증가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++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m_iFront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m_iFront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%=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m_iWidth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      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Front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위치 이동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6537561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4A867-B753-C737-D372-E2BB4573AC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12864E-512A-24B0-2FB1-82DA898E2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17.5.1 String Queue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3EA88CA-EAC6-4B0D-FBD0-5B3FC2DE90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네트워크 데이터</a:t>
            </a:r>
          </a:p>
          <a:p>
            <a:pPr lvl="1"/>
            <a:r>
              <a:rPr lang="ko-KR" altLang="en-US" dirty="0"/>
              <a:t>문자열 형태 메시지</a:t>
            </a:r>
          </a:p>
          <a:p>
            <a:pPr lvl="1"/>
            <a:r>
              <a:rPr lang="ko-KR" altLang="en-US" dirty="0"/>
              <a:t>바이트 배열 형태 수신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정수 </a:t>
            </a:r>
            <a:r>
              <a:rPr lang="en-US" altLang="ko-KR" dirty="0"/>
              <a:t>Queue </a:t>
            </a:r>
            <a:r>
              <a:rPr lang="ko-KR" altLang="en-US" dirty="0"/>
              <a:t>부족</a:t>
            </a:r>
          </a:p>
          <a:p>
            <a:pPr lvl="1"/>
            <a:r>
              <a:rPr lang="ko-KR" altLang="en-US" dirty="0"/>
              <a:t>문자열 저장 필요</a:t>
            </a:r>
          </a:p>
          <a:p>
            <a:pPr lvl="1"/>
            <a:r>
              <a:rPr lang="ko-KR" altLang="en-US" dirty="0"/>
              <a:t>연속 데이터 저장 필요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5993213-B196-589A-9FBA-D394CB3A90A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87892937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4021E-473D-C5CC-7C9F-7EEC726778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5260DC-4EC8-528A-E3AE-2FF0442B0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17.5.2 String Queue </a:t>
            </a:r>
            <a:r>
              <a:rPr lang="ko-KR" altLang="en-US" dirty="0"/>
              <a:t>클래스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63764D-D91B-C02B-5F85-80EFAE2A7F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7A53730-343C-095C-80D1-3AC65BC27B5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3DF120-4116-4B87-1A0C-8E1B00E4E15D}"/>
              </a:ext>
            </a:extLst>
          </p:cNvPr>
          <p:cNvSpPr txBox="1"/>
          <p:nvPr/>
        </p:nvSpPr>
        <p:spPr>
          <a:xfrm>
            <a:off x="323850" y="692150"/>
            <a:ext cx="8065145" cy="5632311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CQueStr</a:t>
            </a:r>
            <a:endParaRPr lang="en-US" altLang="ko-KR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protected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  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m_sBuf    {}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 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큐의 버퍼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m_iRear</a:t>
            </a:r>
            <a:r>
              <a:rPr lang="en-US" altLang="ko-KR" sz="1800" b="1" dirty="0">
                <a:solidFill>
                  <a:srgbClr val="00008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{}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 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입력 문자열 끝 위치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m_iWidth</a:t>
            </a:r>
            <a:r>
              <a:rPr lang="en-US" altLang="ko-KR" sz="1800" b="1" dirty="0">
                <a:solidFill>
                  <a:srgbClr val="00008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{}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 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큐의 버퍼 크기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CQueStr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CQueStr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iWidth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8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~</a:t>
            </a:r>
            <a:r>
              <a:rPr lang="en-US" altLang="ko-KR" sz="18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CQueStr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Enqueue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sIn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iSize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8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Dequeue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iSize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8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Clear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          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큐의 내용을 지움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GetWidth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       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큐의 크기를 가져옴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GetRemain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      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큐의 남아 있는 크기를 가져옴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Resize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iSize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큐의 사이즈를 다시 설정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1851261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426451-67D8-8244-01B6-0CCBA8152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CE8DA9-8975-8AF1-35F3-5ECB5F941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17.5.3 String Queue </a:t>
            </a:r>
            <a:r>
              <a:rPr lang="ko-KR" altLang="en-US" dirty="0"/>
              <a:t>초기화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F0C766-7FAF-E580-3010-4DF88DEA1E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문자 버퍼 생성</a:t>
            </a:r>
          </a:p>
          <a:p>
            <a:r>
              <a:rPr lang="ko-KR" altLang="en-US" dirty="0"/>
              <a:t>문자열 끝 공간 추가</a:t>
            </a:r>
          </a:p>
          <a:p>
            <a:r>
              <a:rPr lang="en-US" altLang="ko-KR" dirty="0"/>
              <a:t>0 </a:t>
            </a:r>
            <a:r>
              <a:rPr lang="ko-KR" altLang="en-US" dirty="0"/>
              <a:t>초기화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00FFC9B-AF8F-602F-BD68-0D0E5881398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A2A28E-DAAD-1316-5AAC-D423CBD94A35}"/>
              </a:ext>
            </a:extLst>
          </p:cNvPr>
          <p:cNvSpPr txBox="1"/>
          <p:nvPr/>
        </p:nvSpPr>
        <p:spPr>
          <a:xfrm>
            <a:off x="561656" y="2924944"/>
            <a:ext cx="7826768" cy="3046988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CQueStr</a:t>
            </a:r>
            <a:r>
              <a:rPr lang="en-US" altLang="ko-KR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CQueStr</a:t>
            </a:r>
            <a:r>
              <a:rPr lang="en-US" altLang="ko-KR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iWidth</a:t>
            </a:r>
            <a:r>
              <a:rPr lang="en-US" altLang="ko-KR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m_iRear</a:t>
            </a:r>
            <a:r>
              <a:rPr lang="en-US" altLang="ko-KR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m_iWidth</a:t>
            </a:r>
            <a:r>
              <a:rPr lang="en-US" altLang="ko-KR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 </a:t>
            </a:r>
            <a:r>
              <a:rPr lang="en-US" altLang="ko-KR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iWidth</a:t>
            </a:r>
            <a:r>
              <a:rPr lang="en-US" altLang="ko-KR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endParaRPr lang="en-US" altLang="ko-KR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b="1" dirty="0">
                <a:solidFill>
                  <a:srgbClr val="008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// End Pointer </a:t>
            </a:r>
            <a:r>
              <a:rPr lang="ko-KR" altLang="en-US" b="1" dirty="0">
                <a:solidFill>
                  <a:srgbClr val="008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하나 더 추가</a:t>
            </a:r>
            <a:endParaRPr lang="en-US" altLang="ko-KR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m_sBuf</a:t>
            </a:r>
            <a:r>
              <a:rPr lang="en-US" altLang="ko-KR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= </a:t>
            </a:r>
            <a:r>
              <a:rPr lang="en-US" altLang="ko-KR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en-US" altLang="ko-KR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char</a:t>
            </a:r>
            <a:r>
              <a:rPr lang="en-US" altLang="ko-KR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m_iWidth</a:t>
            </a:r>
            <a:r>
              <a:rPr lang="en-US" altLang="ko-KR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+</a:t>
            </a:r>
            <a:r>
              <a:rPr lang="en-US" altLang="ko-KR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]{};</a:t>
            </a:r>
            <a:endParaRPr lang="ko-KR" altLang="en-US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99010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14484-8D0B-89CB-43D0-ABBC47D7D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65FB3C-2739-C25F-26EC-18907E8DF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17.5.4 String Queue Enqueue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03CC1FB-E340-96DC-D766-41A22761AC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입력 크기 확인</a:t>
            </a:r>
          </a:p>
          <a:p>
            <a:r>
              <a:rPr lang="ko-KR" altLang="en-US" sz="2400" dirty="0"/>
              <a:t>남은 공간 계산</a:t>
            </a:r>
          </a:p>
          <a:p>
            <a:r>
              <a:rPr lang="ko-KR" altLang="en-US" sz="2400" dirty="0"/>
              <a:t>저장 가능 크기만 복사</a:t>
            </a:r>
          </a:p>
          <a:p>
            <a:r>
              <a:rPr lang="ko-KR" altLang="en-US" sz="2400" dirty="0"/>
              <a:t>남은 데이터 크기 반환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505D70-A73A-6FF8-200B-0BE2A75ACBA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553F02-15B3-8E97-3311-56EC39DA0410}"/>
              </a:ext>
            </a:extLst>
          </p:cNvPr>
          <p:cNvSpPr txBox="1"/>
          <p:nvPr/>
        </p:nvSpPr>
        <p:spPr>
          <a:xfrm>
            <a:off x="467544" y="2564905"/>
            <a:ext cx="8208751" cy="4278094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6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CQueStr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6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Enqueue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char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sIn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iSize</a:t>
            </a:r>
            <a:r>
              <a:rPr lang="en-US" altLang="ko-KR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/*=1*/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</a:t>
            </a:r>
            <a:r>
              <a:rPr lang="en-US" altLang="ko-KR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큐에 데이터 추가</a:t>
            </a:r>
            <a:endParaRPr lang="ko-KR" altLang="en-US" sz="16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==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iSize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</a:t>
            </a:r>
            <a:r>
              <a:rPr lang="en-US" altLang="ko-KR" sz="16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6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m_iRear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==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m_iWidth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           </a:t>
            </a:r>
            <a:r>
              <a:rPr lang="en-US" altLang="ko-KR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남아 있는 공간이 없으면 채우지 못함</a:t>
            </a:r>
            <a:endParaRPr lang="ko-KR" altLang="en-US" sz="16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</a:t>
            </a:r>
            <a:r>
              <a:rPr lang="en-US" altLang="ko-KR" sz="16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iSize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iRet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</a:t>
            </a:r>
            <a:r>
              <a:rPr lang="en-US" altLang="ko-KR" sz="16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                    </a:t>
            </a:r>
            <a:r>
              <a:rPr lang="en-US" altLang="ko-KR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반환 값</a:t>
            </a:r>
            <a:endParaRPr lang="ko-KR" altLang="en-US" sz="16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iRemain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m_iWidth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-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m_iRear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</a:t>
            </a:r>
            <a:r>
              <a:rPr lang="en-US" altLang="ko-KR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남은 공간 계산</a:t>
            </a:r>
            <a:r>
              <a:rPr lang="ko-KR" altLang="en-US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ko-KR" altLang="en-US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iSize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iRemain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                  </a:t>
            </a:r>
            <a:r>
              <a:rPr lang="en-US" altLang="ko-KR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반환 값 설정</a:t>
            </a:r>
            <a:endParaRPr lang="ko-KR" altLang="en-US" sz="16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iRet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=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iSize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iRemain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iSize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iRemain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}    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iSize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++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*(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m_sBuf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+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m_iRear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++) = *(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sIn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+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   </a:t>
            </a:r>
            <a:r>
              <a:rPr lang="en-US" altLang="ko-KR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 복사</a:t>
            </a:r>
            <a:r>
              <a:rPr lang="en-US" altLang="ko-KR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Rear </a:t>
            </a:r>
            <a:r>
              <a:rPr lang="ko-KR" altLang="en-US" sz="16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위치 이동</a:t>
            </a:r>
            <a:r>
              <a:rPr lang="ko-KR" altLang="en-US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ko-KR" altLang="en-US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6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6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iRet</a:t>
            </a: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6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235288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CE52B-B228-589B-332B-6FAF491D29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67793C5-C799-9779-0120-866C31757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17.5.5 String Queue Dequeue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86F2F3-F068-08F5-4112-A10671CA78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요청 크기만 출력</a:t>
            </a:r>
          </a:p>
          <a:p>
            <a:r>
              <a:rPr lang="ko-KR" altLang="en-US" sz="2400" dirty="0"/>
              <a:t>출력 데이터 </a:t>
            </a:r>
            <a:r>
              <a:rPr lang="en-US" altLang="ko-KR" sz="2400" dirty="0"/>
              <a:t>0 </a:t>
            </a:r>
            <a:r>
              <a:rPr lang="ko-KR" altLang="en-US" sz="2400" dirty="0"/>
              <a:t>초기화</a:t>
            </a:r>
          </a:p>
          <a:p>
            <a:r>
              <a:rPr lang="ko-KR" altLang="en-US" sz="2400" dirty="0"/>
              <a:t>남은 데이터 앞으로 이동</a:t>
            </a:r>
          </a:p>
          <a:p>
            <a:r>
              <a:rPr lang="ko-KR" altLang="en-US" sz="2400" dirty="0"/>
              <a:t>출력 길이 반환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1BCEE30-67E2-1E49-6B84-08DD80A2848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A01F15-D319-0D24-5AFD-EC55F408F6DD}"/>
              </a:ext>
            </a:extLst>
          </p:cNvPr>
          <p:cNvSpPr txBox="1"/>
          <p:nvPr/>
        </p:nvSpPr>
        <p:spPr>
          <a:xfrm>
            <a:off x="827236" y="2492896"/>
            <a:ext cx="7705427" cy="440120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CQueStr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4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Dequeue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char</a:t>
            </a: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iSize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/*=1*/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  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큐에서 데이터 가져오기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==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m_iRear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                  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버퍼가 비워져 있는 경우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</a:t>
            </a: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    </a:t>
            </a: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iSize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m_iRear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                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만약 요청한 크기가 저장되어 있는 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iSize</a:t>
            </a: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m_iRear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           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크기보다 크다면 재조정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    </a:t>
            </a: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(;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iSize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++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{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*(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+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= *(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m_sBuf</a:t>
            </a: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+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     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 복사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*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m_sBuf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+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=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            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복사되면 큐의 내용을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 초기화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    </a:t>
            </a: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iSize</a:t>
            </a: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!=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m_iRear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 {            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일부만 복사했다면 그 만큼만 이동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  </a:t>
            </a: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iSize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m_iRear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++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    *(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m_sBuf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+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iSize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= *(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m_sBuf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+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   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한 단계씩 앞 자리로 이동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*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m_sBuf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+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iSize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=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       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마지막 자리도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 초기화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   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m_iRear</a:t>
            </a: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-=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iSize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             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Rear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위치 이동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iSize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                  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가져온 문장의 길이를 반환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8667998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15D0D-2E18-D545-AA2E-E134B4E9F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B99BC0-FB76-483A-1B29-F718702D9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17.5.6 String Queue  </a:t>
            </a:r>
            <a:r>
              <a:rPr lang="ko-KR" altLang="en-US" dirty="0"/>
              <a:t>사용 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9FB7E8-2156-B4BE-354B-0437DE4756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EB0DDFB-E00E-0398-CCFB-9C812F42A41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CF68C2A-1484-7CAB-526F-6B8A6B52C265}"/>
              </a:ext>
            </a:extLst>
          </p:cNvPr>
          <p:cNvSpPr txBox="1"/>
          <p:nvPr/>
        </p:nvSpPr>
        <p:spPr>
          <a:xfrm>
            <a:off x="514720" y="692150"/>
            <a:ext cx="7894709" cy="1477328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CQueueApp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iQueSize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/* = MAX_QUEUE */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m_pQueue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CQueStr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iQueSize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44B305E-6F90-8BC0-6398-AF059F032CCB}"/>
              </a:ext>
            </a:extLst>
          </p:cNvPr>
          <p:cNvSpPr txBox="1"/>
          <p:nvPr/>
        </p:nvSpPr>
        <p:spPr>
          <a:xfrm>
            <a:off x="525186" y="2314772"/>
            <a:ext cx="7884612" cy="203132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CQueueApp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EnqueuingMode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sMsg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8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256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]={</a:t>
            </a:r>
            <a:r>
              <a:rPr lang="en-US" altLang="ko-KR" sz="18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iSize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strlen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sMsg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iRet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m_pQueue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-&gt;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Enqueue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sMsg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iSize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BC03AAF-BE85-7FDD-A157-A4462BDAD2CC}"/>
              </a:ext>
            </a:extLst>
          </p:cNvPr>
          <p:cNvSpPr txBox="1"/>
          <p:nvPr/>
        </p:nvSpPr>
        <p:spPr>
          <a:xfrm>
            <a:off x="514720" y="4491392"/>
            <a:ext cx="7884612" cy="2031325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CQueueApp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DequeuingMode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sMsg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8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256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]={</a:t>
            </a:r>
            <a:r>
              <a:rPr lang="en-US" altLang="ko-KR" sz="18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iSize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m_pQueue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-&gt;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Dequeue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sMsg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iSize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sMsg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iSize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]=</a:t>
            </a:r>
            <a:r>
              <a:rPr lang="en-US" altLang="ko-KR" sz="18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5136954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B11B1-BD45-1FF8-42B6-7BF138B26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5F18DB9-39E2-6434-5199-0A709F592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17.6.1 Byte </a:t>
            </a:r>
            <a:r>
              <a:rPr lang="ko-KR" altLang="en-US" dirty="0"/>
              <a:t>기반</a:t>
            </a:r>
            <a:r>
              <a:rPr lang="en-US" altLang="ko-KR" dirty="0"/>
              <a:t> Queue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3B891C-D9EE-6332-8ED2-58221C24B0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char Queue</a:t>
            </a:r>
          </a:p>
          <a:p>
            <a:pPr lvl="1"/>
            <a:r>
              <a:rPr lang="ko-KR" altLang="en-US" dirty="0"/>
              <a:t>문자 단위 저장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>
                <a:solidFill>
                  <a:srgbClr val="9900FF"/>
                </a:solidFill>
              </a:rPr>
              <a:t>uint8_t</a:t>
            </a:r>
            <a:r>
              <a:rPr lang="en-US" altLang="ko-KR" dirty="0"/>
              <a:t> Queue</a:t>
            </a:r>
          </a:p>
          <a:p>
            <a:pPr lvl="1"/>
            <a:r>
              <a:rPr lang="ko-KR" altLang="en-US" dirty="0"/>
              <a:t>바이트 단위 저장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Network Buffer</a:t>
            </a:r>
          </a:p>
          <a:p>
            <a:pPr lvl="1"/>
            <a:r>
              <a:rPr lang="ko-KR" altLang="en-US" dirty="0"/>
              <a:t>수신 바이트 저장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1CF3C6B-7B9F-1180-88F0-2D3F65E3C8E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6018361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10A88-C9B8-6AD1-FF3E-004D0DDD2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18A751-9AAF-FEEE-C962-7B43D693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17.6.2 BYTE </a:t>
            </a:r>
            <a:r>
              <a:rPr lang="ko-KR" altLang="en-US" dirty="0"/>
              <a:t>기반 </a:t>
            </a:r>
            <a:r>
              <a:rPr lang="en-US" altLang="ko-KR" dirty="0"/>
              <a:t>String Queue </a:t>
            </a:r>
            <a:r>
              <a:rPr lang="ko-KR" altLang="en-US" dirty="0"/>
              <a:t>클래스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053DB4-5A24-0907-DD73-045AF20E4C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800" b="1" dirty="0">
                <a:solidFill>
                  <a:srgbClr val="216F85"/>
                </a:solidFill>
                <a:effectLst/>
                <a:latin typeface="+mn-ea"/>
                <a:ea typeface="+mn-ea"/>
              </a:rPr>
              <a:t>uint8_t</a:t>
            </a:r>
            <a:r>
              <a:rPr lang="en-US" altLang="ko-KR" dirty="0">
                <a:latin typeface="+mn-ea"/>
                <a:ea typeface="+mn-ea"/>
              </a:rPr>
              <a:t> </a:t>
            </a:r>
            <a:r>
              <a:rPr lang="ko-KR" altLang="en-US" dirty="0">
                <a:latin typeface="+mn-ea"/>
                <a:ea typeface="+mn-ea"/>
              </a:rPr>
              <a:t>버퍼 사용</a:t>
            </a:r>
          </a:p>
          <a:p>
            <a:r>
              <a:rPr lang="en-US" altLang="ko-KR" dirty="0"/>
              <a:t>Front Rear </a:t>
            </a:r>
            <a:r>
              <a:rPr lang="ko-KR" altLang="en-US" dirty="0"/>
              <a:t>사용</a:t>
            </a:r>
          </a:p>
          <a:p>
            <a:r>
              <a:rPr lang="en-US" altLang="ko-KR" dirty="0"/>
              <a:t>Space </a:t>
            </a:r>
            <a:r>
              <a:rPr lang="ko-KR" altLang="en-US" dirty="0"/>
              <a:t>사용</a:t>
            </a:r>
          </a:p>
          <a:p>
            <a:r>
              <a:rPr lang="en-US" altLang="ko-KR" dirty="0"/>
              <a:t>Circular Queue </a:t>
            </a:r>
            <a:r>
              <a:rPr lang="ko-KR" altLang="en-US" dirty="0"/>
              <a:t>구조 적용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4D48FEE-D38D-F7E4-8C86-3000EAC8064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19836356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C7F63-BACB-03A7-612E-C12E0C514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F964FF-E451-4863-B959-6C77FD243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17.6.3 BYTE </a:t>
            </a:r>
            <a:r>
              <a:rPr lang="ko-KR" altLang="en-US" dirty="0"/>
              <a:t>기반 </a:t>
            </a:r>
            <a:r>
              <a:rPr lang="en-US" altLang="ko-KR" dirty="0"/>
              <a:t>String Queue </a:t>
            </a:r>
            <a:r>
              <a:rPr lang="ko-KR" altLang="en-US" dirty="0"/>
              <a:t>클래스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AAF45F2-516E-E985-6279-B0D4AF5287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370EE82-2E3F-CBE4-600D-A8A5B331999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DA9434-7CFE-44C5-8FEF-DA2ACA81A928}"/>
              </a:ext>
            </a:extLst>
          </p:cNvPr>
          <p:cNvSpPr txBox="1"/>
          <p:nvPr/>
        </p:nvSpPr>
        <p:spPr>
          <a:xfrm>
            <a:off x="251520" y="692150"/>
            <a:ext cx="8425134" cy="5909310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800" b="1" dirty="0">
                <a:solidFill>
                  <a:srgbClr val="808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#include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E2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en-US" altLang="ko-KR" sz="1800" b="1" dirty="0">
                <a:solidFill>
                  <a:srgbClr val="FF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stdint.h</a:t>
            </a:r>
            <a:r>
              <a:rPr lang="en-US" altLang="ko-KR" sz="1800" b="1" dirty="0">
                <a:solidFill>
                  <a:srgbClr val="E21F1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endParaRPr lang="en-US" altLang="ko-KR" sz="1800" b="1" dirty="0">
              <a:solidFill>
                <a:srgbClr val="00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class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CQueStr 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protected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uint8_t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   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m_sBuf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{};       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큐의 버퍼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m_iFront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{};       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Front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위치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m_iRear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{};       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Rear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위치위치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m_iSpace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{};       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남아 있는 공간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m_iWidth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{};       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큐의 버퍼 크기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CQueStr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CQueStr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iWidth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8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~</a:t>
            </a:r>
            <a:r>
              <a:rPr lang="en-US" altLang="ko-KR" sz="18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CQueStr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</a:t>
            </a: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Enqueue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sIn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iSize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 추가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Dequeue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iSize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 가져오기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Clear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                  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큐의 내용을 지움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GetWidth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           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큐의 크기를 가져옴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GetRemain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();          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큐의 남아 있는 크기를 가져옴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8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Resize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8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8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iSize</a:t>
            </a: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          </a:t>
            </a:r>
            <a:r>
              <a:rPr lang="en-US" altLang="ko-KR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8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큐의 사이즈를 다시 설정</a:t>
            </a:r>
            <a:endParaRPr lang="ko-KR" altLang="en-US" sz="18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8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90084504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CAB71-3008-A6B8-CE29-E4CDCFE17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B5F98B-5B3B-7B8C-912E-5A5AFA7F0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17.6.4 BYTE Queue Enqueue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E50BFA-D978-4414-BF6B-FAD3B8ED0C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void* </a:t>
            </a:r>
            <a:r>
              <a:rPr lang="ko-KR" altLang="en-US" sz="2400" dirty="0"/>
              <a:t>입력</a:t>
            </a:r>
          </a:p>
          <a:p>
            <a:r>
              <a:rPr lang="en-US" altLang="ko-KR" sz="2400" dirty="0"/>
              <a:t>BYTE* </a:t>
            </a:r>
            <a:r>
              <a:rPr lang="ko-KR" altLang="en-US" sz="2400" dirty="0"/>
              <a:t>변환</a:t>
            </a:r>
          </a:p>
          <a:p>
            <a:r>
              <a:rPr lang="ko-KR" altLang="en-US" sz="2400" dirty="0"/>
              <a:t>바이트 단위 복사</a:t>
            </a:r>
          </a:p>
          <a:p>
            <a:r>
              <a:rPr lang="en-US" altLang="ko-KR" sz="2400" dirty="0"/>
              <a:t>Rear </a:t>
            </a:r>
            <a:r>
              <a:rPr lang="ko-KR" altLang="en-US" sz="2400" dirty="0"/>
              <a:t>순환 이동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6874B74-4048-6954-0EE5-59B92C58A3D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C131F2-20F1-2A49-7F4D-1C38AD02533A}"/>
              </a:ext>
            </a:extLst>
          </p:cNvPr>
          <p:cNvSpPr txBox="1"/>
          <p:nvPr/>
        </p:nvSpPr>
        <p:spPr>
          <a:xfrm>
            <a:off x="539750" y="2780928"/>
            <a:ext cx="8280400" cy="3323987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CQueStr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4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Enqueue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sIn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iSize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/*=1*/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큐에 데이터 추가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&gt;=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m_iSpace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||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iSize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m_iSpace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 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남아 있는 공간이 없거나 입력 사이즈보다 작으면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</a:t>
            </a: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-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                   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실패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    </a:t>
            </a: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auto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pIn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(</a:t>
            </a: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uint8_t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*)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sIn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iSize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++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{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*(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m_sBuf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+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m_iRear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= *(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pIn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+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  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 복사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 Rear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위치 이동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++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m_iRear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m_iRear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%=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m_iWidth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}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   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m_iSpace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-=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iSize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6463763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9067D-78AE-D165-78CA-94EBCEDC2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5446DE-00AD-A031-A856-2D03E853C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17.6.5 BYTE Queue Dequeue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B330BC8-B000-468C-7C88-33435FB24F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Front </a:t>
            </a:r>
            <a:r>
              <a:rPr lang="ko-KR" altLang="en-US" sz="2400" dirty="0"/>
              <a:t>위치 크기 확인</a:t>
            </a:r>
          </a:p>
          <a:p>
            <a:r>
              <a:rPr lang="en-US" altLang="ko-KR" sz="2400" dirty="0"/>
              <a:t>BYTE </a:t>
            </a:r>
            <a:r>
              <a:rPr lang="ko-KR" altLang="en-US" sz="2400" dirty="0"/>
              <a:t>단위 출력</a:t>
            </a:r>
          </a:p>
          <a:p>
            <a:r>
              <a:rPr lang="en-US" altLang="ko-KR" sz="2400" dirty="0"/>
              <a:t>Front </a:t>
            </a:r>
            <a:r>
              <a:rPr lang="ko-KR" altLang="en-US" sz="2400" dirty="0"/>
              <a:t>순환 이동</a:t>
            </a:r>
          </a:p>
          <a:p>
            <a:r>
              <a:rPr lang="ko-KR" altLang="en-US" sz="2400" dirty="0"/>
              <a:t>출력 크기 반환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D012B72-44D6-360D-5A9B-38B4201D3F0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B75121-48DE-8E86-97D8-CA7C5A739D06}"/>
              </a:ext>
            </a:extLst>
          </p:cNvPr>
          <p:cNvSpPr txBox="1"/>
          <p:nvPr/>
        </p:nvSpPr>
        <p:spPr>
          <a:xfrm>
            <a:off x="683381" y="2590820"/>
            <a:ext cx="7993137" cy="3970318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CQueStr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::</a:t>
            </a:r>
            <a:r>
              <a:rPr lang="en-US" altLang="ko-KR" sz="1400" b="1" dirty="0">
                <a:solidFill>
                  <a:srgbClr val="88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Dequeue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void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pSize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/*=1*/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 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큐에서 데이터 가져오기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m_iSpace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&gt;= 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m_iWidth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)              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버퍼가 비워져 있는 경우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</a:t>
            </a: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-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   </a:t>
            </a: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iSize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m_sBuf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m_iFront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];              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Front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 위치는 길이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   </a:t>
            </a: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auto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pOut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(</a:t>
            </a:r>
            <a:r>
              <a:rPr lang="en-US" altLang="ko-KR" sz="1400" b="1" dirty="0">
                <a:solidFill>
                  <a:srgbClr val="216F8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uint8_t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*)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sOut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   </a:t>
            </a: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iSize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++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{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*(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pOut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+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= *(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m_sBuf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+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m_iFront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      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 복사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*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m_sBuf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+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m_iFront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 =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           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복사되면 큐의 내용을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으로 초기화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++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m_iFront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   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m_iFront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%=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m_iWidth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                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Front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위치 이동</a:t>
            </a:r>
            <a:endParaRPr lang="ko-KR" altLang="en-US" sz="1400" b="1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   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m_iSpace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+=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iSize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*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pSize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= </a:t>
            </a:r>
            <a:r>
              <a:rPr lang="en-US" altLang="ko-KR" sz="1400" b="1" dirty="0">
                <a:solidFill>
                  <a:srgbClr val="00008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iSize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                             </a:t>
            </a:r>
            <a:r>
              <a:rPr lang="en-US" altLang="ko-KR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 </a:t>
            </a:r>
            <a:r>
              <a:rPr lang="ko-KR" altLang="en-US" sz="1400" b="1" dirty="0">
                <a:solidFill>
                  <a:srgbClr val="008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가져온 문장의 길이를 반환</a:t>
            </a: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pPr>
              <a:buNone/>
            </a:pPr>
            <a:r>
              <a:rPr lang="ko-KR" altLang="en-US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   </a:t>
            </a:r>
            <a:r>
              <a:rPr lang="en-US" altLang="ko-KR" sz="1400" b="1" dirty="0">
                <a:solidFill>
                  <a:srgbClr val="8F08C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en-US" altLang="ko-KR" sz="1400" b="1" dirty="0">
                <a:solidFill>
                  <a:srgbClr val="FF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</a:p>
          <a:p>
            <a:pPr>
              <a:buNone/>
            </a:pPr>
            <a:r>
              <a:rPr lang="en-US" altLang="ko-KR" sz="1400" b="1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2701753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00288-54FE-E1FC-A8DA-6F63F171F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DCEA7F-F1A8-2A7F-0D67-9620DBF1A3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17.7.1 recv </a:t>
            </a:r>
            <a:r>
              <a:rPr lang="ko-KR" altLang="en-US" dirty="0"/>
              <a:t>데이터 예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2DF6B2-A9F6-E1CC-4E1A-54447F8E8D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송신 데이터</a:t>
            </a:r>
          </a:p>
          <a:p>
            <a:pPr lvl="1"/>
            <a:r>
              <a:rPr lang="en-US" altLang="ko-KR" dirty="0"/>
              <a:t>"HELLO"</a:t>
            </a:r>
          </a:p>
          <a:p>
            <a:pPr lvl="1"/>
            <a:endParaRPr lang="en-US" altLang="ko-KR" dirty="0"/>
          </a:p>
          <a:p>
            <a:r>
              <a:rPr lang="ko-KR" altLang="en-US" dirty="0"/>
              <a:t>수신 가능 형태 </a:t>
            </a:r>
            <a:r>
              <a:rPr lang="en-US" altLang="ko-KR" dirty="0"/>
              <a:t>1</a:t>
            </a:r>
          </a:p>
          <a:p>
            <a:pPr lvl="1"/>
            <a:r>
              <a:rPr lang="en-US" altLang="ko-KR" dirty="0"/>
              <a:t>"HELLO"</a:t>
            </a:r>
          </a:p>
          <a:p>
            <a:pPr lvl="1"/>
            <a:endParaRPr lang="ko-KR" altLang="en-US" dirty="0"/>
          </a:p>
          <a:p>
            <a:r>
              <a:rPr lang="ko-KR" altLang="en-US" dirty="0"/>
              <a:t>수신 가능 형태 </a:t>
            </a:r>
            <a:r>
              <a:rPr lang="en-US" altLang="ko-KR" dirty="0"/>
              <a:t>2</a:t>
            </a:r>
          </a:p>
          <a:p>
            <a:pPr lvl="1"/>
            <a:r>
              <a:rPr lang="en-US" altLang="ko-KR" dirty="0"/>
              <a:t>"HE"</a:t>
            </a:r>
          </a:p>
          <a:p>
            <a:pPr lvl="1"/>
            <a:r>
              <a:rPr lang="en-US" altLang="ko-KR" dirty="0"/>
              <a:t>"LLO"</a:t>
            </a:r>
          </a:p>
          <a:p>
            <a:endParaRPr lang="en-US" altLang="ko-KR" dirty="0"/>
          </a:p>
          <a:p>
            <a:r>
              <a:rPr lang="ko-KR" altLang="en-US" dirty="0"/>
              <a:t>수신 가능 형태 </a:t>
            </a:r>
            <a:r>
              <a:rPr lang="en-US" altLang="ko-KR" dirty="0"/>
              <a:t>3</a:t>
            </a:r>
          </a:p>
          <a:p>
            <a:pPr lvl="1"/>
            <a:r>
              <a:rPr lang="en-US" altLang="ko-KR" dirty="0"/>
              <a:t>"HELLOWORLD"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460F36A-EA3D-0762-6BA2-384443230AD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3537333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80A5F-7909-E6E5-D30B-64FA0EC85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4C702B-41B9-E2A0-39EB-A5B2C9C08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17.7.2 Queue</a:t>
            </a:r>
            <a:r>
              <a:rPr lang="ko-KR" altLang="en-US" dirty="0"/>
              <a:t>와 </a:t>
            </a:r>
            <a:r>
              <a:rPr lang="en-US" altLang="ko-KR" dirty="0"/>
              <a:t>Network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DBAA5D-784B-B42C-B48E-6BB1337061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송신 </a:t>
            </a:r>
            <a:r>
              <a:rPr lang="en-US" altLang="ko-KR" dirty="0"/>
              <a:t>Queue</a:t>
            </a:r>
          </a:p>
          <a:p>
            <a:pPr lvl="1"/>
            <a:r>
              <a:rPr lang="ko-KR" altLang="en-US" dirty="0"/>
              <a:t>보낼 데이터 임시 저장</a:t>
            </a:r>
          </a:p>
          <a:p>
            <a:pPr lvl="1"/>
            <a:r>
              <a:rPr lang="ko-KR" altLang="en-US" dirty="0"/>
              <a:t>순서 보장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수신 </a:t>
            </a:r>
            <a:r>
              <a:rPr lang="en-US" altLang="ko-KR" dirty="0"/>
              <a:t>Queue</a:t>
            </a:r>
          </a:p>
          <a:p>
            <a:pPr lvl="1"/>
            <a:r>
              <a:rPr lang="ko-KR" altLang="en-US" dirty="0"/>
              <a:t>받은 데이터 임시 저장</a:t>
            </a:r>
          </a:p>
          <a:p>
            <a:pPr lvl="1"/>
            <a:r>
              <a:rPr lang="ko-KR" altLang="en-US" dirty="0"/>
              <a:t>처리 순서 보장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패킷 </a:t>
            </a:r>
            <a:r>
              <a:rPr lang="en-US" altLang="ko-KR" dirty="0"/>
              <a:t>Queue</a:t>
            </a:r>
          </a:p>
          <a:p>
            <a:pPr lvl="1"/>
            <a:r>
              <a:rPr lang="ko-KR" altLang="en-US" dirty="0"/>
              <a:t>완성 메시지 저장</a:t>
            </a:r>
          </a:p>
          <a:p>
            <a:pPr lvl="1"/>
            <a:r>
              <a:rPr lang="ko-KR" altLang="en-US" dirty="0"/>
              <a:t>게임 로직 전달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E8F3E49-8466-F2DF-FF30-AAB15A03666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710170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C729A-B047-A6EF-58E2-E5FDD0441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2AB75A-641E-C347-8574-87675A587F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17.7.3 </a:t>
            </a:r>
            <a:r>
              <a:rPr lang="ko-KR" altLang="en-US" dirty="0"/>
              <a:t>게임 서버 구조 연결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A42245A-A6D9-28CE-08AD-431D98C392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Client</a:t>
            </a:r>
          </a:p>
          <a:p>
            <a:pPr lvl="1"/>
            <a:r>
              <a:rPr lang="en-US" altLang="ko-KR" dirty="0"/>
              <a:t>Network</a:t>
            </a:r>
          </a:p>
          <a:p>
            <a:pPr lvl="1"/>
            <a:r>
              <a:rPr lang="en-US" altLang="ko-KR" dirty="0">
                <a:solidFill>
                  <a:srgbClr val="9900FF"/>
                </a:solidFill>
              </a:rPr>
              <a:t>Buffer</a:t>
            </a:r>
          </a:p>
          <a:p>
            <a:pPr lvl="1"/>
            <a:r>
              <a:rPr lang="en-US" altLang="ko-KR" dirty="0"/>
              <a:t>Packet</a:t>
            </a:r>
          </a:p>
          <a:p>
            <a:pPr lvl="1"/>
            <a:r>
              <a:rPr lang="en-US" altLang="ko-KR" dirty="0"/>
              <a:t>Game Logic</a:t>
            </a:r>
          </a:p>
          <a:p>
            <a:pPr lvl="1"/>
            <a:endParaRPr lang="en-US" altLang="ko-KR" dirty="0"/>
          </a:p>
          <a:p>
            <a:r>
              <a:rPr lang="en-US" altLang="ko-KR" dirty="0"/>
              <a:t>Network Thread</a:t>
            </a:r>
          </a:p>
          <a:p>
            <a:pPr lvl="1"/>
            <a:r>
              <a:rPr lang="ko-KR" altLang="en-US" dirty="0"/>
              <a:t>데이터 수신</a:t>
            </a:r>
          </a:p>
          <a:p>
            <a:pPr lvl="1"/>
            <a:r>
              <a:rPr lang="en-US" altLang="ko-KR" dirty="0">
                <a:solidFill>
                  <a:srgbClr val="9900FF"/>
                </a:solidFill>
              </a:rPr>
              <a:t>Buffer </a:t>
            </a:r>
            <a:r>
              <a:rPr lang="ko-KR" altLang="en-US" dirty="0">
                <a:solidFill>
                  <a:srgbClr val="9900FF"/>
                </a:solidFill>
              </a:rPr>
              <a:t>저장</a:t>
            </a:r>
          </a:p>
          <a:p>
            <a:pPr lvl="1"/>
            <a:r>
              <a:rPr lang="en-US" altLang="ko-KR" dirty="0"/>
              <a:t>Packet </a:t>
            </a:r>
            <a:r>
              <a:rPr lang="ko-KR" altLang="en-US" dirty="0"/>
              <a:t>분리</a:t>
            </a:r>
          </a:p>
          <a:p>
            <a:pPr lvl="1"/>
            <a:r>
              <a:rPr lang="en-US" altLang="ko-KR" dirty="0"/>
              <a:t>Queue </a:t>
            </a:r>
            <a:r>
              <a:rPr lang="ko-KR" altLang="en-US" dirty="0"/>
              <a:t>전달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0F8EFC7-3059-6619-BD60-11FB2F68D0F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7246284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419FC-8655-9761-DEDF-489D4A2EF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8E9DE3-144A-E2ED-C902-2351F3BBE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17.8 </a:t>
            </a:r>
            <a:r>
              <a:rPr lang="ko-KR" altLang="en-US" dirty="0"/>
              <a:t>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D3DB94-6672-BB42-9E7B-3D4B6669FF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Queue</a:t>
            </a:r>
          </a:p>
          <a:p>
            <a:pPr lvl="1"/>
            <a:r>
              <a:rPr lang="en-US" altLang="ko-KR" sz="2000" dirty="0"/>
              <a:t>FIFO </a:t>
            </a:r>
            <a:r>
              <a:rPr lang="ko-KR" altLang="en-US" sz="2000" dirty="0"/>
              <a:t>구조</a:t>
            </a:r>
          </a:p>
          <a:p>
            <a:pPr lvl="1"/>
            <a:r>
              <a:rPr lang="ko-KR" altLang="en-US" sz="2000" dirty="0"/>
              <a:t>입력 순서 보존</a:t>
            </a:r>
            <a:endParaRPr lang="en-US" altLang="ko-KR" sz="2000" dirty="0"/>
          </a:p>
          <a:p>
            <a:pPr lvl="2"/>
            <a:endParaRPr lang="en-US" altLang="ko-KR" sz="1800" dirty="0"/>
          </a:p>
          <a:p>
            <a:r>
              <a:rPr lang="en-US" altLang="ko-KR" sz="2400" dirty="0"/>
              <a:t>Linear Queue</a:t>
            </a:r>
          </a:p>
          <a:p>
            <a:pPr lvl="1"/>
            <a:r>
              <a:rPr lang="ko-KR" altLang="en-US" sz="2000" dirty="0"/>
              <a:t>구현 단순</a:t>
            </a:r>
          </a:p>
          <a:p>
            <a:pPr lvl="1"/>
            <a:r>
              <a:rPr lang="en-US" altLang="ko-KR" sz="2000" dirty="0"/>
              <a:t>Dequeue </a:t>
            </a:r>
            <a:r>
              <a:rPr lang="ko-KR" altLang="en-US" sz="2000" dirty="0"/>
              <a:t>데이터 이동</a:t>
            </a:r>
            <a:endParaRPr lang="en-US" altLang="ko-KR" sz="2000" dirty="0"/>
          </a:p>
          <a:p>
            <a:pPr lvl="2"/>
            <a:endParaRPr lang="en-US" altLang="ko-KR" sz="1800" dirty="0"/>
          </a:p>
          <a:p>
            <a:r>
              <a:rPr lang="en-US" altLang="ko-KR" sz="2400" dirty="0"/>
              <a:t>Circular Queue</a:t>
            </a:r>
          </a:p>
          <a:p>
            <a:pPr lvl="1"/>
            <a:r>
              <a:rPr lang="ko-KR" altLang="en-US" sz="2000" dirty="0"/>
              <a:t>데이터 이동 제거</a:t>
            </a:r>
          </a:p>
          <a:p>
            <a:pPr lvl="1"/>
            <a:r>
              <a:rPr lang="en-US" altLang="ko-KR" sz="2000" dirty="0"/>
              <a:t>Front Rear </a:t>
            </a:r>
            <a:r>
              <a:rPr lang="ko-KR" altLang="en-US" sz="2000" dirty="0"/>
              <a:t>순환</a:t>
            </a:r>
            <a:endParaRPr lang="en-US" altLang="ko-KR" sz="2000" dirty="0"/>
          </a:p>
          <a:p>
            <a:pPr lvl="2"/>
            <a:endParaRPr lang="en-US" altLang="ko-KR" sz="1800" dirty="0"/>
          </a:p>
          <a:p>
            <a:r>
              <a:rPr lang="en-US" altLang="ko-KR" sz="2400" dirty="0"/>
              <a:t>String Queue</a:t>
            </a:r>
          </a:p>
          <a:p>
            <a:pPr lvl="1"/>
            <a:r>
              <a:rPr lang="ko-KR" altLang="en-US" sz="2000" dirty="0"/>
              <a:t>문자열 저장</a:t>
            </a:r>
          </a:p>
          <a:p>
            <a:pPr lvl="1"/>
            <a:r>
              <a:rPr lang="en-US" altLang="ko-KR" sz="2000" dirty="0"/>
              <a:t>Network Buffer </a:t>
            </a:r>
            <a:r>
              <a:rPr lang="ko-KR" altLang="en-US" sz="2000" dirty="0"/>
              <a:t>기초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F891F0C-97B9-2AB2-C31C-F4457DD1C47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441485365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바른고딕">
      <a:majorFont>
        <a:latin typeface="나눔바른고딕"/>
        <a:ea typeface="나눔바른고딕"/>
        <a:cs typeface=""/>
      </a:majorFont>
      <a:minorFont>
        <a:latin typeface="나눔바른고딕"/>
        <a:ea typeface="나눔바른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굴림" panose="020B0600000101010101" pitchFamily="50" charset="-127"/>
          </a:defRPr>
        </a:defPPr>
      </a:lstStyle>
    </a:lnDef>
    <a:txDef>
      <a:spPr>
        <a:noFill/>
        <a:ln w="25400">
          <a:solidFill>
            <a:schemeClr val="bg1">
              <a:lumMod val="75000"/>
            </a:schemeClr>
          </a:solidFill>
          <a:prstDash val="sysDot"/>
        </a:ln>
      </a:spPr>
      <a:bodyPr wrap="square">
        <a:spAutoFit/>
      </a:bodyPr>
      <a:lstStyle>
        <a:defPPr algn="l">
          <a:buNone/>
          <a:defRPr sz="1600" b="1" dirty="0">
            <a:solidFill>
              <a:srgbClr val="0000FF"/>
            </a:solidFill>
            <a:effectLst/>
            <a:latin typeface="D2Coding" panose="020B0609020101020101" pitchFamily="49" charset="-127"/>
            <a:ea typeface="D2Coding" panose="020B0609020101020101" pitchFamily="49" charset="-127"/>
          </a:defRPr>
        </a:defPPr>
      </a:lstStyle>
    </a:tx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3330</TotalTime>
  <Words>3199</Words>
  <Application>Microsoft Office PowerPoint</Application>
  <PresentationFormat>화면 슬라이드 쇼(4:3)</PresentationFormat>
  <Paragraphs>666</Paragraphs>
  <Slides>46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46</vt:i4>
      </vt:variant>
    </vt:vector>
  </HeadingPairs>
  <TitlesOfParts>
    <vt:vector size="55" baseType="lpstr">
      <vt:lpstr>D2Coding</vt:lpstr>
      <vt:lpstr>HY견고딕</vt:lpstr>
      <vt:lpstr>가을체</vt:lpstr>
      <vt:lpstr>굴림</vt:lpstr>
      <vt:lpstr>나눔바른고딕</vt:lpstr>
      <vt:lpstr>Arial</vt:lpstr>
      <vt:lpstr>Consolas</vt:lpstr>
      <vt:lpstr>Wingdings</vt:lpstr>
      <vt:lpstr>기본 디자인</vt:lpstr>
      <vt:lpstr>Network Programming - 17 Queue 자료구조와 네트워크 버퍼  afewhee@gmail.com</vt:lpstr>
      <vt:lpstr>17.0 학습 목표</vt:lpstr>
      <vt:lpstr>17.1 Queue 개념</vt:lpstr>
      <vt:lpstr>17.1.2 Queue 사용 예</vt:lpstr>
      <vt:lpstr>17.1.3 Queue 기본 연산</vt:lpstr>
      <vt:lpstr>17.1.4 Queue 기본 연산 과정</vt:lpstr>
      <vt:lpstr>17.2.1 Linear Queue</vt:lpstr>
      <vt:lpstr>17.2.2 Linear Queue 구현</vt:lpstr>
      <vt:lpstr>17.2.3 Linear Queue 클래스 멤버</vt:lpstr>
      <vt:lpstr>17.2.4 Linear Queue 생성</vt:lpstr>
      <vt:lpstr>17.2.5 Linear Queue Enqueue</vt:lpstr>
      <vt:lpstr>17.2.6 Linear Queue Dequeue</vt:lpstr>
      <vt:lpstr>17.2.7 Linear Queue 흐름</vt:lpstr>
      <vt:lpstr>17.2.8 Linear Queue 초기화</vt:lpstr>
      <vt:lpstr>17.2.9 Linear Queue EnQueue 예</vt:lpstr>
      <vt:lpstr>17.2.10 Linear Queue DeQueue 예</vt:lpstr>
      <vt:lpstr>17.2.11 Linear Queue 문제점</vt:lpstr>
      <vt:lpstr>17.3.1 Circular Queue 필요성</vt:lpstr>
      <vt:lpstr>17.3.2 Circular Queue 장점</vt:lpstr>
      <vt:lpstr>17.3.3 Circular Queue 구조</vt:lpstr>
      <vt:lpstr>17.3.4 Circular Queue 동작</vt:lpstr>
      <vt:lpstr>17.3.5 Circular Queue 동작 예</vt:lpstr>
      <vt:lpstr>17.3.6 Circular Queue 구현</vt:lpstr>
      <vt:lpstr>17.3.7 Circular Queue 클래스 멤버</vt:lpstr>
      <vt:lpstr>17.3.8 Circular Queue 생성</vt:lpstr>
      <vt:lpstr>17.3.9 Circular Queue Enqueue</vt:lpstr>
      <vt:lpstr>17.3.10 Circular Queue Dequeue</vt:lpstr>
      <vt:lpstr>17.3.11 Linear Queue vs Circular Queue</vt:lpstr>
      <vt:lpstr>17.3.12 원형 큐 예 - Message Queue</vt:lpstr>
      <vt:lpstr>17.4.1 메시지 Queue Enqueue</vt:lpstr>
      <vt:lpstr>17.4.2 메시지 Queue Dequeue</vt:lpstr>
      <vt:lpstr>17.5.1 String Queue</vt:lpstr>
      <vt:lpstr>17.5.2 String Queue 클래스</vt:lpstr>
      <vt:lpstr>17.5.3 String Queue 초기화</vt:lpstr>
      <vt:lpstr>17.5.4 String Queue Enqueue</vt:lpstr>
      <vt:lpstr>17.5.5 String Queue Dequeue</vt:lpstr>
      <vt:lpstr>17.5.6 String Queue  사용 예</vt:lpstr>
      <vt:lpstr>17.6.1 Byte 기반 Queue</vt:lpstr>
      <vt:lpstr>17.6.2 BYTE 기반 String Queue 클래스</vt:lpstr>
      <vt:lpstr>17.6.3 BYTE 기반 String Queue 클래스</vt:lpstr>
      <vt:lpstr>17.6.4 BYTE Queue Enqueue</vt:lpstr>
      <vt:lpstr>17.6.5 BYTE Queue Dequeue</vt:lpstr>
      <vt:lpstr>17.7.1 recv 데이터 예</vt:lpstr>
      <vt:lpstr>17.7.2 Queue와 Network</vt:lpstr>
      <vt:lpstr>17.7.3 게임 서버 구조 연결</vt:lpstr>
      <vt:lpstr>17.8 정리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KOREAIT</cp:lastModifiedBy>
  <cp:revision>194</cp:revision>
  <dcterms:created xsi:type="dcterms:W3CDTF">2003-11-30T16:03:20Z</dcterms:created>
  <dcterms:modified xsi:type="dcterms:W3CDTF">2026-05-27T03:10:16Z</dcterms:modified>
</cp:coreProperties>
</file>