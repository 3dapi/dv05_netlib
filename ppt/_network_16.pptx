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  <p:sldId id="273" r:id="rId19"/>
    <p:sldId id="311" r:id="rId20"/>
    <p:sldId id="274" r:id="rId21"/>
    <p:sldId id="275" r:id="rId22"/>
    <p:sldId id="308" r:id="rId23"/>
    <p:sldId id="277" r:id="rId24"/>
    <p:sldId id="276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09" r:id="rId35"/>
    <p:sldId id="287" r:id="rId36"/>
    <p:sldId id="288" r:id="rId37"/>
    <p:sldId id="289" r:id="rId38"/>
    <p:sldId id="290" r:id="rId39"/>
    <p:sldId id="291" r:id="rId40"/>
    <p:sldId id="310" r:id="rId41"/>
    <p:sldId id="294" r:id="rId42"/>
    <p:sldId id="292" r:id="rId43"/>
    <p:sldId id="293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66FF33"/>
    <a:srgbClr val="9900FF"/>
    <a:srgbClr val="FF33CC"/>
    <a:srgbClr val="003300"/>
    <a:srgbClr val="008000"/>
    <a:srgbClr val="CCCC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72" autoAdjust="0"/>
    <p:restoredTop sz="94582" autoAdjust="0"/>
  </p:normalViewPr>
  <p:slideViewPr>
    <p:cSldViewPr>
      <p:cViewPr>
        <p:scale>
          <a:sx n="100" d="100"/>
          <a:sy n="100" d="100"/>
        </p:scale>
        <p:origin x="1704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A88D3AC-F88D-DCA0-3386-175A98D04A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7EF5D1-9489-216D-1711-8BEA3B0B50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DAC108B-3248-AAEB-FEB9-15D3888E98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A285E75-A20B-9E77-B212-EE0F3FE823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FF40FF3-4AB4-F2A0-F5CE-C5CF048B53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2788A3B-C79B-B554-FD19-51E5534BE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E1F17537-23E5-4DE5-98DB-6E922DC7B1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BA1ABAE-82DC-748F-74EF-EB47AB72B2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3015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2A1B03-E6EF-1509-0E27-D5B545ECF9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179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A9E72B9-FCDD-9AAD-C7C9-D8CAFC259D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617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EF43F0-ABB3-A623-05D2-6644680AA5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714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25E678-7D8B-35F1-6BC2-27AC2D1B4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B5FB5F-9879-FE8F-DE10-076DA540C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09EEC06-106C-0AC6-494C-D315AC1264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D82FD4F5-F8EC-1EAA-5042-2329980122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EF4DEAFE-92C6-D447-A594-49DCC51FDA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F936D7EA-50A0-F4CE-9E2C-749AA3156C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- 16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2400" dirty="0"/>
              <a:t>Queue </a:t>
            </a:r>
            <a:r>
              <a:rPr lang="ko-KR" altLang="en-US" sz="2400" dirty="0"/>
              <a:t>자료구조와 네트워크 버퍼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EA825-B0E1-62AC-DA44-A936DA92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16.0 </a:t>
            </a:r>
            <a:r>
              <a:rPr lang="ko-KR" altLang="en-US" dirty="0"/>
              <a:t>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512AD6-EF27-CC3C-5146-26467C4A5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Queue </a:t>
            </a:r>
            <a:r>
              <a:rPr lang="ko-KR" altLang="en-US" dirty="0"/>
              <a:t>자료구조 기반 </a:t>
            </a:r>
            <a:r>
              <a:rPr lang="en-US" altLang="ko-KR" dirty="0"/>
              <a:t>Buffer</a:t>
            </a:r>
          </a:p>
          <a:p>
            <a:endParaRPr lang="en-US" altLang="ko-KR" dirty="0"/>
          </a:p>
          <a:p>
            <a:r>
              <a:rPr lang="ko-KR" altLang="en-US" dirty="0"/>
              <a:t>선형 큐 </a:t>
            </a:r>
            <a:r>
              <a:rPr lang="en-US" altLang="ko-KR" dirty="0"/>
              <a:t>(Linear Queue)</a:t>
            </a:r>
          </a:p>
          <a:p>
            <a:endParaRPr lang="en-US" altLang="ko-KR" dirty="0"/>
          </a:p>
          <a:p>
            <a:r>
              <a:rPr lang="ko-KR" altLang="en-US" dirty="0"/>
              <a:t>원형 큐</a:t>
            </a:r>
            <a:r>
              <a:rPr lang="en-US" altLang="ko-KR" dirty="0"/>
              <a:t>(Circular Queue) </a:t>
            </a:r>
            <a:r>
              <a:rPr lang="ko-KR" altLang="en-US" dirty="0"/>
              <a:t>통한 </a:t>
            </a:r>
            <a:r>
              <a:rPr lang="en-US" altLang="ko-KR" dirty="0"/>
              <a:t>Buffer </a:t>
            </a:r>
            <a:r>
              <a:rPr lang="ko-KR" altLang="en-US" dirty="0"/>
              <a:t>재사용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문자열 큐</a:t>
            </a:r>
            <a:r>
              <a:rPr lang="en-US" altLang="ko-KR" dirty="0"/>
              <a:t>(String Queue) </a:t>
            </a:r>
            <a:r>
              <a:rPr lang="ko-KR" altLang="en-US" dirty="0"/>
              <a:t>통한 데이터 누적 구조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Network </a:t>
            </a:r>
            <a:r>
              <a:rPr lang="ko-KR" altLang="en-US" dirty="0"/>
              <a:t>송수신 </a:t>
            </a:r>
            <a:r>
              <a:rPr lang="en-US" altLang="ko-KR" dirty="0"/>
              <a:t>Buffer</a:t>
            </a:r>
          </a:p>
          <a:p>
            <a:endParaRPr lang="en-US" altLang="ko-KR" dirty="0"/>
          </a:p>
          <a:p>
            <a:r>
              <a:rPr lang="en-US" altLang="ko-KR" dirty="0"/>
              <a:t>Packet </a:t>
            </a:r>
            <a:r>
              <a:rPr lang="ko-KR" altLang="en-US" dirty="0"/>
              <a:t>처리 구조 기반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2DB3AD-82D9-C0EC-51F4-51CCDB3CCD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2004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4B0EB-F60E-3C62-FFF2-0D03C47E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 Queue </a:t>
            </a:r>
            <a:r>
              <a:rPr lang="ko-KR" altLang="en-US" dirty="0"/>
              <a:t>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DB6C8A-AD1C-199A-D03E-1AFF2762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선입 선출</a:t>
            </a:r>
            <a:endParaRPr lang="en-US" altLang="ko-KR" dirty="0"/>
          </a:p>
          <a:p>
            <a:pPr lvl="1"/>
            <a:r>
              <a:rPr lang="en-US" altLang="ko-KR" dirty="0"/>
              <a:t>FIFO (First In First Out)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입력 순서 보존</a:t>
            </a:r>
            <a:endParaRPr lang="en-US" altLang="ko-KR" dirty="0"/>
          </a:p>
          <a:p>
            <a:pPr lvl="1"/>
            <a:r>
              <a:rPr lang="ko-KR" altLang="en-US" dirty="0"/>
              <a:t>처리 순서 보장</a:t>
            </a:r>
            <a:endParaRPr lang="en-US" altLang="ko-KR" dirty="0"/>
          </a:p>
          <a:p>
            <a:pPr lvl="1"/>
            <a:r>
              <a:rPr lang="ko-KR" altLang="en-US" dirty="0"/>
              <a:t>대기열 구조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동기화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C25CCF-7B6A-B5B0-4C0D-B549C36040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6746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16FF-D831-E64E-2D9A-FF2C380C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17A92-473C-8C61-71AD-6CC78BCC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16.1.2 Queue </a:t>
            </a:r>
            <a:r>
              <a:rPr lang="ko-KR" altLang="en-US" dirty="0"/>
              <a:t>사용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3DCE4-9927-F6CC-A63E-B2ACB403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동기화 관련된 모든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윈도우 메시지 처리</a:t>
            </a:r>
            <a:endParaRPr lang="en-US" altLang="ko-KR" dirty="0"/>
          </a:p>
          <a:p>
            <a:pPr lvl="1"/>
            <a:r>
              <a:rPr lang="ko-KR" altLang="en-US" dirty="0"/>
              <a:t>키보드 입력 버퍼</a:t>
            </a:r>
            <a:endParaRPr lang="en-US" altLang="ko-KR" dirty="0"/>
          </a:p>
          <a:p>
            <a:pPr lvl="1"/>
            <a:r>
              <a:rPr lang="ko-KR" altLang="en-US" dirty="0"/>
              <a:t>프린터 출력 대기열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게임 이벤트 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네트워크 송신 대기열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네트워크 수신 버퍼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F4B63B-0B1E-51F6-9064-F36DFD7014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3952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7E580-BDCC-ADA1-D19E-526E6693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16.1.3 Queue </a:t>
            </a:r>
            <a:r>
              <a:rPr lang="ko-KR" altLang="en-US" dirty="0"/>
              <a:t>기본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0A0256-8569-47BA-9504-1B7A32170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Enqueue</a:t>
            </a:r>
          </a:p>
          <a:p>
            <a:pPr lvl="1"/>
            <a:r>
              <a:rPr lang="en-US" altLang="ko-KR" dirty="0"/>
              <a:t>Queue </a:t>
            </a:r>
            <a:r>
              <a:rPr lang="ko-KR" altLang="en-US" dirty="0"/>
              <a:t>뒤쪽 데이터 추가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Dequeue</a:t>
            </a:r>
          </a:p>
          <a:p>
            <a:pPr lvl="1"/>
            <a:r>
              <a:rPr lang="en-US" altLang="ko-KR" dirty="0"/>
              <a:t>Queue </a:t>
            </a:r>
            <a:r>
              <a:rPr lang="ko-KR" altLang="en-US" dirty="0"/>
              <a:t>앞쪽 데이터 제거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Rear</a:t>
            </a:r>
          </a:p>
          <a:p>
            <a:pPr lvl="1"/>
            <a:r>
              <a:rPr lang="ko-KR" altLang="en-US" dirty="0"/>
              <a:t>다음 입력 위치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Front</a:t>
            </a:r>
          </a:p>
          <a:p>
            <a:pPr lvl="1"/>
            <a:r>
              <a:rPr lang="ko-KR" altLang="en-US" dirty="0"/>
              <a:t>다음 출력 위치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20B9B6-AE97-75D9-78EC-DC1DAE9CC2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0786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1017-5E43-C68C-DCE1-72AB8C21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CC107-C91F-5DD6-4E44-47531D30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16.1.4 Queue </a:t>
            </a:r>
            <a:r>
              <a:rPr lang="ko-KR" altLang="en-US" dirty="0"/>
              <a:t>기본 연산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079B39-5E6C-91A5-82A1-2D1DEB5B7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Queue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D3FE56-5C02-7404-3247-6AC94C308C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3D47AA-1F7D-4843-D7DB-E4EA01D1E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7162844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23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AE9D4-9C81-6EC8-B51E-C483A6A5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 Linear 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443E3-5CD2-32A1-634F-B13E1F03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Linear Queue</a:t>
            </a:r>
          </a:p>
          <a:p>
            <a:pPr lvl="1"/>
            <a:r>
              <a:rPr lang="ko-KR" altLang="en-US" dirty="0"/>
              <a:t>배열 기반 </a:t>
            </a:r>
            <a:r>
              <a:rPr lang="en-US" altLang="ko-KR" dirty="0"/>
              <a:t>Queue</a:t>
            </a:r>
          </a:p>
          <a:p>
            <a:pPr lvl="1"/>
            <a:r>
              <a:rPr lang="ko-KR" altLang="en-US" dirty="0"/>
              <a:t>데이터 뒤쪽 추가</a:t>
            </a:r>
          </a:p>
          <a:p>
            <a:pPr lvl="1"/>
            <a:r>
              <a:rPr lang="ko-KR" altLang="en-US" dirty="0"/>
              <a:t>데이터 앞쪽 제거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Rear</a:t>
            </a:r>
          </a:p>
          <a:p>
            <a:pPr lvl="1"/>
            <a:r>
              <a:rPr lang="ko-KR" altLang="en-US" dirty="0"/>
              <a:t>현재 저장 개수</a:t>
            </a:r>
          </a:p>
          <a:p>
            <a:pPr lvl="1"/>
            <a:r>
              <a:rPr lang="ko-KR" altLang="en-US" dirty="0"/>
              <a:t>다음 입력 위치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7D2948-C99E-3756-1F76-9529B76E7E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1767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CCB5-571A-C975-B4E9-7F62BD5A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760F1-45B6-599D-0A0C-E55380E6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Linear Queue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9966BE-2A35-1765-CFFA-AC4F7761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6835AF-5A6E-6C31-4B5E-D24CAED248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6B09A-9A34-2DA7-267E-42A2E01038F3}"/>
              </a:ext>
            </a:extLst>
          </p:cNvPr>
          <p:cNvSpPr txBox="1"/>
          <p:nvPr/>
        </p:nvSpPr>
        <p:spPr>
          <a:xfrm>
            <a:off x="467544" y="620688"/>
            <a:ext cx="8136706" cy="477053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 클래스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protected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   {}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		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  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  </a:t>
            </a:r>
            <a:r>
              <a:rPr lang="en-US" altLang="ko-KR" sz="20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{}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		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 문자열 끝 위치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  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 </a:t>
            </a:r>
            <a:r>
              <a:rPr lang="en-US" altLang="ko-KR" sz="20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{}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	</a:t>
            </a:r>
            <a:r>
              <a:rPr lang="en-US" altLang="ko-KR" sz="20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 크기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8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iIn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	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추가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	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꺼냄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9616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4B30-8AC1-C1DD-F07C-E7013BA8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1371D-0A6A-1762-EE03-186C9362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16.2.3 Linear Queue </a:t>
            </a:r>
            <a:r>
              <a:rPr lang="ko-KR" altLang="en-US" dirty="0"/>
              <a:t>클래스 멤버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3D9E8-C848-3347-1969-C3432F9C8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m_pBuf</a:t>
            </a:r>
          </a:p>
          <a:p>
            <a:pPr lvl="1"/>
            <a:r>
              <a:rPr lang="en-US" altLang="ko-KR" dirty="0"/>
              <a:t>Queue </a:t>
            </a:r>
            <a:r>
              <a:rPr lang="ko-KR" altLang="en-US" dirty="0"/>
              <a:t>저장 공간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m_iRear</a:t>
            </a:r>
          </a:p>
          <a:p>
            <a:pPr lvl="1"/>
            <a:r>
              <a:rPr lang="ko-KR" altLang="en-US" dirty="0"/>
              <a:t>현재 데이터 개수</a:t>
            </a:r>
            <a:endParaRPr lang="en-US" altLang="ko-KR" dirty="0"/>
          </a:p>
          <a:p>
            <a:pPr lvl="1"/>
            <a:r>
              <a:rPr lang="ko-KR" altLang="en-US" dirty="0"/>
              <a:t>다음 입력 위치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m_iWidth</a:t>
            </a:r>
          </a:p>
          <a:p>
            <a:pPr lvl="1"/>
            <a:r>
              <a:rPr lang="en-US" altLang="ko-KR" dirty="0"/>
              <a:t>Queue </a:t>
            </a:r>
            <a:r>
              <a:rPr lang="ko-KR" altLang="en-US" dirty="0"/>
              <a:t>최대 크기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D13D00-F81E-3812-1B1D-FC2692E1B0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6317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FF39-D49F-710B-DC02-55662A1F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F6257-831F-7A09-4232-A5BD2B0D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16.2.4 Linear Queue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D79896-A7B8-5F42-AAED-369734BA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동적 배열 생성</a:t>
            </a:r>
          </a:p>
          <a:p>
            <a:r>
              <a:rPr lang="en-US" altLang="ko-KR" dirty="0"/>
              <a:t>Queue </a:t>
            </a:r>
            <a:r>
              <a:rPr lang="ko-KR" altLang="en-US" dirty="0"/>
              <a:t>크기 설정</a:t>
            </a:r>
          </a:p>
          <a:p>
            <a:r>
              <a:rPr lang="ko-KR" altLang="en-US" dirty="0"/>
              <a:t>버퍼 </a:t>
            </a:r>
            <a:r>
              <a:rPr lang="en-US" altLang="ko-KR" dirty="0"/>
              <a:t>0 </a:t>
            </a:r>
            <a:r>
              <a:rPr lang="ko-KR" altLang="en-US" dirty="0"/>
              <a:t>초기화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C0B939-1B97-9645-A855-09B0BB1A2D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DF651-79B2-8736-9CA2-FD4334401AF1}"/>
              </a:ext>
            </a:extLst>
          </p:cNvPr>
          <p:cNvSpPr txBox="1"/>
          <p:nvPr/>
        </p:nvSpPr>
        <p:spPr>
          <a:xfrm>
            <a:off x="539750" y="2780928"/>
            <a:ext cx="8136706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=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]{};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End Pointer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하나 더 추가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098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09D04-0EDE-D3FA-9E33-0C711849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16.2.5 Linear Queue Enqueue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C6AD4A-A27B-8D75-A5E6-64BF900D9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공간 확인</a:t>
            </a:r>
          </a:p>
          <a:p>
            <a:r>
              <a:rPr lang="en-US" altLang="ko-KR" dirty="0"/>
              <a:t>Rear </a:t>
            </a:r>
            <a:r>
              <a:rPr lang="ko-KR" altLang="en-US" dirty="0"/>
              <a:t>위치 데이터 저장</a:t>
            </a:r>
          </a:p>
          <a:p>
            <a:r>
              <a:rPr lang="en-US" altLang="ko-KR" dirty="0"/>
              <a:t>Rear </a:t>
            </a:r>
            <a:r>
              <a:rPr lang="ko-KR" altLang="en-US" dirty="0"/>
              <a:t>증가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C8C017-95F7-8568-E257-44B47B8E72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F08F5-AABC-918D-8EFE-4CEBE79528A8}"/>
              </a:ext>
            </a:extLst>
          </p:cNvPr>
          <p:cNvSpPr txBox="1"/>
          <p:nvPr/>
        </p:nvSpPr>
        <p:spPr>
          <a:xfrm>
            <a:off x="539750" y="2708920"/>
            <a:ext cx="8208963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 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 데이터 추가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  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 있는 공간이 없으면 채우지 못함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 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Failed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++]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503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85A0-81AA-1B7C-FB43-7071EDCD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09841-BD99-28E4-1AAC-FF56E042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16.2.6 Linear Queue Dequeue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3AE0D-C85D-B304-ED6B-3E132CC98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r>
              <a:rPr lang="ko-KR" altLang="en-US" dirty="0"/>
              <a:t>번 데이터 출력</a:t>
            </a:r>
          </a:p>
          <a:p>
            <a:r>
              <a:rPr lang="ko-KR" altLang="en-US" dirty="0"/>
              <a:t>남은 데이터 앞으로 이동</a:t>
            </a:r>
          </a:p>
          <a:p>
            <a:r>
              <a:rPr lang="en-US" altLang="ko-KR" dirty="0"/>
              <a:t>Rear </a:t>
            </a:r>
            <a:r>
              <a:rPr lang="ko-KR" altLang="en-US" dirty="0"/>
              <a:t>감소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FC91CD-E212-A8FB-1942-78ABFC66F0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E1A96-7F7D-1C71-AF41-92AD953C0D7B}"/>
              </a:ext>
            </a:extLst>
          </p:cNvPr>
          <p:cNvSpPr txBox="1"/>
          <p:nvPr/>
        </p:nvSpPr>
        <p:spPr>
          <a:xfrm>
            <a:off x="647564" y="2348880"/>
            <a:ext cx="7848872" cy="424731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큐에서 데이터 가져오기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버퍼가 비워져 있는 경우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Failed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(;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*(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한 단계씩 앞 자리로 이동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마지막 자리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 초기화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Rear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8239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8032B-9F18-4B45-87CB-B5A2F01F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16.2.7 Linear Queue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2349E-0B89-B70B-3F79-C0810926F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9DD214-50BB-EE10-293A-05237E03A0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7BB42-E813-ABDD-E785-F59D6BE54CE1}"/>
              </a:ext>
            </a:extLst>
          </p:cNvPr>
          <p:cNvSpPr txBox="1"/>
          <p:nvPr/>
        </p:nvSpPr>
        <p:spPr>
          <a:xfrm>
            <a:off x="683568" y="699418"/>
            <a:ext cx="4572000" cy="144655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Consolas" panose="020B0609020204030204" pitchFamily="49" charset="0"/>
              </a:rPr>
              <a:t>Initial</a:t>
            </a:r>
            <a:endParaRPr lang="ko-KR" altLang="en-US" sz="2000" b="1" dirty="0">
              <a:latin typeface="Consolas" panose="020B0609020204030204" pitchFamily="49" charset="0"/>
            </a:endParaRPr>
          </a:p>
          <a:p>
            <a:endParaRPr lang="ko-KR" altLang="en-US" sz="2000" b="1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[ ][ ][ ][ ][ ]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 rear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0109A-CF0C-A640-70AE-0865A3EEB410}"/>
              </a:ext>
            </a:extLst>
          </p:cNvPr>
          <p:cNvSpPr txBox="1"/>
          <p:nvPr/>
        </p:nvSpPr>
        <p:spPr>
          <a:xfrm>
            <a:off x="693108" y="2132856"/>
            <a:ext cx="4572000" cy="144655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Consolas" panose="020B0609020204030204" pitchFamily="49" charset="0"/>
              </a:rPr>
              <a:t>Enqueue A</a:t>
            </a:r>
          </a:p>
          <a:p>
            <a:endParaRPr lang="ko-KR" altLang="en-US" sz="2000" b="1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[</a:t>
            </a:r>
            <a:r>
              <a:rPr lang="ko-KR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</a:t>
            </a:r>
            <a:r>
              <a:rPr lang="ko-KR" altLang="en-US" b="1" dirty="0">
                <a:latin typeface="Consolas" panose="020B0609020204030204" pitchFamily="49" charset="0"/>
              </a:rPr>
              <a:t>][ ][ ][ ][ ]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 rear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0114D-301D-03F5-8476-2FAEB00254A2}"/>
              </a:ext>
            </a:extLst>
          </p:cNvPr>
          <p:cNvSpPr txBox="1"/>
          <p:nvPr/>
        </p:nvSpPr>
        <p:spPr>
          <a:xfrm>
            <a:off x="693108" y="3573016"/>
            <a:ext cx="4572000" cy="144655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Consolas" panose="020B0609020204030204" pitchFamily="49" charset="0"/>
              </a:rPr>
              <a:t>Enqueue B</a:t>
            </a:r>
          </a:p>
          <a:p>
            <a:endParaRPr lang="ko-KR" altLang="en-US" sz="2000" b="1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[</a:t>
            </a:r>
            <a:r>
              <a:rPr lang="ko-KR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</a:t>
            </a:r>
            <a:r>
              <a:rPr lang="ko-KR" altLang="en-US" b="1" dirty="0">
                <a:latin typeface="Consolas" panose="020B0609020204030204" pitchFamily="49" charset="0"/>
              </a:rPr>
              <a:t>][</a:t>
            </a:r>
            <a:r>
              <a:rPr lang="ko-KR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ko-KR" altLang="en-US" b="1" dirty="0">
                <a:latin typeface="Consolas" panose="020B0609020204030204" pitchFamily="49" charset="0"/>
              </a:rPr>
              <a:t>][ ][ ][ ]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 rear =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9B056-2378-9EB7-746F-B69E702774E0}"/>
              </a:ext>
            </a:extLst>
          </p:cNvPr>
          <p:cNvSpPr txBox="1"/>
          <p:nvPr/>
        </p:nvSpPr>
        <p:spPr>
          <a:xfrm>
            <a:off x="673671" y="5013176"/>
            <a:ext cx="4572000" cy="144655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Consolas" panose="020B0609020204030204" pitchFamily="49" charset="0"/>
              </a:rPr>
              <a:t>Dequeue</a:t>
            </a:r>
          </a:p>
          <a:p>
            <a:endParaRPr lang="ko-KR" altLang="en-US" sz="2000" b="1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[</a:t>
            </a:r>
            <a:r>
              <a:rPr lang="ko-KR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ko-KR" altLang="en-US" b="1" dirty="0">
                <a:latin typeface="Consolas" panose="020B0609020204030204" pitchFamily="49" charset="0"/>
              </a:rPr>
              <a:t>][ ][ ][ ][ ]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 rear = 1</a:t>
            </a:r>
          </a:p>
        </p:txBody>
      </p:sp>
    </p:spTree>
    <p:extLst>
      <p:ext uri="{BB962C8B-B14F-4D97-AF65-F5344CB8AC3E}">
        <p14:creationId xmlns:p14="http://schemas.microsoft.com/office/powerpoint/2010/main" val="30275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BDE0F-DBA8-257C-3D8A-2C034A07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16.2.8 Linear Queue </a:t>
            </a:r>
            <a:r>
              <a:rPr lang="ko-KR" altLang="en-US" dirty="0"/>
              <a:t>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8C0699-0D8D-E6F6-41CC-7D64E5AEB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Queue </a:t>
            </a:r>
            <a:r>
              <a:rPr lang="ko-KR" altLang="en-US" dirty="0"/>
              <a:t>크기 검사</a:t>
            </a:r>
          </a:p>
          <a:p>
            <a:r>
              <a:rPr lang="en-US" altLang="ko-KR" dirty="0"/>
              <a:t>CQueLinear </a:t>
            </a:r>
            <a:r>
              <a:rPr lang="ko-KR" altLang="en-US" dirty="0"/>
              <a:t>객체 생성</a:t>
            </a:r>
          </a:p>
          <a:p>
            <a:r>
              <a:rPr lang="ko-KR" altLang="en-US" dirty="0"/>
              <a:t>응용 클래스 내부 보관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CCAF8-A638-0A32-BF17-33CEA96666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526A6-4C23-D9E8-F158-B42B68CF0CB6}"/>
              </a:ext>
            </a:extLst>
          </p:cNvPr>
          <p:cNvSpPr txBox="1"/>
          <p:nvPr/>
        </p:nvSpPr>
        <p:spPr>
          <a:xfrm>
            <a:off x="683568" y="2454225"/>
            <a:ext cx="6984776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CQueueApp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iQueSize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/* = MAX_QUEUE */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iQueSize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크기가 작으면 실패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CQueLinear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iQueSize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6324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3EEFC-19DA-C0AE-969E-4CF3B59B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16.2.9 Linear Queue EnQueue 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74CEB-2BCF-DFD3-C9A8-A38C5F082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666547"/>
            <a:ext cx="8280400" cy="583247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C11985-945A-E709-0D6B-9D25F94EB6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622AA-05DD-C9BA-3675-F68DA4E58DA0}"/>
              </a:ext>
            </a:extLst>
          </p:cNvPr>
          <p:cNvSpPr txBox="1"/>
          <p:nvPr/>
        </p:nvSpPr>
        <p:spPr>
          <a:xfrm>
            <a:off x="539750" y="892346"/>
            <a:ext cx="8064500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CQueueApp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EnqueuingMode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strlen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FAILED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B776F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\n\n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ko-KR" altLang="en-US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공간이 부족해 전부 채워지 못했습니다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>
                <a:solidFill>
                  <a:srgbClr val="B776F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    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</a:t>
            </a:r>
            <a:r>
              <a:rPr lang="ko-KR" altLang="en-US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남은 데이터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 %s</a:t>
            </a:r>
            <a:r>
              <a:rPr lang="en-US" altLang="ko-KR" sz="1800" b="1" dirty="0">
                <a:solidFill>
                  <a:srgbClr val="B776F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6201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F401-38CD-B96A-178D-D9876184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7BD95-97B1-4285-510B-9C744445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16.2.10 Linear Queue DeQueue 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A9CAAC-0543-51F8-72B2-CCD49622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666547"/>
            <a:ext cx="8280400" cy="583247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1A99DC-CFB5-BF18-72A3-2ACD20B6FD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ACB59-039D-99E3-5E97-7E3AB1C20D5E}"/>
              </a:ext>
            </a:extLst>
          </p:cNvPr>
          <p:cNvSpPr txBox="1"/>
          <p:nvPr/>
        </p:nvSpPr>
        <p:spPr>
          <a:xfrm>
            <a:off x="539750" y="666547"/>
            <a:ext cx="7848674" cy="36933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CQueueApp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DequeuingMode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iVal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iVal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FAILED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Queue</a:t>
            </a:r>
            <a:r>
              <a:rPr lang="ko-KR" altLang="en-US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 비어 있습니다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>
                <a:solidFill>
                  <a:srgbClr val="B776F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\n\n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continue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B776F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\n\n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ko-KR" altLang="en-US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가져온 글자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 %c</a:t>
            </a:r>
            <a:r>
              <a:rPr lang="en-US" altLang="ko-KR" sz="1800" b="1" dirty="0">
                <a:solidFill>
                  <a:srgbClr val="B776F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iVal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9687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8D439-6760-5380-213C-98678166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16.2.11 Linear Queue </a:t>
            </a:r>
            <a:r>
              <a:rPr lang="ko-KR" altLang="en-US" dirty="0"/>
              <a:t>문제점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651932-D946-F547-F8A3-60533FCE2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Dequeue </a:t>
            </a:r>
            <a:r>
              <a:rPr lang="ko-KR" altLang="en-US" dirty="0"/>
              <a:t>발생</a:t>
            </a:r>
          </a:p>
          <a:p>
            <a:pPr lvl="1"/>
            <a:r>
              <a:rPr lang="ko-KR" altLang="en-US" dirty="0"/>
              <a:t>남은 데이터 전체 이동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개수 증가</a:t>
            </a:r>
          </a:p>
          <a:p>
            <a:pPr lvl="1"/>
            <a:r>
              <a:rPr lang="ko-KR" altLang="en-US" dirty="0"/>
              <a:t>복사 비용 증가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Queue </a:t>
            </a:r>
            <a:r>
              <a:rPr lang="ko-KR" altLang="en-US" dirty="0"/>
              <a:t>사용 빈도 증가</a:t>
            </a:r>
          </a:p>
          <a:p>
            <a:pPr lvl="1"/>
            <a:r>
              <a:rPr lang="ko-KR" altLang="en-US" dirty="0"/>
              <a:t>성능 낭비 증가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B01468-DE6B-FF67-6A57-1F6FE08786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70740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B9327-8544-86E3-2DE3-59E57AC6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16.3.1 Circular Queue </a:t>
            </a:r>
            <a:r>
              <a:rPr lang="ko-KR" altLang="en-US" dirty="0"/>
              <a:t>필요성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93E46-0DAF-2979-76FF-7FEB24CF8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Linear Queue </a:t>
            </a:r>
            <a:r>
              <a:rPr lang="ko-KR" altLang="en-US" dirty="0"/>
              <a:t>문제</a:t>
            </a:r>
          </a:p>
          <a:p>
            <a:pPr lvl="1"/>
            <a:r>
              <a:rPr lang="en-US" altLang="ko-KR" dirty="0"/>
              <a:t>Dequeue </a:t>
            </a:r>
            <a:r>
              <a:rPr lang="ko-KR" altLang="en-US" dirty="0"/>
              <a:t>마다 데이터 이동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Circular Queue </a:t>
            </a:r>
            <a:r>
              <a:rPr lang="ko-KR" altLang="en-US" dirty="0"/>
              <a:t>해결</a:t>
            </a:r>
          </a:p>
          <a:p>
            <a:pPr lvl="1"/>
            <a:r>
              <a:rPr lang="ko-KR" altLang="en-US" dirty="0"/>
              <a:t>데이터 이동 제거</a:t>
            </a:r>
          </a:p>
          <a:p>
            <a:pPr lvl="1"/>
            <a:r>
              <a:rPr lang="en-US" altLang="ko-KR" dirty="0"/>
              <a:t>Front Rear </a:t>
            </a:r>
            <a:r>
              <a:rPr lang="ko-KR" altLang="en-US" dirty="0"/>
              <a:t>위치 이동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배열 재사용</a:t>
            </a:r>
          </a:p>
          <a:p>
            <a:pPr lvl="1"/>
            <a:r>
              <a:rPr lang="ko-KR" altLang="en-US" dirty="0"/>
              <a:t>끝 도달 후 처음 위치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F0BD6C-9853-D4F2-424E-DE4238DA63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93094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E1B37-C8F2-63E8-C648-112798B1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16.3.2 Circular Queue </a:t>
            </a:r>
            <a:r>
              <a:rPr lang="ko-KR" altLang="en-US" dirty="0"/>
              <a:t>장점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FC0A2-86DC-6C4E-09D5-5E2D2B308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Write </a:t>
            </a:r>
            <a:r>
              <a:rPr lang="ko-KR" altLang="en-US" dirty="0"/>
              <a:t>위치 분리</a:t>
            </a:r>
          </a:p>
          <a:p>
            <a:endParaRPr lang="ko-KR" altLang="en-US" dirty="0"/>
          </a:p>
          <a:p>
            <a:r>
              <a:rPr lang="en-US" altLang="ko-KR" dirty="0"/>
              <a:t>Read </a:t>
            </a:r>
            <a:r>
              <a:rPr lang="ko-KR" altLang="en-US" dirty="0"/>
              <a:t>위치 분리</a:t>
            </a:r>
          </a:p>
          <a:p>
            <a:endParaRPr lang="ko-KR" altLang="en-US" dirty="0"/>
          </a:p>
          <a:p>
            <a:r>
              <a:rPr lang="ko-KR" altLang="en-US" dirty="0"/>
              <a:t>단일 생산자 </a:t>
            </a:r>
            <a:r>
              <a:rPr lang="en-US" altLang="ko-KR" dirty="0"/>
              <a:t>/ </a:t>
            </a:r>
            <a:r>
              <a:rPr lang="ko-KR" altLang="en-US" dirty="0"/>
              <a:t>단일 소비자 구조</a:t>
            </a:r>
          </a:p>
          <a:p>
            <a:endParaRPr lang="ko-KR" altLang="en-US" dirty="0"/>
          </a:p>
          <a:p>
            <a:r>
              <a:rPr lang="en-US" altLang="ko-KR" dirty="0"/>
              <a:t>Lock </a:t>
            </a:r>
            <a:r>
              <a:rPr lang="ko-KR" altLang="en-US" dirty="0"/>
              <a:t>비용 감소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13E62D-25D5-11CA-DBB8-A6E22E9982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51747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50D44-3425-CBEB-7769-D22BC4A8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16.3.3 Circular Queue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B2F7A5-9095-2709-5B13-6A738134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Circular Queue</a:t>
            </a:r>
          </a:p>
          <a:p>
            <a:pPr lvl="1"/>
            <a:r>
              <a:rPr lang="ko-KR" altLang="en-US" dirty="0"/>
              <a:t>배열 원형 사용</a:t>
            </a:r>
          </a:p>
          <a:p>
            <a:pPr lvl="1"/>
            <a:r>
              <a:rPr lang="en-US" altLang="ko-KR" dirty="0"/>
              <a:t>Front </a:t>
            </a:r>
            <a:r>
              <a:rPr lang="ko-KR" altLang="en-US" dirty="0"/>
              <a:t>출력 위치</a:t>
            </a:r>
          </a:p>
          <a:p>
            <a:pPr lvl="1"/>
            <a:r>
              <a:rPr lang="en-US" altLang="ko-KR" dirty="0"/>
              <a:t>Rear </a:t>
            </a:r>
            <a:r>
              <a:rPr lang="ko-KR" altLang="en-US" dirty="0"/>
              <a:t>입력 위치</a:t>
            </a:r>
          </a:p>
          <a:p>
            <a:pPr lvl="1"/>
            <a:r>
              <a:rPr lang="en-US" altLang="ko-KR" dirty="0"/>
              <a:t>Space </a:t>
            </a:r>
            <a:r>
              <a:rPr lang="ko-KR" altLang="en-US" dirty="0"/>
              <a:t>남은 공간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다음 위치 계산</a:t>
            </a:r>
          </a:p>
          <a:p>
            <a:pPr lvl="1"/>
            <a:r>
              <a:rPr lang="en-US" altLang="ko-KR" dirty="0"/>
              <a:t>index = index % width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F5EC28-D763-D18D-97CA-A185BF5925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63879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36F77D1-1FE5-A842-663E-98A2E15A9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크기 </a:t>
            </a:r>
            <a:r>
              <a:rPr lang="en-US" altLang="ko-KR" dirty="0"/>
              <a:t>5 Queue</a:t>
            </a:r>
          </a:p>
          <a:p>
            <a:pPr lvl="1"/>
            <a:r>
              <a:rPr lang="en-US" altLang="ko-KR" dirty="0"/>
              <a:t>0 → 1 → 2 → 3 → 4 → 0</a:t>
            </a:r>
          </a:p>
          <a:p>
            <a:r>
              <a:rPr lang="en-US" altLang="ko-KR" dirty="0"/>
              <a:t>Rear </a:t>
            </a:r>
            <a:r>
              <a:rPr lang="ko-KR" altLang="en-US" dirty="0"/>
              <a:t>증가</a:t>
            </a:r>
          </a:p>
          <a:p>
            <a:pPr lvl="1"/>
            <a:r>
              <a:rPr lang="ko-KR" altLang="en-US" dirty="0"/>
              <a:t>끝 도달</a:t>
            </a:r>
          </a:p>
          <a:p>
            <a:pPr lvl="1"/>
            <a:r>
              <a:rPr lang="ko-KR" altLang="en-US" dirty="0"/>
              <a:t>처음 위치 이동</a:t>
            </a:r>
            <a:endParaRPr lang="en-US" altLang="ko-KR" dirty="0"/>
          </a:p>
          <a:p>
            <a:r>
              <a:rPr lang="en-US" altLang="ko-KR" dirty="0"/>
              <a:t>Front </a:t>
            </a:r>
            <a:r>
              <a:rPr lang="ko-KR" altLang="en-US" dirty="0"/>
              <a:t>증가</a:t>
            </a:r>
          </a:p>
          <a:p>
            <a:pPr lvl="1"/>
            <a:r>
              <a:rPr lang="ko-KR" altLang="en-US" dirty="0"/>
              <a:t>끝 도달</a:t>
            </a:r>
          </a:p>
          <a:p>
            <a:pPr lvl="1"/>
            <a:r>
              <a:rPr lang="ko-KR" altLang="en-US" dirty="0"/>
              <a:t>처음 위치 이동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814B44-EC90-ACEE-5227-B710F24D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Circular Queue </a:t>
            </a:r>
            <a:r>
              <a:rPr lang="ko-KR" altLang="en-US" dirty="0"/>
              <a:t>동작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08C31-0A89-392C-FFE0-C402988350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0026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D8083-0569-1D3A-15B9-37AFC67C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343B9-B19B-4431-D936-DB5F5ADE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16.3.5 Circular Queue </a:t>
            </a:r>
            <a:r>
              <a:rPr lang="ko-KR" altLang="en-US" dirty="0"/>
              <a:t>동작 예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C42A6-2C67-FDFE-0206-6486343AE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3CEE092-37DE-F7FC-E588-E65965B39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109" y="1556792"/>
            <a:ext cx="8154457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2357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0FD5-B0BB-30D5-4F16-69E03CAD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39E18-2487-DB74-7BCC-D2E0A891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16.3.6 Circular Queue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74B84-19D4-C0BF-A9FC-EB8FF14AB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E008DB-F007-5CCA-C207-7A40B62789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E0D99-E0CF-1405-AFC7-D8E6BF81A5FA}"/>
              </a:ext>
            </a:extLst>
          </p:cNvPr>
          <p:cNvSpPr txBox="1"/>
          <p:nvPr/>
        </p:nvSpPr>
        <p:spPr>
          <a:xfrm>
            <a:off x="683568" y="692150"/>
            <a:ext cx="7560840" cy="480131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protected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{};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{};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시작 위치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{};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끝 위치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{};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남아있는 큐의 버퍼 크기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{};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 크기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8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추가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꺼냄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06370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2CD40-37E2-3FE3-077D-25D957C5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16.3.7 Circular Queue </a:t>
            </a:r>
            <a:r>
              <a:rPr lang="ko-KR" altLang="en-US" dirty="0"/>
              <a:t>클래스 멤버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FBBE65-AF52-A689-6DA0-348D34565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m_iFront</a:t>
            </a:r>
          </a:p>
          <a:p>
            <a:pPr lvl="1"/>
            <a:r>
              <a:rPr lang="ko-KR" altLang="en-US" dirty="0"/>
              <a:t>다음 출력 위치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m_iRear</a:t>
            </a:r>
          </a:p>
          <a:p>
            <a:pPr lvl="1"/>
            <a:r>
              <a:rPr lang="ko-KR" altLang="en-US" dirty="0"/>
              <a:t>다음 입력 위치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m_iSpace</a:t>
            </a:r>
          </a:p>
          <a:p>
            <a:pPr lvl="1"/>
            <a:r>
              <a:rPr lang="ko-KR" altLang="en-US" dirty="0"/>
              <a:t>남은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C91B4E-92AF-C965-B671-2D1DC31F4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20360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24DF-416D-1542-E6CD-EC13620E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3138E-1D7F-AE68-2E91-E6A43EFC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16.3.8 Circular Queue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C8F0E-A9F2-EE58-84F2-38CF53AD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Front 0</a:t>
            </a:r>
          </a:p>
          <a:p>
            <a:r>
              <a:rPr lang="en-US" altLang="ko-KR" dirty="0"/>
              <a:t>Rear 0</a:t>
            </a:r>
          </a:p>
          <a:p>
            <a:r>
              <a:rPr lang="en-US" altLang="ko-KR" dirty="0"/>
              <a:t>Space </a:t>
            </a:r>
            <a:r>
              <a:rPr lang="ko-KR" altLang="en-US" dirty="0"/>
              <a:t>전체 크기</a:t>
            </a:r>
          </a:p>
          <a:p>
            <a:r>
              <a:rPr lang="ko-KR" altLang="en-US" dirty="0"/>
              <a:t>동적 배열 생성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59CE10-F1F7-8F74-D86E-D9588E26D0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873DC-91BC-877D-2E16-8033391AC8BB}"/>
              </a:ext>
            </a:extLst>
          </p:cNvPr>
          <p:cNvSpPr txBox="1"/>
          <p:nvPr/>
        </p:nvSpPr>
        <p:spPr>
          <a:xfrm>
            <a:off x="467518" y="3140968"/>
            <a:ext cx="8424863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=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=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=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]{};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End Pointer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하나 더 추가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5394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1BC2B-A453-5571-C9DF-EBE68067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16.3.9 Circular Queue Enqueue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577C68-9CC7-B77E-FC15-25C2D31D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남은 공간 확인</a:t>
            </a:r>
          </a:p>
          <a:p>
            <a:r>
              <a:rPr lang="en-US" altLang="ko-KR" dirty="0"/>
              <a:t>Rear </a:t>
            </a:r>
            <a:r>
              <a:rPr lang="ko-KR" altLang="en-US" dirty="0"/>
              <a:t>위치 저장</a:t>
            </a:r>
          </a:p>
          <a:p>
            <a:r>
              <a:rPr lang="en-US" altLang="ko-KR" dirty="0"/>
              <a:t>Space </a:t>
            </a:r>
            <a:r>
              <a:rPr lang="ko-KR" altLang="en-US" dirty="0"/>
              <a:t>감소</a:t>
            </a:r>
          </a:p>
          <a:p>
            <a:r>
              <a:rPr lang="en-US" altLang="ko-KR" dirty="0"/>
              <a:t>Rear </a:t>
            </a:r>
            <a:r>
              <a:rPr lang="ko-KR" altLang="en-US" dirty="0"/>
              <a:t>순환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E041B1-14C8-3C99-FF1A-C555B27B35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4D7-C13B-5B9D-8519-E4A8ABD28DEC}"/>
              </a:ext>
            </a:extLst>
          </p:cNvPr>
          <p:cNvSpPr txBox="1"/>
          <p:nvPr/>
        </p:nvSpPr>
        <p:spPr>
          <a:xfrm>
            <a:off x="778713" y="2996952"/>
            <a:ext cx="7849121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 데이터 추가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 있는 공간이 없으면 채우지 못함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Failed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--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빈 영역 감소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Rear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0302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06495-38F6-7001-2E48-E3845C1A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16.3.10 Circular Queue Dequeue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164D3-FC01-DB4D-C546-5B2EE269D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비어 있음 확인</a:t>
            </a:r>
          </a:p>
          <a:p>
            <a:r>
              <a:rPr lang="en-US" altLang="ko-KR" dirty="0"/>
              <a:t>Front </a:t>
            </a:r>
            <a:r>
              <a:rPr lang="ko-KR" altLang="en-US" dirty="0"/>
              <a:t>위치 출력</a:t>
            </a:r>
          </a:p>
          <a:p>
            <a:r>
              <a:rPr lang="en-US" altLang="ko-KR" dirty="0"/>
              <a:t>Space </a:t>
            </a:r>
            <a:r>
              <a:rPr lang="ko-KR" altLang="en-US" dirty="0"/>
              <a:t>증가</a:t>
            </a:r>
          </a:p>
          <a:p>
            <a:r>
              <a:rPr lang="en-US" altLang="ko-KR" dirty="0"/>
              <a:t>Front </a:t>
            </a:r>
            <a:r>
              <a:rPr lang="ko-KR" altLang="en-US" dirty="0"/>
              <a:t>순환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237F28-B2DD-B513-DBDF-CF9B6898FF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CDF13-3524-3C33-BAE5-5E73704A4BFD}"/>
              </a:ext>
            </a:extLst>
          </p:cNvPr>
          <p:cNvSpPr txBox="1"/>
          <p:nvPr/>
        </p:nvSpPr>
        <p:spPr>
          <a:xfrm>
            <a:off x="647663" y="2843232"/>
            <a:ext cx="7848674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 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큐에서 데이터 가져오기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  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버퍼가 비워져 있는 경우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  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Failed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++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  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빈 영역 증가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  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Front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448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89E8-175D-CA4C-58F9-8706EED7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B79F6-3F49-DD43-F7B3-6C4A05E1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16.3.11</a:t>
            </a:r>
            <a:r>
              <a:rPr lang="pt-BR" altLang="ko-KR" dirty="0"/>
              <a:t> Linear Queue vs Circular 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2F67B2-9E9E-3029-69E2-296BD5A5A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Linear Queue</a:t>
            </a:r>
          </a:p>
          <a:p>
            <a:pPr lvl="1"/>
            <a:r>
              <a:rPr lang="en-US" altLang="ko-KR" dirty="0"/>
              <a:t>Dequeue </a:t>
            </a:r>
            <a:r>
              <a:rPr lang="ko-KR" altLang="en-US" dirty="0"/>
              <a:t>시 데이터 이동</a:t>
            </a:r>
          </a:p>
          <a:p>
            <a:pPr lvl="1"/>
            <a:r>
              <a:rPr lang="ko-KR" altLang="en-US" dirty="0"/>
              <a:t>구현 단순</a:t>
            </a:r>
          </a:p>
          <a:p>
            <a:pPr lvl="1"/>
            <a:r>
              <a:rPr lang="ko-KR" altLang="en-US" dirty="0"/>
              <a:t>성능 손실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Circular Queue</a:t>
            </a:r>
          </a:p>
          <a:p>
            <a:pPr lvl="1"/>
            <a:r>
              <a:rPr lang="ko-KR" altLang="en-US" dirty="0"/>
              <a:t>데이터 이동 없음</a:t>
            </a:r>
          </a:p>
          <a:p>
            <a:pPr lvl="1"/>
            <a:r>
              <a:rPr lang="en-US" altLang="ko-KR" dirty="0"/>
              <a:t>Front Rear </a:t>
            </a:r>
            <a:r>
              <a:rPr lang="ko-KR" altLang="en-US" dirty="0"/>
              <a:t>관리 필요</a:t>
            </a:r>
          </a:p>
          <a:p>
            <a:pPr lvl="1"/>
            <a:r>
              <a:rPr lang="ko-KR" altLang="en-US" dirty="0"/>
              <a:t>버퍼 재사용 효율 높음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301D5A-3487-4BDD-B28C-3460EAD4FF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732170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FA9A-B9F1-BB17-54D2-3BD3F579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0E3-2BE3-E119-165E-3CE40AAE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16.3.12 </a:t>
            </a:r>
            <a:r>
              <a:rPr lang="ko-KR" altLang="en-US" dirty="0"/>
              <a:t>원형 큐 예 </a:t>
            </a:r>
            <a:r>
              <a:rPr lang="en-US" altLang="ko-KR" dirty="0"/>
              <a:t>- Message 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349B8F-F223-E7A1-FECF-A74A5A8CA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소켓 이벤트의 사용자 정의 메시지 큐잉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2D61C-6BB9-555F-9BC3-8C2FB657A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D21CEB-D4CF-FFE0-96CC-AC5B869AAB54}"/>
              </a:ext>
            </a:extLst>
          </p:cNvPr>
          <p:cNvSpPr txBox="1"/>
          <p:nvPr/>
        </p:nvSpPr>
        <p:spPr>
          <a:xfrm>
            <a:off x="755576" y="1196752"/>
            <a:ext cx="7632848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struct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 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unsigned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unsigned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nMsg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 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protected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    {}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{}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시작 위치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{}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끝 위치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{}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남아있는 큐의 버퍼 크기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{}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 크기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8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추가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pOut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꺼냄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30809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FBCE4-80F3-875C-123D-C97AC175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38FBF-58B8-73FC-43E1-A79A81E8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16.4.1 </a:t>
            </a:r>
            <a:r>
              <a:rPr lang="ko-KR" altLang="en-US" dirty="0"/>
              <a:t>메시지</a:t>
            </a:r>
            <a:r>
              <a:rPr lang="en-US" altLang="ko-KR" dirty="0"/>
              <a:t> Queue Enqueue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1E3396-B7F2-CFCD-2B18-84074A2F0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NwMsg </a:t>
            </a:r>
            <a:r>
              <a:rPr lang="ko-KR" altLang="en-US" dirty="0"/>
              <a:t>단위 저장</a:t>
            </a:r>
          </a:p>
          <a:p>
            <a:r>
              <a:rPr lang="ko-KR" altLang="en-US" dirty="0"/>
              <a:t>메시지 전체 복사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27F88A-AD33-1A29-8E2A-F159EB2135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A2AB1-1C0F-7D76-EF7B-CCBB5812900E}"/>
              </a:ext>
            </a:extLst>
          </p:cNvPr>
          <p:cNvSpPr txBox="1"/>
          <p:nvPr/>
        </p:nvSpPr>
        <p:spPr>
          <a:xfrm>
            <a:off x="539750" y="1844823"/>
            <a:ext cx="8352210" cy="36933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  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 데이터 추가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 있는 공간이 없으면 채우지 못함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Failed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memcpy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sizeof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--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빈 영역 감소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Rear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844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4004-98E5-9DBC-3F1E-3255A3B4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673C9-68C7-CFF6-3313-CE974440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16.4.2 </a:t>
            </a:r>
            <a:r>
              <a:rPr lang="ko-KR" altLang="en-US" dirty="0"/>
              <a:t>메시지</a:t>
            </a:r>
            <a:r>
              <a:rPr lang="en-US" altLang="ko-KR" dirty="0"/>
              <a:t> Queue Dequeue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4927E-2C2A-DD67-AF95-E5451819C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NwMsg </a:t>
            </a:r>
            <a:r>
              <a:rPr lang="ko-KR" altLang="en-US" dirty="0"/>
              <a:t>단위 출력</a:t>
            </a:r>
          </a:p>
          <a:p>
            <a:r>
              <a:rPr lang="en-US" altLang="ko-KR" dirty="0"/>
              <a:t>Front </a:t>
            </a:r>
            <a:r>
              <a:rPr lang="ko-KR" altLang="en-US" dirty="0"/>
              <a:t>위치 데이터 복사</a:t>
            </a:r>
          </a:p>
          <a:p>
            <a:r>
              <a:rPr lang="en-US" altLang="ko-KR" dirty="0"/>
              <a:t>Front </a:t>
            </a:r>
            <a:r>
              <a:rPr lang="ko-KR" altLang="en-US" dirty="0"/>
              <a:t>순환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CDF9B6-AA24-2B55-39FA-D1C530F582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0F013-23D7-5FC9-84F7-10CB3453CC82}"/>
              </a:ext>
            </a:extLst>
          </p:cNvPr>
          <p:cNvSpPr txBox="1"/>
          <p:nvPr/>
        </p:nvSpPr>
        <p:spPr>
          <a:xfrm>
            <a:off x="683568" y="2348880"/>
            <a:ext cx="7848872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CQueCircular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큐에서 데이터 가져오기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버퍼가 비워져 있는 경우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Failed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memcpy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sizeof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++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빈 영역 증가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Front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3756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A867-B753-C737-D372-E2BB4573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2864E-512A-24B0-2FB1-82DA898E2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16.5.1 String 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A88CA-EAC6-4B0D-FBD0-5B3FC2DE9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데이터</a:t>
            </a:r>
          </a:p>
          <a:p>
            <a:pPr lvl="1"/>
            <a:r>
              <a:rPr lang="ko-KR" altLang="en-US" dirty="0"/>
              <a:t>문자열 형태 메시지</a:t>
            </a:r>
          </a:p>
          <a:p>
            <a:pPr lvl="1"/>
            <a:r>
              <a:rPr lang="ko-KR" altLang="en-US" dirty="0"/>
              <a:t>바이트 배열 형태 수신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정수 </a:t>
            </a:r>
            <a:r>
              <a:rPr lang="en-US" altLang="ko-KR" dirty="0"/>
              <a:t>Queue </a:t>
            </a:r>
            <a:r>
              <a:rPr lang="ko-KR" altLang="en-US" dirty="0"/>
              <a:t>부족</a:t>
            </a:r>
          </a:p>
          <a:p>
            <a:pPr lvl="1"/>
            <a:r>
              <a:rPr lang="ko-KR" altLang="en-US" dirty="0"/>
              <a:t>문자열 저장 필요</a:t>
            </a:r>
          </a:p>
          <a:p>
            <a:pPr lvl="1"/>
            <a:r>
              <a:rPr lang="ko-KR" altLang="en-US" dirty="0"/>
              <a:t>연속 데이터 저장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993213-B196-589A-9FBA-D394CB3A90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78929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021E-473D-C5CC-7C9F-7EEC7267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260DC-4EC8-528A-E3AE-2FF0442B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16.5.2 String Queue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63764D-D91B-C02B-5F85-80EFAE2A7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A53730-343C-095C-80D1-3AC65BC27B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DF120-4116-4B87-1A0C-8E1B00E4E15D}"/>
              </a:ext>
            </a:extLst>
          </p:cNvPr>
          <p:cNvSpPr txBox="1"/>
          <p:nvPr/>
        </p:nvSpPr>
        <p:spPr>
          <a:xfrm>
            <a:off x="323850" y="692150"/>
            <a:ext cx="8065145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protected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    {}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{}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 문자열 끝 위치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{}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 크기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8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내용을 지움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크기를 가져옴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GetRemain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남아 있는 크기를 가져옴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사이즈를 다시 설정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85126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6451-67D8-8244-01B6-0CCBA815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E8DA9-8975-8AF1-35F3-5ECB5F94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16.5.3 String Queue </a:t>
            </a:r>
            <a:r>
              <a:rPr lang="ko-KR" altLang="en-US" dirty="0"/>
              <a:t>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F0C766-7FAF-E580-3010-4DF88DEA1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문자 버퍼 생성</a:t>
            </a:r>
          </a:p>
          <a:p>
            <a:r>
              <a:rPr lang="ko-KR" altLang="en-US" dirty="0"/>
              <a:t>문자열 끝 공간 추가</a:t>
            </a:r>
          </a:p>
          <a:p>
            <a:r>
              <a:rPr lang="en-US" altLang="ko-KR" dirty="0"/>
              <a:t>0 </a:t>
            </a:r>
            <a:r>
              <a:rPr lang="ko-KR" altLang="en-US" dirty="0"/>
              <a:t>초기화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0FFC9B-AF8F-602F-BD68-0D0E588139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2A28E-DAAD-1316-5AAC-D423CBD94A35}"/>
              </a:ext>
            </a:extLst>
          </p:cNvPr>
          <p:cNvSpPr txBox="1"/>
          <p:nvPr/>
        </p:nvSpPr>
        <p:spPr>
          <a:xfrm>
            <a:off x="561656" y="2924944"/>
            <a:ext cx="7826768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End Pointer </a:t>
            </a:r>
            <a:r>
              <a:rPr lang="ko-KR" altLang="en-US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하나 더 추가</a:t>
            </a:r>
            <a:endParaRPr lang="en-US" altLang="ko-KR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= </a:t>
            </a: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]{};</a:t>
            </a:r>
            <a:endParaRPr lang="ko-KR" altLang="en-US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9010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14484-8D0B-89CB-43D0-ABBC47D7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5FB3C-2739-C25F-26EC-18907E8D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16.5.4 String Queue Enqueue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CC1FB-E340-96DC-D766-41A22761A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입력 크기 확인</a:t>
            </a:r>
          </a:p>
          <a:p>
            <a:r>
              <a:rPr lang="ko-KR" altLang="en-US" sz="2400" dirty="0"/>
              <a:t>남은 공간 계산</a:t>
            </a:r>
          </a:p>
          <a:p>
            <a:r>
              <a:rPr lang="ko-KR" altLang="en-US" sz="2400" dirty="0"/>
              <a:t>저장 가능 크기만 복사</a:t>
            </a:r>
          </a:p>
          <a:p>
            <a:r>
              <a:rPr lang="ko-KR" altLang="en-US" sz="2400" dirty="0"/>
              <a:t>남은 데이터 크기 반환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505D70-A73A-6FF8-200B-0BE2A75ACB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53F02-15B3-8E97-3311-56EC39DA0410}"/>
              </a:ext>
            </a:extLst>
          </p:cNvPr>
          <p:cNvSpPr txBox="1"/>
          <p:nvPr/>
        </p:nvSpPr>
        <p:spPr>
          <a:xfrm>
            <a:off x="467544" y="2564905"/>
            <a:ext cx="8208751" cy="427809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/*=1*/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 데이터 추가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 있는 공간이 없으면 채우지 못함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반환 값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iRemain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남은 공간 계산</a:t>
            </a: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iRemain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반환 값 설정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iRemain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iRemain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    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++) = *(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복사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Rear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3528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E52B-B228-589B-332B-6FAF491D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793C5-C799-9779-0120-866C3175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16.5.5 String Queue Dequeue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6F2F3-F068-08F5-4112-A10671CA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요청 크기만 출력</a:t>
            </a:r>
          </a:p>
          <a:p>
            <a:r>
              <a:rPr lang="ko-KR" altLang="en-US" sz="2400" dirty="0"/>
              <a:t>출력 데이터 </a:t>
            </a:r>
            <a:r>
              <a:rPr lang="en-US" altLang="ko-KR" sz="2400" dirty="0"/>
              <a:t>0 </a:t>
            </a:r>
            <a:r>
              <a:rPr lang="ko-KR" altLang="en-US" sz="2400" dirty="0"/>
              <a:t>초기화</a:t>
            </a:r>
          </a:p>
          <a:p>
            <a:r>
              <a:rPr lang="ko-KR" altLang="en-US" sz="2400" dirty="0"/>
              <a:t>남은 데이터 앞으로 이동</a:t>
            </a:r>
          </a:p>
          <a:p>
            <a:r>
              <a:rPr lang="ko-KR" altLang="en-US" sz="2400" dirty="0"/>
              <a:t>출력 길이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BCEE30-67E2-1E49-6B84-08DD80A284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01F15-D319-0D24-5AFD-EC55F408F6DD}"/>
              </a:ext>
            </a:extLst>
          </p:cNvPr>
          <p:cNvSpPr txBox="1"/>
          <p:nvPr/>
        </p:nvSpPr>
        <p:spPr>
          <a:xfrm>
            <a:off x="827236" y="2492896"/>
            <a:ext cx="7705427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/*=1*/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큐에서 데이터 가져오기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버퍼가 비워져 있는 경우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만약 요청한 크기가 저장되어 있는 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크기보다 크다면 재조정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복사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복사되면 큐의 내용을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 초기화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일부만 복사했다면 그 만큼만 이동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한 단계씩 앞 자리로 이동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마지막 자리도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 초기화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Rear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가져온 문장의 길이를 반환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679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15D0D-2E18-D545-AA2E-E134B4E9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99BC0-FB76-483A-1B29-F718702D9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16.5.6 String Queue  </a:t>
            </a:r>
            <a:r>
              <a:rPr lang="ko-KR" altLang="en-US" dirty="0"/>
              <a:t>사용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9FB7E8-2156-B4BE-354B-0437DE475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B0DDFB-E00E-0398-CCFB-9C812F42A4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F68C2A-1484-7CAB-526F-6B8A6B52C265}"/>
              </a:ext>
            </a:extLst>
          </p:cNvPr>
          <p:cNvSpPr txBox="1"/>
          <p:nvPr/>
        </p:nvSpPr>
        <p:spPr>
          <a:xfrm>
            <a:off x="514720" y="692150"/>
            <a:ext cx="7894709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CQueueApp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iQueSize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/* = MAX_QUEUE */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iQueSize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4B305E-6F90-8BC0-6398-AF059F032CCB}"/>
              </a:ext>
            </a:extLst>
          </p:cNvPr>
          <p:cNvSpPr txBox="1"/>
          <p:nvPr/>
        </p:nvSpPr>
        <p:spPr>
          <a:xfrm>
            <a:off x="525186" y="2314772"/>
            <a:ext cx="7884612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CQueueApp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EnqueuingMode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256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]={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strlen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iRet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C03AAF-BE85-7FDD-A157-A4462BDAD2CC}"/>
              </a:ext>
            </a:extLst>
          </p:cNvPr>
          <p:cNvSpPr txBox="1"/>
          <p:nvPr/>
        </p:nvSpPr>
        <p:spPr>
          <a:xfrm>
            <a:off x="514720" y="4491392"/>
            <a:ext cx="7884612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CQueueApp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DequeuingMode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256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]={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m_pQueue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sMsg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]=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1369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B11B1-BD45-1FF8-42B6-7BF138B2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18DB9-39E2-6434-5199-0A709F59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16.6.1 Byte </a:t>
            </a:r>
            <a:r>
              <a:rPr lang="ko-KR" altLang="en-US" dirty="0"/>
              <a:t>기반</a:t>
            </a:r>
            <a:r>
              <a:rPr lang="en-US" altLang="ko-KR" dirty="0"/>
              <a:t> 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3B891C-D9EE-6332-8ED2-58221C24B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char Queue</a:t>
            </a:r>
          </a:p>
          <a:p>
            <a:pPr lvl="1"/>
            <a:r>
              <a:rPr lang="ko-KR" altLang="en-US" dirty="0"/>
              <a:t>문자 단위 저장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uint8_t Queue</a:t>
            </a:r>
          </a:p>
          <a:p>
            <a:pPr lvl="1"/>
            <a:r>
              <a:rPr lang="ko-KR" altLang="en-US" dirty="0"/>
              <a:t>바이트 단위 저장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Network Buffer</a:t>
            </a:r>
          </a:p>
          <a:p>
            <a:pPr lvl="1"/>
            <a:r>
              <a:rPr lang="ko-KR" altLang="en-US" dirty="0"/>
              <a:t>수신 바이트 저장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CF3C6B-7B9F-1180-88F0-2D3F65E3C8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0183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10A88-C9B8-6AD1-FF3E-004D0DDD2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8A751-9AAF-FEEE-C962-7B43D693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16.6.2 BYTE </a:t>
            </a:r>
            <a:r>
              <a:rPr lang="ko-KR" altLang="en-US" dirty="0"/>
              <a:t>기반 </a:t>
            </a:r>
            <a:r>
              <a:rPr lang="en-US" altLang="ko-KR" dirty="0"/>
              <a:t>String Queue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053DB4-5A24-0907-DD73-045AF20E4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unsigned</a:t>
            </a:r>
            <a:r>
              <a:rPr lang="ko-KR" altLang="en-US" dirty="0"/>
              <a:t> </a:t>
            </a:r>
            <a:r>
              <a:rPr lang="en-US" altLang="ko-KR" dirty="0"/>
              <a:t>char </a:t>
            </a:r>
            <a:r>
              <a:rPr lang="ko-KR" altLang="en-US" dirty="0"/>
              <a:t>버퍼 사용</a:t>
            </a:r>
          </a:p>
          <a:p>
            <a:r>
              <a:rPr lang="en-US" altLang="ko-KR" dirty="0"/>
              <a:t>Front Rear </a:t>
            </a:r>
            <a:r>
              <a:rPr lang="ko-KR" altLang="en-US" dirty="0"/>
              <a:t>사용</a:t>
            </a:r>
          </a:p>
          <a:p>
            <a:r>
              <a:rPr lang="en-US" altLang="ko-KR" dirty="0"/>
              <a:t>Space </a:t>
            </a:r>
            <a:r>
              <a:rPr lang="ko-KR" altLang="en-US" dirty="0"/>
              <a:t>사용</a:t>
            </a:r>
          </a:p>
          <a:p>
            <a:r>
              <a:rPr lang="en-US" altLang="ko-KR" dirty="0"/>
              <a:t>Circular Queue </a:t>
            </a:r>
            <a:r>
              <a:rPr lang="ko-KR" altLang="en-US" dirty="0"/>
              <a:t>구조 적용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D48FEE-D38D-F7E4-8C86-3000EAC80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198363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7F63-BACB-03A7-612E-C12E0C514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964FF-E451-4863-B959-6C77FD24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16.6.3 BYTE </a:t>
            </a:r>
            <a:r>
              <a:rPr lang="ko-KR" altLang="en-US" dirty="0"/>
              <a:t>기반 </a:t>
            </a:r>
            <a:r>
              <a:rPr lang="en-US" altLang="ko-KR" dirty="0"/>
              <a:t>String Queue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AF45F2-516E-E985-6279-B0D4AF528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70EE82-2E3F-CBE4-600D-A8A5B33199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A9434-7CFE-44C5-8FEF-DA2ACA81A928}"/>
              </a:ext>
            </a:extLst>
          </p:cNvPr>
          <p:cNvSpPr txBox="1"/>
          <p:nvPr/>
        </p:nvSpPr>
        <p:spPr>
          <a:xfrm>
            <a:off x="251520" y="692150"/>
            <a:ext cx="8425134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#include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stdint.h</a:t>
            </a:r>
            <a:r>
              <a:rPr lang="en-US" altLang="ko-KR" sz="18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en-US" altLang="ko-KR" sz="1800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 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protected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uint8_t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{};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{};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Front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{};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Rear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위치위치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{};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 있는 공간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{};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버퍼 크기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8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추가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가져오기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Clear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내용을 지움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GetWidth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크기를 가져옴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GetRemain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남아 있는 크기를 가져옴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      </a:t>
            </a:r>
            <a:r>
              <a:rPr lang="en-US" altLang="ko-KR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큐의 사이즈를 다시 설정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00845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AB71-3008-A6B8-CE29-E4CDCFE1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F98B-5B3B-7B8C-912E-5A5AFA7F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16.6.4 BYTE Queue Enqueue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E50BFA-D978-4414-BF6B-FAD3B8ED0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void* </a:t>
            </a:r>
            <a:r>
              <a:rPr lang="ko-KR" altLang="en-US" sz="2400" dirty="0"/>
              <a:t>입력</a:t>
            </a:r>
          </a:p>
          <a:p>
            <a:r>
              <a:rPr lang="en-US" altLang="ko-KR" sz="2400" dirty="0"/>
              <a:t>BYTE* </a:t>
            </a:r>
            <a:r>
              <a:rPr lang="ko-KR" altLang="en-US" sz="2400" dirty="0"/>
              <a:t>변환</a:t>
            </a:r>
          </a:p>
          <a:p>
            <a:r>
              <a:rPr lang="ko-KR" altLang="en-US" sz="2400" dirty="0"/>
              <a:t>바이트 단위 복사</a:t>
            </a:r>
          </a:p>
          <a:p>
            <a:r>
              <a:rPr lang="en-US" altLang="ko-KR" sz="2400" dirty="0"/>
              <a:t>Rear </a:t>
            </a:r>
            <a:r>
              <a:rPr lang="ko-KR" altLang="en-US" sz="2400" dirty="0"/>
              <a:t>순환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874B74-4048-6954-0EE5-59B92C58A3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131F2-20F1-2A49-7F4D-1C38AD02533A}"/>
              </a:ext>
            </a:extLst>
          </p:cNvPr>
          <p:cNvSpPr txBox="1"/>
          <p:nvPr/>
        </p:nvSpPr>
        <p:spPr>
          <a:xfrm>
            <a:off x="539750" y="2780928"/>
            <a:ext cx="8280400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Enqueue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/*=1*/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 데이터 추가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||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남아 있는 공간이 없거나 입력 사이즈보다 작으면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실패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uint8_t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*)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복사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Rear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m_iRear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%=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4637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067D-78AE-D165-78CA-94EBCEDC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446DE-00AD-A031-A856-2D03E853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16.6.5 BYTE Queue Dequeue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30BC8-B000-468C-7C88-33435FB24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Front </a:t>
            </a:r>
            <a:r>
              <a:rPr lang="ko-KR" altLang="en-US" sz="2400" dirty="0"/>
              <a:t>위치 크기 확인</a:t>
            </a:r>
          </a:p>
          <a:p>
            <a:r>
              <a:rPr lang="en-US" altLang="ko-KR" sz="2400" dirty="0"/>
              <a:t>BYTE </a:t>
            </a:r>
            <a:r>
              <a:rPr lang="ko-KR" altLang="en-US" sz="2400" dirty="0"/>
              <a:t>단위 출력</a:t>
            </a:r>
          </a:p>
          <a:p>
            <a:r>
              <a:rPr lang="en-US" altLang="ko-KR" sz="2400" dirty="0"/>
              <a:t>Front </a:t>
            </a:r>
            <a:r>
              <a:rPr lang="ko-KR" altLang="en-US" sz="2400" dirty="0"/>
              <a:t>순환 이동</a:t>
            </a:r>
          </a:p>
          <a:p>
            <a:r>
              <a:rPr lang="ko-KR" altLang="en-US" sz="2400" dirty="0"/>
              <a:t>출력 크기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012B72-44D6-360D-5A9B-38B4201D3F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75121-48DE-8E86-97D8-CA7C5A739D06}"/>
              </a:ext>
            </a:extLst>
          </p:cNvPr>
          <p:cNvSpPr txBox="1"/>
          <p:nvPr/>
        </p:nvSpPr>
        <p:spPr>
          <a:xfrm>
            <a:off x="683381" y="2590820"/>
            <a:ext cx="7993137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CQueStr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Dequeue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pSize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/*=1*/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큐에서 데이터 가져오기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&gt;=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)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버퍼가 비워져 있는 경우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Front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 위치는 길이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uint8_t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*)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 *(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 복사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m_sBuf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=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복사되면 큐의 내용을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 초기화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m_iFront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%=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m_iWidth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Front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 이동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m_iSpace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*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가져온 문장의 길이를 반환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7017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0288-54FE-E1FC-A8DA-6F63F171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CEA7F-F1A8-2A7F-0D67-9620DBF1A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16.7.1 recv </a:t>
            </a:r>
            <a:r>
              <a:rPr lang="ko-KR" altLang="en-US" dirty="0"/>
              <a:t>데이터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DF6B2-A9F6-E1CC-4E1A-54447F8E8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송신 데이터</a:t>
            </a:r>
          </a:p>
          <a:p>
            <a:pPr lvl="1"/>
            <a:r>
              <a:rPr lang="en-US" altLang="ko-KR" dirty="0"/>
              <a:t>"HELLO"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수신 가능 형태 </a:t>
            </a:r>
            <a:r>
              <a:rPr lang="en-US" altLang="ko-KR" dirty="0"/>
              <a:t>1</a:t>
            </a:r>
          </a:p>
          <a:p>
            <a:pPr lvl="1"/>
            <a:r>
              <a:rPr lang="en-US" altLang="ko-KR" dirty="0"/>
              <a:t>"HELLO"</a:t>
            </a:r>
          </a:p>
          <a:p>
            <a:pPr lvl="1"/>
            <a:endParaRPr lang="ko-KR" altLang="en-US" dirty="0"/>
          </a:p>
          <a:p>
            <a:r>
              <a:rPr lang="ko-KR" altLang="en-US" dirty="0"/>
              <a:t>수신 가능 형태 </a:t>
            </a:r>
            <a:r>
              <a:rPr lang="en-US" altLang="ko-KR" dirty="0"/>
              <a:t>2</a:t>
            </a:r>
          </a:p>
          <a:p>
            <a:pPr lvl="1"/>
            <a:r>
              <a:rPr lang="en-US" altLang="ko-KR" dirty="0"/>
              <a:t>"HE"</a:t>
            </a:r>
          </a:p>
          <a:p>
            <a:pPr lvl="1"/>
            <a:r>
              <a:rPr lang="en-US" altLang="ko-KR" dirty="0"/>
              <a:t>"LLO"</a:t>
            </a:r>
          </a:p>
          <a:p>
            <a:endParaRPr lang="en-US" altLang="ko-KR" dirty="0"/>
          </a:p>
          <a:p>
            <a:r>
              <a:rPr lang="ko-KR" altLang="en-US" dirty="0"/>
              <a:t>수신 가능 형태 </a:t>
            </a:r>
            <a:r>
              <a:rPr lang="en-US" altLang="ko-KR" dirty="0"/>
              <a:t>3</a:t>
            </a:r>
          </a:p>
          <a:p>
            <a:pPr lvl="1"/>
            <a:r>
              <a:rPr lang="en-US" altLang="ko-KR" dirty="0"/>
              <a:t>"HELLOWORLD"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60F36A-EA3D-0762-6BA2-384443230A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35373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0A5F-7909-E6E5-D30B-64FA0EC8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C702B-41B9-E2A0-39EB-A5B2C9C0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16.7.2 Queue</a:t>
            </a:r>
            <a:r>
              <a:rPr lang="ko-KR" altLang="en-US" dirty="0"/>
              <a:t>와 </a:t>
            </a:r>
            <a:r>
              <a:rPr lang="en-US" altLang="ko-KR" dirty="0"/>
              <a:t>Network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BAA5D-784B-B42C-B48E-6BB13370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송신 </a:t>
            </a:r>
            <a:r>
              <a:rPr lang="en-US" altLang="ko-KR" dirty="0"/>
              <a:t>Queue</a:t>
            </a:r>
          </a:p>
          <a:p>
            <a:pPr lvl="1"/>
            <a:r>
              <a:rPr lang="ko-KR" altLang="en-US" dirty="0"/>
              <a:t>보낼 데이터 임시 저장</a:t>
            </a:r>
          </a:p>
          <a:p>
            <a:pPr lvl="1"/>
            <a:r>
              <a:rPr lang="ko-KR" altLang="en-US" dirty="0"/>
              <a:t>순서 보장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수신 </a:t>
            </a:r>
            <a:r>
              <a:rPr lang="en-US" altLang="ko-KR" dirty="0"/>
              <a:t>Queue</a:t>
            </a:r>
          </a:p>
          <a:p>
            <a:pPr lvl="1"/>
            <a:r>
              <a:rPr lang="ko-KR" altLang="en-US" dirty="0"/>
              <a:t>받은 데이터 임시 저장</a:t>
            </a:r>
          </a:p>
          <a:p>
            <a:pPr lvl="1"/>
            <a:r>
              <a:rPr lang="ko-KR" altLang="en-US" dirty="0"/>
              <a:t>처리 순서 보장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패킷 </a:t>
            </a:r>
            <a:r>
              <a:rPr lang="en-US" altLang="ko-KR" dirty="0"/>
              <a:t>Queue</a:t>
            </a:r>
          </a:p>
          <a:p>
            <a:pPr lvl="1"/>
            <a:r>
              <a:rPr lang="ko-KR" altLang="en-US" dirty="0"/>
              <a:t>완성 메시지 저장</a:t>
            </a:r>
          </a:p>
          <a:p>
            <a:pPr lvl="1"/>
            <a:r>
              <a:rPr lang="ko-KR" altLang="en-US" dirty="0"/>
              <a:t>게임 로직 전달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8F3E49-8466-F2DF-FF30-AAB15A0366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7101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729A-B047-A6EF-58E2-E5FDD044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AB75A-641E-C347-8574-87675A58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16.7.3 </a:t>
            </a:r>
            <a:r>
              <a:rPr lang="ko-KR" altLang="en-US" dirty="0"/>
              <a:t>게임 서버 구조 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2245A-A6D9-28CE-08AD-431D98C39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Client</a:t>
            </a:r>
          </a:p>
          <a:p>
            <a:pPr lvl="1"/>
            <a:r>
              <a:rPr lang="en-US" altLang="ko-KR" dirty="0"/>
              <a:t>Network</a:t>
            </a:r>
          </a:p>
          <a:p>
            <a:pPr lvl="1"/>
            <a:r>
              <a:rPr lang="en-US" altLang="ko-KR" dirty="0"/>
              <a:t>Buffer</a:t>
            </a:r>
          </a:p>
          <a:p>
            <a:pPr lvl="1"/>
            <a:r>
              <a:rPr lang="en-US" altLang="ko-KR" dirty="0"/>
              <a:t>Packet</a:t>
            </a:r>
          </a:p>
          <a:p>
            <a:pPr lvl="1"/>
            <a:r>
              <a:rPr lang="en-US" altLang="ko-KR" dirty="0"/>
              <a:t>Game Logic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Network Thread</a:t>
            </a:r>
          </a:p>
          <a:p>
            <a:pPr lvl="1"/>
            <a:r>
              <a:rPr lang="ko-KR" altLang="en-US" dirty="0"/>
              <a:t>데이터 수신</a:t>
            </a:r>
          </a:p>
          <a:p>
            <a:pPr lvl="1"/>
            <a:r>
              <a:rPr lang="en-US" altLang="ko-KR" dirty="0"/>
              <a:t>Buffer </a:t>
            </a:r>
            <a:r>
              <a:rPr lang="ko-KR" altLang="en-US" dirty="0"/>
              <a:t>저장</a:t>
            </a:r>
          </a:p>
          <a:p>
            <a:pPr lvl="1"/>
            <a:r>
              <a:rPr lang="en-US" altLang="ko-KR" dirty="0"/>
              <a:t>Packet </a:t>
            </a:r>
            <a:r>
              <a:rPr lang="ko-KR" altLang="en-US" dirty="0"/>
              <a:t>분리</a:t>
            </a:r>
          </a:p>
          <a:p>
            <a:pPr lvl="1"/>
            <a:r>
              <a:rPr lang="en-US" altLang="ko-KR" dirty="0"/>
              <a:t>Queue </a:t>
            </a:r>
            <a:r>
              <a:rPr lang="ko-KR" altLang="en-US" dirty="0"/>
              <a:t>전달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F8EFC7-3059-6619-BD60-11FB2F68D0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72462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19FC-8655-9761-DEDF-489D4A2E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E9DE3-144A-E2ED-C902-2351F3BB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D3DB94-6672-BB42-9E7B-3D4B6669F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Queue</a:t>
            </a:r>
          </a:p>
          <a:p>
            <a:pPr lvl="1"/>
            <a:r>
              <a:rPr lang="en-US" altLang="ko-KR" sz="2000" dirty="0"/>
              <a:t>FIFO </a:t>
            </a:r>
            <a:r>
              <a:rPr lang="ko-KR" altLang="en-US" sz="2000" dirty="0"/>
              <a:t>구조</a:t>
            </a:r>
          </a:p>
          <a:p>
            <a:pPr lvl="1"/>
            <a:r>
              <a:rPr lang="ko-KR" altLang="en-US" sz="2000" dirty="0"/>
              <a:t>입력 순서 보존</a:t>
            </a:r>
            <a:endParaRPr lang="en-US" altLang="ko-KR" sz="20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Linear Queue</a:t>
            </a:r>
          </a:p>
          <a:p>
            <a:pPr lvl="1"/>
            <a:r>
              <a:rPr lang="ko-KR" altLang="en-US" sz="2000" dirty="0"/>
              <a:t>구현 단순</a:t>
            </a:r>
          </a:p>
          <a:p>
            <a:pPr lvl="1"/>
            <a:r>
              <a:rPr lang="en-US" altLang="ko-KR" sz="2000" dirty="0"/>
              <a:t>Dequeue </a:t>
            </a:r>
            <a:r>
              <a:rPr lang="ko-KR" altLang="en-US" sz="2000" dirty="0"/>
              <a:t>데이터 이동</a:t>
            </a:r>
            <a:endParaRPr lang="en-US" altLang="ko-KR" sz="20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Circular Queue</a:t>
            </a:r>
          </a:p>
          <a:p>
            <a:pPr lvl="1"/>
            <a:r>
              <a:rPr lang="ko-KR" altLang="en-US" sz="2000" dirty="0"/>
              <a:t>데이터 이동 제거</a:t>
            </a:r>
          </a:p>
          <a:p>
            <a:pPr lvl="1"/>
            <a:r>
              <a:rPr lang="en-US" altLang="ko-KR" sz="2000" dirty="0"/>
              <a:t>Front Rear </a:t>
            </a:r>
            <a:r>
              <a:rPr lang="ko-KR" altLang="en-US" sz="2000" dirty="0"/>
              <a:t>순환</a:t>
            </a:r>
            <a:endParaRPr lang="en-US" altLang="ko-KR" sz="20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String Queue</a:t>
            </a:r>
          </a:p>
          <a:p>
            <a:pPr lvl="1"/>
            <a:r>
              <a:rPr lang="ko-KR" altLang="en-US" sz="2000" dirty="0"/>
              <a:t>문자열 저장</a:t>
            </a:r>
          </a:p>
          <a:p>
            <a:pPr lvl="1"/>
            <a:r>
              <a:rPr lang="en-US" altLang="ko-KR" sz="2000" dirty="0"/>
              <a:t>Network Buffer </a:t>
            </a:r>
            <a:r>
              <a:rPr lang="ko-KR" altLang="en-US" sz="2000" dirty="0"/>
              <a:t>기초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891F0C-97B9-2AB2-C31C-F4457DD1C4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41485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9A4A-D6F8-C23D-0E4A-D49AF4BB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3A90D-6CC9-C204-9F3F-F680E7DA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B925E3-32CA-9B4C-FAC5-A0140E3E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23F04A-3FDF-707D-B234-0127DF6093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95551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BA13-D919-E5F7-4BD3-279E7DCD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3EADD-8ACE-733D-E3F9-26183C97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680CB-E5F9-F2FF-EE35-73B409D5D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F390CA-9DF6-A857-3D23-B075EFBF9A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48500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6A4A-A1A2-8077-628B-751E8381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DD417-DCA3-C9B5-E292-1B359885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C65FDB-A5FC-A401-0B6D-41CFAA3E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630295-2626-3FFC-A362-120FCE6574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0594634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4EA9-569C-32EE-D62C-AA0211E9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B1E8B-BD7F-C2DB-6FC8-0DAD8FDC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30F320-4B94-CF6E-788F-16A6D7BA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15FD7B-97A9-BA6D-E231-A513097946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61737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198E5-CFE2-6403-A88E-CA78FC59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64C18-40C4-E4B0-544A-AF29497E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818C7-C1CB-544A-866D-FCDDE6E7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08694B-C4F4-2970-E404-269C9650A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39916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D750-6F19-40C6-0B90-F2853558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0B7E9-82DD-F0DE-4E21-861E73CC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E9F85-97E0-A65F-925A-BDEF7786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6BB96E-3761-E28F-D426-5307BDB5F5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179046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1DAE3-F200-9EE2-9E18-C0293E32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5A5F6-A11A-5686-AC94-D2D8ADBD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F47AC-6B3E-C76E-6BBF-85B1727B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38A477-CA1C-8818-D551-2D01204943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12485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E205-5055-5B87-DA62-791BC8DA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F8B05-0724-8CD1-C2BD-F6595B5C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06DBD-D396-E18A-D9EB-1587EA46F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6839C0-B54D-9851-F172-49D3F69252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711255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DC22-6F4E-D2B6-0631-277AFB79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181E5-9EC8-639F-3B52-EECD7940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30556-AF0B-98D4-7C21-04496C3BB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9B1E0A-32ED-73C5-8630-C661EF427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92163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21D4-1099-D0E4-7851-C9DDC60E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FBB97-D4A9-62E0-57AD-D42EE5CD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684D9F-C47D-A506-0CAA-670C6B8DE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43DC2C-BD9D-E150-0FB4-AE0C1DE3B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24558195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600" b="1" dirty="0">
            <a:solidFill>
              <a:srgbClr val="0000FF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3226</Words>
  <Application>Microsoft Office PowerPoint</Application>
  <PresentationFormat>화면 슬라이드 쇼(4:3)</PresentationFormat>
  <Paragraphs>678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5" baseType="lpstr">
      <vt:lpstr>D2Coding</vt:lpstr>
      <vt:lpstr>HY견고딕</vt:lpstr>
      <vt:lpstr>가을체</vt:lpstr>
      <vt:lpstr>굴림</vt:lpstr>
      <vt:lpstr>나눔바른고딕</vt:lpstr>
      <vt:lpstr>Arial</vt:lpstr>
      <vt:lpstr>Consolas</vt:lpstr>
      <vt:lpstr>Wingdings</vt:lpstr>
      <vt:lpstr>기본 디자인</vt:lpstr>
      <vt:lpstr>Network Programming - 16 Queue 자료구조와 네트워크 버퍼  afewhee@gmail.com</vt:lpstr>
      <vt:lpstr>16.0 학습 목표</vt:lpstr>
      <vt:lpstr>16.1 Queue 개념</vt:lpstr>
      <vt:lpstr>16.1.2 Queue 사용 예</vt:lpstr>
      <vt:lpstr>16.1.3 Queue 기본 연산</vt:lpstr>
      <vt:lpstr>16.1.4 Queue 기본 연산 과정</vt:lpstr>
      <vt:lpstr>16.2.1 Linear Queue</vt:lpstr>
      <vt:lpstr>16.2.2 Linear Queue 구현</vt:lpstr>
      <vt:lpstr>16.2.3 Linear Queue 클래스 멤버</vt:lpstr>
      <vt:lpstr>16.2.4 Linear Queue 생성</vt:lpstr>
      <vt:lpstr>16.2.5 Linear Queue Enqueue</vt:lpstr>
      <vt:lpstr>16.2.6 Linear Queue Dequeue</vt:lpstr>
      <vt:lpstr>16.2.7 Linear Queue 흐름</vt:lpstr>
      <vt:lpstr>16.2.8 Linear Queue 초기화</vt:lpstr>
      <vt:lpstr>16.2.9 Linear Queue EnQueue 예</vt:lpstr>
      <vt:lpstr>16.2.10 Linear Queue DeQueue 예</vt:lpstr>
      <vt:lpstr>16.2.11 Linear Queue 문제점</vt:lpstr>
      <vt:lpstr>16.3.1 Circular Queue 필요성</vt:lpstr>
      <vt:lpstr>16.3.2 Circular Queue 장점</vt:lpstr>
      <vt:lpstr>16.3.3 Circular Queue 구조</vt:lpstr>
      <vt:lpstr>16.3.4 Circular Queue 동작</vt:lpstr>
      <vt:lpstr>16.3.5 Circular Queue 동작 예</vt:lpstr>
      <vt:lpstr>16.3.6 Circular Queue 구현</vt:lpstr>
      <vt:lpstr>16.3.7 Circular Queue 클래스 멤버</vt:lpstr>
      <vt:lpstr>16.3.8 Circular Queue 생성</vt:lpstr>
      <vt:lpstr>16.3.9 Circular Queue Enqueue</vt:lpstr>
      <vt:lpstr>16.3.10 Circular Queue Dequeue</vt:lpstr>
      <vt:lpstr>16.3.11 Linear Queue vs Circular Queue</vt:lpstr>
      <vt:lpstr>16.3.12 원형 큐 예 - Message Queue</vt:lpstr>
      <vt:lpstr>16.4.1 메시지 Queue Enqueue</vt:lpstr>
      <vt:lpstr>16.4.2 메시지 Queue Dequeue</vt:lpstr>
      <vt:lpstr>16.5.1 String Queue</vt:lpstr>
      <vt:lpstr>16.5.2 String Queue 클래스</vt:lpstr>
      <vt:lpstr>16.5.3 String Queue 초기화</vt:lpstr>
      <vt:lpstr>16.5.4 String Queue Enqueue</vt:lpstr>
      <vt:lpstr>16.5.5 String Queue Dequeue</vt:lpstr>
      <vt:lpstr>16.5.6 String Queue  사용 예</vt:lpstr>
      <vt:lpstr>16.6.1 Byte 기반 Queue</vt:lpstr>
      <vt:lpstr>16.6.2 BYTE 기반 String Queue 클래스</vt:lpstr>
      <vt:lpstr>16.6.3 BYTE 기반 String Queue 클래스</vt:lpstr>
      <vt:lpstr>16.6.4 BYTE Queue Enqueue</vt:lpstr>
      <vt:lpstr>16.6.5 BYTE Queue Dequeue</vt:lpstr>
      <vt:lpstr>16.7.1 recv 데이터 예</vt:lpstr>
      <vt:lpstr>16.7.2 Queue와 Network</vt:lpstr>
      <vt:lpstr>16.7.3 게임 서버 구조 연결</vt:lpstr>
      <vt:lpstr>16.8 정리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190</cp:revision>
  <dcterms:created xsi:type="dcterms:W3CDTF">2003-11-30T16:03:20Z</dcterms:created>
  <dcterms:modified xsi:type="dcterms:W3CDTF">2026-05-12T16:11:52Z</dcterms:modified>
</cp:coreProperties>
</file>