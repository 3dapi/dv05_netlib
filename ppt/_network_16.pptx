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311" r:id="rId3"/>
    <p:sldId id="257" r:id="rId4"/>
    <p:sldId id="258" r:id="rId5"/>
    <p:sldId id="259" r:id="rId6"/>
    <p:sldId id="312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306" r:id="rId19"/>
    <p:sldId id="271" r:id="rId20"/>
    <p:sldId id="307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4" r:id="rId33"/>
    <p:sldId id="283" r:id="rId34"/>
    <p:sldId id="308" r:id="rId35"/>
    <p:sldId id="285" r:id="rId36"/>
    <p:sldId id="286" r:id="rId37"/>
    <p:sldId id="287" r:id="rId38"/>
    <p:sldId id="309" r:id="rId39"/>
    <p:sldId id="288" r:id="rId40"/>
    <p:sldId id="289" r:id="rId41"/>
    <p:sldId id="290" r:id="rId42"/>
    <p:sldId id="291" r:id="rId43"/>
    <p:sldId id="310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FF"/>
    <a:srgbClr val="FFFF99"/>
    <a:srgbClr val="FFFFCC"/>
    <a:srgbClr val="FF9900"/>
    <a:srgbClr val="CCCC00"/>
    <a:srgbClr val="66FF33"/>
    <a:srgbClr val="FF33CC"/>
    <a:srgbClr val="003300"/>
    <a:srgbClr val="008000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96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548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5A88D3AC-F88D-DCA0-3386-175A98D04AD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497EF5D1-9489-216D-1711-8BEA3B0B508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9DAC108B-3248-AAEB-FEB9-15D3888E986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A285E75-A20B-9E77-B212-EE0F3FE823D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AFF40FF3-4AB4-F2A0-F5CE-C5CF048B53D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F2788A3B-C79B-B554-FD19-51E5534BED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fld id="{E1F17537-23E5-4DE5-98DB-6E922DC7B16F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BA1ABAE-82DC-748F-74EF-EB47AB72B2B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30150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82A1B03-E6EF-1509-0E27-D5B545ECF92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1796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A9E72B9-FCDD-9AAD-C7C9-D8CAFC259D3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6176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EEF43F0-ABB3-A623-05D2-6644680AA59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71403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A25E678-7D8B-35F1-6BC2-27AC2D1B45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EB5FB5F-9879-FE8F-DE10-076DA540C6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09EEC06-106C-0AC6-494C-D315AC1264B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D82FD4F5-F8EC-1EAA-5042-2329980122F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  <a:latin typeface="굴림" panose="020B0600000101010101" pitchFamily="50" charset="-127"/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6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/dv05_netlib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EF4DEAFE-92C6-D447-A594-49DCC51FDA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F936D7EA-50A0-F4CE-9E2C-749AA3156C3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 anchor="ctr"/>
          <a:lstStyle/>
          <a:p>
            <a:pPr eaLnBrk="1" hangingPunct="1"/>
            <a:r>
              <a:rPr lang="en-US" altLang="ko-KR" sz="3200" dirty="0">
                <a:solidFill>
                  <a:schemeClr val="tx1"/>
                </a:solidFill>
              </a:rPr>
              <a:t>Network Programming - 16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2400" dirty="0"/>
              <a:t>Network Library </a:t>
            </a:r>
            <a:r>
              <a:rPr lang="ko-KR" altLang="en-US" sz="2400" dirty="0"/>
              <a:t>구현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3200" dirty="0">
                <a:solidFill>
                  <a:schemeClr val="tx1"/>
                </a:solidFill>
              </a:rPr>
              <a:t> </a:t>
            </a:r>
            <a:r>
              <a:rPr lang="en-US" altLang="ko-KR" sz="1400" dirty="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D71160-7E6B-F641-CD02-041D672F0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 </a:t>
            </a:r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E2F513-E9EB-40B4-F460-994CD3C35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공통 함수 라이브러리화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I/O </a:t>
            </a:r>
            <a:r>
              <a:rPr lang="ko-KR" altLang="en-US" dirty="0"/>
              <a:t>모델 추상화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I/O </a:t>
            </a:r>
            <a:r>
              <a:rPr lang="ko-KR" altLang="en-US" dirty="0"/>
              <a:t>모델 구체화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자료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https://github.com/3dapi/dv05_netlib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AC3C6-DEF5-7A17-3960-8C997317B0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4775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832696-13CE-4399-AF6B-9F40A76F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1.1 Network Library </a:t>
            </a:r>
            <a:r>
              <a:rPr lang="ko-KR" altLang="en-US" dirty="0"/>
              <a:t>구현 방향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2DC88B-BADD-4885-B160-5955E95DA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개별적인 네트워크 코드의 문제</a:t>
            </a:r>
            <a:endParaRPr lang="en-US" altLang="ko-KR" dirty="0"/>
          </a:p>
          <a:p>
            <a:pPr lvl="1"/>
            <a:r>
              <a:rPr lang="ko-KR" altLang="en-US" dirty="0"/>
              <a:t>유지 보수</a:t>
            </a:r>
            <a:r>
              <a:rPr lang="en-US" altLang="ko-KR" dirty="0"/>
              <a:t>, </a:t>
            </a:r>
            <a:r>
              <a:rPr lang="ko-KR" altLang="en-US" dirty="0"/>
              <a:t>중복 코드</a:t>
            </a:r>
            <a:r>
              <a:rPr lang="en-US" altLang="ko-KR" dirty="0"/>
              <a:t>, </a:t>
            </a:r>
            <a:r>
              <a:rPr lang="ko-KR" altLang="en-US" dirty="0"/>
              <a:t>성능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해결 방안</a:t>
            </a:r>
            <a:endParaRPr lang="en-US" altLang="ko-KR" dirty="0"/>
          </a:p>
          <a:p>
            <a:pPr lvl="1"/>
            <a:r>
              <a:rPr lang="ko-KR" altLang="en-US" dirty="0"/>
              <a:t>공통 사용 함수 라이브러리화</a:t>
            </a:r>
          </a:p>
          <a:p>
            <a:pPr lvl="1"/>
            <a:r>
              <a:rPr lang="ko-KR" altLang="en-US" dirty="0"/>
              <a:t>공통 인터페이스 추상화</a:t>
            </a:r>
          </a:p>
          <a:p>
            <a:pPr lvl="1"/>
            <a:r>
              <a:rPr lang="ko-KR" altLang="en-US" dirty="0" err="1"/>
              <a:t>모델별</a:t>
            </a:r>
            <a:r>
              <a:rPr lang="ko-KR" altLang="en-US" dirty="0"/>
              <a:t> 클래스 구체화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구현</a:t>
            </a:r>
            <a:endParaRPr lang="en-US" altLang="ko-KR" dirty="0"/>
          </a:p>
          <a:p>
            <a:pPr lvl="1"/>
            <a:r>
              <a:rPr lang="ko-KR" altLang="en-US" dirty="0"/>
              <a:t>추상화 → 구체화 → 라이브러리화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B40114-16A1-4532-AE0C-0B70226DF4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4686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1.2 </a:t>
            </a:r>
            <a:r>
              <a:rPr lang="ko-KR" altLang="en-US" dirty="0"/>
              <a:t>설계 진행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전체 코드 분석</a:t>
            </a:r>
            <a:endParaRPr lang="en-US" altLang="ko-KR" dirty="0"/>
          </a:p>
          <a:p>
            <a:pPr lvl="1"/>
            <a:r>
              <a:rPr lang="en-US" altLang="ko-KR" dirty="0"/>
              <a:t>I/O </a:t>
            </a:r>
            <a:r>
              <a:rPr lang="ko-KR" altLang="en-US" dirty="0" err="1"/>
              <a:t>모델별</a:t>
            </a:r>
            <a:r>
              <a:rPr lang="ko-KR" altLang="en-US" dirty="0"/>
              <a:t> 분리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설계 방향 </a:t>
            </a:r>
            <a:r>
              <a:rPr lang="en-US" altLang="ko-KR" dirty="0"/>
              <a:t>(</a:t>
            </a:r>
            <a:r>
              <a:rPr lang="ko-KR" altLang="en-US" dirty="0"/>
              <a:t>추상화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1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반복 코드 발견</a:t>
            </a:r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공통 함수 분리</a:t>
            </a:r>
          </a:p>
          <a:p>
            <a:pPr lvl="1"/>
            <a:r>
              <a:rPr lang="en-US" altLang="ko-KR" dirty="0"/>
              <a:t>3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공통 인터페이스 정의</a:t>
            </a:r>
          </a:p>
          <a:p>
            <a:pPr lvl="1"/>
            <a:r>
              <a:rPr lang="en-US" altLang="ko-KR" dirty="0"/>
              <a:t>4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기본 클래스 작성</a:t>
            </a:r>
          </a:p>
          <a:p>
            <a:pPr lvl="1"/>
            <a:r>
              <a:rPr lang="en-US" altLang="ko-KR" dirty="0"/>
              <a:t>5</a:t>
            </a:r>
            <a:r>
              <a:rPr lang="ko-KR" altLang="en-US" dirty="0"/>
              <a:t>단계</a:t>
            </a:r>
            <a:r>
              <a:rPr lang="en-US" altLang="ko-KR" dirty="0"/>
              <a:t>: I/O </a:t>
            </a:r>
            <a:r>
              <a:rPr lang="ko-KR" altLang="en-US" dirty="0" err="1"/>
              <a:t>모델별</a:t>
            </a:r>
            <a:r>
              <a:rPr lang="ko-KR" altLang="en-US" dirty="0"/>
              <a:t> 파생 클래스 구현</a:t>
            </a:r>
          </a:p>
          <a:p>
            <a:pPr lvl="1"/>
            <a:r>
              <a:rPr lang="en-US" altLang="ko-KR" dirty="0"/>
              <a:t>6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응용 계층은 </a:t>
            </a:r>
            <a:r>
              <a:rPr lang="en-US" altLang="ko-KR" dirty="0" err="1"/>
              <a:t>ILcNet</a:t>
            </a:r>
            <a:r>
              <a:rPr lang="ko-KR" altLang="en-US" dirty="0"/>
              <a:t>만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7274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설계 진행 요약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925E5-4413-4A72-950D-951926E38ED0}"/>
              </a:ext>
            </a:extLst>
          </p:cNvPr>
          <p:cNvSpPr txBox="1"/>
          <p:nvPr/>
        </p:nvSpPr>
        <p:spPr>
          <a:xfrm>
            <a:off x="683568" y="797510"/>
            <a:ext cx="8136582" cy="489364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WinSock API </a:t>
            </a: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직접 사용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↓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공통 함수 분리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↓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LcNetUtil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ILcNet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추상화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↓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공통 기반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↓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CLcNetSlct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CLcNetSlctA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CLcNetSlctE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CLcNetIocp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응용 계층 코드 단순화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004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설계 진행 요약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03F181-4360-4EE1-B7EA-61B46F0D86F8}"/>
              </a:ext>
            </a:extLst>
          </p:cNvPr>
          <p:cNvSpPr/>
          <p:nvPr/>
        </p:nvSpPr>
        <p:spPr bwMode="auto">
          <a:xfrm>
            <a:off x="2483768" y="1052736"/>
            <a:ext cx="1872208" cy="727744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800" b="1" i="0" u="none" strike="noStrike" dirty="0" err="1">
                <a:solidFill>
                  <a:srgbClr val="00B0F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ILcNet</a:t>
            </a:r>
            <a:endParaRPr kumimoji="1" lang="ko-KR" altLang="en-US" sz="28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A06CAF-D84F-45D1-8484-3A8779FEC6A1}"/>
              </a:ext>
            </a:extLst>
          </p:cNvPr>
          <p:cNvSpPr/>
          <p:nvPr/>
        </p:nvSpPr>
        <p:spPr bwMode="auto">
          <a:xfrm>
            <a:off x="2483768" y="3065128"/>
            <a:ext cx="1872208" cy="727744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800" b="1" i="0" u="none" strike="noStrike" dirty="0" err="1">
                <a:solidFill>
                  <a:srgbClr val="99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endParaRPr kumimoji="1" lang="ko-KR" altLang="en-US" sz="2800" b="0" i="0" u="none" strike="noStrike" cap="none" normalizeH="0" baseline="0" dirty="0">
              <a:ln>
                <a:noFill/>
              </a:ln>
              <a:solidFill>
                <a:srgbClr val="9900F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003999-08E7-4DCB-A0D0-294B6D43C7B5}"/>
              </a:ext>
            </a:extLst>
          </p:cNvPr>
          <p:cNvSpPr/>
          <p:nvPr/>
        </p:nvSpPr>
        <p:spPr bwMode="auto">
          <a:xfrm>
            <a:off x="223449" y="4789488"/>
            <a:ext cx="2031372" cy="727744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CLcNetSlct</a:t>
            </a:r>
            <a:endParaRPr kumimoji="1" lang="ko-KR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5AB4A35-6D17-46CF-A91C-46461A9B8B07}"/>
              </a:ext>
            </a:extLst>
          </p:cNvPr>
          <p:cNvCxnSpPr>
            <a:stCxn id="10" idx="0"/>
            <a:endCxn id="7" idx="2"/>
          </p:cNvCxnSpPr>
          <p:nvPr/>
        </p:nvCxnSpPr>
        <p:spPr bwMode="auto">
          <a:xfrm flipV="1">
            <a:off x="3419872" y="1780480"/>
            <a:ext cx="0" cy="1284648"/>
          </a:xfrm>
          <a:prstGeom prst="straightConnector1">
            <a:avLst/>
          </a:prstGeom>
          <a:noFill/>
          <a:ln w="508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C4C15F89-9B4F-4B3F-A7DB-6732F48AF8D2}"/>
              </a:ext>
            </a:extLst>
          </p:cNvPr>
          <p:cNvCxnSpPr>
            <a:stCxn id="11" idx="0"/>
            <a:endCxn id="10" idx="2"/>
          </p:cNvCxnSpPr>
          <p:nvPr/>
        </p:nvCxnSpPr>
        <p:spPr bwMode="auto">
          <a:xfrm flipV="1">
            <a:off x="1239135" y="3792872"/>
            <a:ext cx="2180737" cy="996616"/>
          </a:xfrm>
          <a:prstGeom prst="straightConnector1">
            <a:avLst/>
          </a:prstGeom>
          <a:noFill/>
          <a:ln w="508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0403A5A-903C-4709-95C4-35B0D0EEBE02}"/>
              </a:ext>
            </a:extLst>
          </p:cNvPr>
          <p:cNvSpPr/>
          <p:nvPr/>
        </p:nvSpPr>
        <p:spPr bwMode="auto">
          <a:xfrm>
            <a:off x="2411892" y="4789488"/>
            <a:ext cx="2031372" cy="727744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CLcNetSlctA</a:t>
            </a:r>
            <a:endParaRPr kumimoji="1" lang="ko-KR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560EF64-55E4-444D-8660-D21F270710F7}"/>
              </a:ext>
            </a:extLst>
          </p:cNvPr>
          <p:cNvSpPr/>
          <p:nvPr/>
        </p:nvSpPr>
        <p:spPr bwMode="auto">
          <a:xfrm>
            <a:off x="4600335" y="4789488"/>
            <a:ext cx="2031372" cy="727744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CLcNetSlctE</a:t>
            </a:r>
            <a:endParaRPr kumimoji="1" lang="ko-KR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6CF40C10-93EA-4C3F-8D32-0D19835B76CC}"/>
              </a:ext>
            </a:extLst>
          </p:cNvPr>
          <p:cNvCxnSpPr>
            <a:stCxn id="19" idx="0"/>
            <a:endCxn id="10" idx="2"/>
          </p:cNvCxnSpPr>
          <p:nvPr/>
        </p:nvCxnSpPr>
        <p:spPr bwMode="auto">
          <a:xfrm flipH="1" flipV="1">
            <a:off x="3419872" y="3792872"/>
            <a:ext cx="7706" cy="996616"/>
          </a:xfrm>
          <a:prstGeom prst="straightConnector1">
            <a:avLst/>
          </a:prstGeom>
          <a:noFill/>
          <a:ln w="508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E7A07419-066B-4027-A1F8-C5A430ADC3F1}"/>
              </a:ext>
            </a:extLst>
          </p:cNvPr>
          <p:cNvCxnSpPr>
            <a:stCxn id="20" idx="0"/>
            <a:endCxn id="10" idx="2"/>
          </p:cNvCxnSpPr>
          <p:nvPr/>
        </p:nvCxnSpPr>
        <p:spPr bwMode="auto">
          <a:xfrm flipH="1" flipV="1">
            <a:off x="3419872" y="3792872"/>
            <a:ext cx="2196149" cy="996616"/>
          </a:xfrm>
          <a:prstGeom prst="straightConnector1">
            <a:avLst/>
          </a:prstGeom>
          <a:noFill/>
          <a:ln w="508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A454782-1280-45A7-ABAA-F27F29721CB0}"/>
              </a:ext>
            </a:extLst>
          </p:cNvPr>
          <p:cNvSpPr/>
          <p:nvPr/>
        </p:nvSpPr>
        <p:spPr bwMode="auto">
          <a:xfrm>
            <a:off x="5188302" y="1073187"/>
            <a:ext cx="2480041" cy="1117067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LcNetUtil</a:t>
            </a: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EF31B50-1A33-46DF-A016-BDC24676DC2F}"/>
              </a:ext>
            </a:extLst>
          </p:cNvPr>
          <p:cNvSpPr/>
          <p:nvPr/>
        </p:nvSpPr>
        <p:spPr bwMode="auto">
          <a:xfrm>
            <a:off x="6788778" y="4789488"/>
            <a:ext cx="2031372" cy="727744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CLcNetIocp</a:t>
            </a:r>
            <a:endParaRPr kumimoji="1" lang="ko-KR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B7705886-7B32-4A4A-8627-2F834CA4D2F0}"/>
              </a:ext>
            </a:extLst>
          </p:cNvPr>
          <p:cNvCxnSpPr>
            <a:stCxn id="30" idx="0"/>
            <a:endCxn id="10" idx="2"/>
          </p:cNvCxnSpPr>
          <p:nvPr/>
        </p:nvCxnSpPr>
        <p:spPr bwMode="auto">
          <a:xfrm flipH="1" flipV="1">
            <a:off x="3419872" y="3792872"/>
            <a:ext cx="4384592" cy="996616"/>
          </a:xfrm>
          <a:prstGeom prst="straightConnector1">
            <a:avLst/>
          </a:prstGeom>
          <a:noFill/>
          <a:ln w="508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313620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1.4 </a:t>
            </a:r>
            <a:r>
              <a:rPr lang="ko-KR" altLang="en-US" dirty="0"/>
              <a:t>설계 기준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  <a:ea typeface="+mn-ea"/>
              </a:rPr>
              <a:t>설계 방향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 분리</a:t>
            </a:r>
            <a:r>
              <a:rPr lang="en-US" altLang="ko-KR" b="1" i="0" u="none" strike="noStrike" dirty="0">
                <a:effectLst/>
                <a:latin typeface="+mn-ea"/>
                <a:ea typeface="+mn-ea"/>
              </a:rPr>
              <a:t> → </a:t>
            </a:r>
            <a:r>
              <a:rPr lang="ko-KR" altLang="en-US" b="1" i="0" u="none" strike="noStrike" dirty="0">
                <a:effectLst/>
                <a:latin typeface="+mn-ea"/>
                <a:ea typeface="+mn-ea"/>
              </a:rPr>
              <a:t>역할 </a:t>
            </a:r>
            <a:r>
              <a:rPr lang="ko-KR" altLang="en-US" dirty="0">
                <a:latin typeface="+mn-ea"/>
                <a:ea typeface="+mn-ea"/>
              </a:rPr>
              <a:t>정리</a:t>
            </a:r>
            <a:r>
              <a:rPr lang="en-US" altLang="ko-KR" dirty="0">
                <a:latin typeface="+mn-ea"/>
                <a:ea typeface="+mn-ea"/>
              </a:rPr>
              <a:t>(</a:t>
            </a:r>
            <a:r>
              <a:rPr lang="ko-KR" altLang="en-US" dirty="0">
                <a:latin typeface="+mn-ea"/>
                <a:ea typeface="+mn-ea"/>
              </a:rPr>
              <a:t>함수 정리</a:t>
            </a:r>
            <a:r>
              <a:rPr lang="en-US" altLang="ko-KR" dirty="0">
                <a:latin typeface="+mn-ea"/>
                <a:ea typeface="+mn-ea"/>
              </a:rPr>
              <a:t>)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클래스 분리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 → </a:t>
            </a:r>
            <a:r>
              <a:rPr lang="ko-KR" altLang="en-US" dirty="0">
                <a:latin typeface="+mn-ea"/>
                <a:ea typeface="+mn-ea"/>
              </a:rPr>
              <a:t> </a:t>
            </a:r>
            <a:r>
              <a:rPr lang="en-US" altLang="ko-KR" dirty="0">
                <a:latin typeface="+mn-ea"/>
                <a:ea typeface="+mn-ea"/>
              </a:rPr>
              <a:t>I/O </a:t>
            </a:r>
            <a:r>
              <a:rPr lang="ko-KR" altLang="en-US" dirty="0">
                <a:latin typeface="+mn-ea"/>
                <a:ea typeface="+mn-ea"/>
              </a:rPr>
              <a:t>모델 교체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Send / Recv wrapping</a:t>
            </a:r>
            <a:r>
              <a:rPr lang="ko-KR" altLang="en-US" dirty="0">
                <a:latin typeface="+mn-ea"/>
                <a:ea typeface="+mn-ea"/>
              </a:rPr>
              <a:t> 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→ </a:t>
            </a:r>
            <a:r>
              <a:rPr lang="ko-KR" altLang="en-US" dirty="0">
                <a:latin typeface="+mn-ea"/>
                <a:ea typeface="+mn-ea"/>
              </a:rPr>
              <a:t>패킷 처리 규칙 통일</a:t>
            </a: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FrameMove</a:t>
            </a:r>
            <a:r>
              <a:rPr lang="en-US" altLang="ko-KR" dirty="0">
                <a:latin typeface="+mn-ea"/>
                <a:ea typeface="+mn-ea"/>
              </a:rPr>
              <a:t> (Update) 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→ </a:t>
            </a:r>
            <a:r>
              <a:rPr lang="ko-KR" altLang="en-US" dirty="0">
                <a:latin typeface="+mn-ea"/>
                <a:ea typeface="+mn-ea"/>
              </a:rPr>
              <a:t>네트워크 갱신 지점 통일</a:t>
            </a: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NetUtil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→ </a:t>
            </a:r>
            <a:r>
              <a:rPr lang="en-US" altLang="ko-KR" dirty="0">
                <a:latin typeface="+mn-ea"/>
                <a:ea typeface="+mn-ea"/>
              </a:rPr>
              <a:t>BSD, Linux, MacOS, WinSock API </a:t>
            </a:r>
            <a:r>
              <a:rPr lang="ko-KR" altLang="en-US" dirty="0">
                <a:latin typeface="+mn-ea"/>
                <a:ea typeface="+mn-ea"/>
              </a:rPr>
              <a:t>반복 제거</a:t>
            </a:r>
          </a:p>
          <a:p>
            <a:endParaRPr lang="en-US" altLang="ko-KR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정리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코드 나열 중심 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→ </a:t>
            </a:r>
            <a:r>
              <a:rPr lang="ko-KR" altLang="en-US" dirty="0">
                <a:latin typeface="+mn-ea"/>
                <a:ea typeface="+mn-ea"/>
              </a:rPr>
              <a:t>설계 진행 과정 중심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파일 나열 중심 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→ </a:t>
            </a:r>
            <a:r>
              <a:rPr lang="ko-KR" altLang="en-US" dirty="0">
                <a:latin typeface="+mn-ea"/>
                <a:ea typeface="+mn-ea"/>
              </a:rPr>
              <a:t>역할과 책임 중심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5542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1.5 </a:t>
            </a:r>
            <a:r>
              <a:rPr lang="ko-KR" altLang="en-US" dirty="0"/>
              <a:t>라이브러리화 전 코드 문제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구현 내용</a:t>
            </a:r>
          </a:p>
          <a:p>
            <a:pPr lvl="1"/>
            <a:r>
              <a:rPr lang="ko-KR" altLang="en-US" sz="2000" dirty="0"/>
              <a:t>서버와 클라이언트가 같은 코드를 반복</a:t>
            </a:r>
          </a:p>
          <a:p>
            <a:pPr lvl="1"/>
            <a:r>
              <a:rPr lang="en-US" altLang="ko-KR" sz="2000" dirty="0"/>
              <a:t>socket / bind / listen / connect / accept </a:t>
            </a:r>
            <a:r>
              <a:rPr lang="ko-KR" altLang="en-US" sz="2000" dirty="0"/>
              <a:t>반복</a:t>
            </a:r>
          </a:p>
          <a:p>
            <a:pPr lvl="1"/>
            <a:r>
              <a:rPr lang="en-US" altLang="ko-KR" sz="2000" dirty="0"/>
              <a:t>send / recv </a:t>
            </a:r>
            <a:r>
              <a:rPr lang="ko-KR" altLang="en-US" sz="2000" dirty="0"/>
              <a:t>처리 중복</a:t>
            </a:r>
          </a:p>
          <a:p>
            <a:pPr lvl="1"/>
            <a:r>
              <a:rPr lang="ko-KR" altLang="en-US" sz="2000" dirty="0"/>
              <a:t>오류 처리 중복</a:t>
            </a:r>
          </a:p>
          <a:p>
            <a:pPr lvl="1"/>
            <a:r>
              <a:rPr lang="en-US" altLang="ko-KR" sz="2000" dirty="0"/>
              <a:t>socket option </a:t>
            </a:r>
            <a:r>
              <a:rPr lang="ko-KR" altLang="en-US" sz="2000" dirty="0"/>
              <a:t>설정 중복</a:t>
            </a:r>
          </a:p>
          <a:p>
            <a:pPr lvl="1"/>
            <a:r>
              <a:rPr lang="en-US" altLang="ko-KR" sz="2000" dirty="0"/>
              <a:t>Thread / Event </a:t>
            </a:r>
            <a:r>
              <a:rPr lang="ko-KR" altLang="en-US" sz="2000" dirty="0"/>
              <a:t>생성 코드 반복</a:t>
            </a:r>
          </a:p>
          <a:p>
            <a:pPr lvl="1"/>
            <a:r>
              <a:rPr lang="en-US" altLang="ko-KR" sz="2000" dirty="0"/>
              <a:t>I/O </a:t>
            </a:r>
            <a:r>
              <a:rPr lang="ko-KR" altLang="en-US" sz="2000" dirty="0"/>
              <a:t>모델 변경 시 코드 전체 변경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D5A80E-3E8D-48E2-9BFF-F0185D1D095C}"/>
              </a:ext>
            </a:extLst>
          </p:cNvPr>
          <p:cNvSpPr txBox="1"/>
          <p:nvPr/>
        </p:nvSpPr>
        <p:spPr>
          <a:xfrm>
            <a:off x="899592" y="3908524"/>
            <a:ext cx="3672408" cy="2616101"/>
          </a:xfrm>
          <a:prstGeom prst="rect">
            <a:avLst/>
          </a:prstGeom>
          <a:solidFill>
            <a:srgbClr val="FFFF00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Server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WSAStartup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socket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bind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listen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accept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send / recv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closesocket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29DE90-E1A5-418B-8718-0B360A78E7A5}"/>
              </a:ext>
            </a:extLst>
          </p:cNvPr>
          <p:cNvSpPr txBox="1"/>
          <p:nvPr/>
        </p:nvSpPr>
        <p:spPr>
          <a:xfrm>
            <a:off x="4679950" y="3908524"/>
            <a:ext cx="3672408" cy="2000548"/>
          </a:xfrm>
          <a:prstGeom prst="rect">
            <a:avLst/>
          </a:prstGeom>
          <a:solidFill>
            <a:srgbClr val="FFFF00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Client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WSAStartup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socket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connect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send / recv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closesocket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864353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1.6 </a:t>
            </a:r>
            <a:r>
              <a:rPr lang="ko-KR" altLang="en-US" dirty="0"/>
              <a:t>라이브러리화 대상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설계 방향</a:t>
            </a:r>
          </a:p>
          <a:p>
            <a:pPr lvl="1"/>
            <a:r>
              <a:rPr lang="en-US" altLang="ko-KR" sz="2000" dirty="0"/>
              <a:t>WinSock </a:t>
            </a:r>
            <a:r>
              <a:rPr lang="ko-KR" altLang="en-US" sz="2000" dirty="0"/>
              <a:t>초기화 </a:t>
            </a:r>
            <a:r>
              <a:rPr lang="en-US" altLang="ko-KR" sz="2000" dirty="0"/>
              <a:t>/ </a:t>
            </a:r>
            <a:r>
              <a:rPr lang="ko-KR" altLang="en-US" sz="2000" dirty="0"/>
              <a:t>해제</a:t>
            </a:r>
          </a:p>
          <a:p>
            <a:pPr lvl="1"/>
            <a:r>
              <a:rPr lang="ko-KR" altLang="en-US" sz="2000" dirty="0"/>
              <a:t>소켓 생성 </a:t>
            </a:r>
            <a:r>
              <a:rPr lang="en-US" altLang="ko-KR" sz="2000" dirty="0"/>
              <a:t>/ </a:t>
            </a:r>
            <a:r>
              <a:rPr lang="ko-KR" altLang="en-US" sz="2000" dirty="0"/>
              <a:t>닫기 </a:t>
            </a:r>
            <a:r>
              <a:rPr lang="en-US" altLang="ko-KR" sz="2000" dirty="0"/>
              <a:t>/ </a:t>
            </a:r>
            <a:r>
              <a:rPr lang="ko-KR" altLang="en-US" sz="2000" dirty="0"/>
              <a:t>주소 설정</a:t>
            </a:r>
          </a:p>
          <a:p>
            <a:pPr lvl="1"/>
            <a:r>
              <a:rPr lang="en-US" altLang="ko-KR" sz="2000" dirty="0"/>
              <a:t>Bind / Listen / Accept / Connect</a:t>
            </a:r>
          </a:p>
          <a:p>
            <a:pPr lvl="1"/>
            <a:r>
              <a:rPr lang="en-US" altLang="ko-KR" sz="2000" dirty="0"/>
              <a:t>Select, </a:t>
            </a:r>
            <a:r>
              <a:rPr lang="en-US" altLang="ko-KR" sz="2000" dirty="0" err="1"/>
              <a:t>NonBlocking</a:t>
            </a:r>
            <a:endParaRPr lang="en-US" altLang="ko-KR" sz="2000" dirty="0"/>
          </a:p>
          <a:p>
            <a:pPr lvl="1"/>
            <a:r>
              <a:rPr lang="en-US" altLang="ko-KR" sz="2000" dirty="0"/>
              <a:t>Nagle Off</a:t>
            </a:r>
          </a:p>
          <a:p>
            <a:pPr lvl="1"/>
            <a:r>
              <a:rPr lang="en-US" altLang="ko-KR" sz="2000" dirty="0"/>
              <a:t>Thread </a:t>
            </a:r>
            <a:r>
              <a:rPr lang="ko-KR" altLang="en-US" sz="2000" dirty="0"/>
              <a:t>생성 </a:t>
            </a:r>
            <a:r>
              <a:rPr lang="en-US" altLang="ko-KR" sz="2000" dirty="0"/>
              <a:t>/ </a:t>
            </a:r>
            <a:r>
              <a:rPr lang="ko-KR" altLang="en-US" sz="2000" dirty="0"/>
              <a:t>종료</a:t>
            </a:r>
          </a:p>
          <a:p>
            <a:pPr lvl="1"/>
            <a:r>
              <a:rPr lang="en-US" altLang="ko-KR" sz="2000" dirty="0"/>
              <a:t>Event </a:t>
            </a:r>
            <a:r>
              <a:rPr lang="ko-KR" altLang="en-US" sz="2000" dirty="0"/>
              <a:t>생성 </a:t>
            </a:r>
            <a:r>
              <a:rPr lang="en-US" altLang="ko-KR" sz="2000" dirty="0"/>
              <a:t>/ </a:t>
            </a:r>
            <a:r>
              <a:rPr lang="ko-KR" altLang="en-US" sz="2000" dirty="0"/>
              <a:t>대기</a:t>
            </a:r>
          </a:p>
          <a:p>
            <a:pPr lvl="1"/>
            <a:r>
              <a:rPr lang="en-US" altLang="ko-KR" sz="2000" dirty="0"/>
              <a:t>Packet Encode / Decode</a:t>
            </a:r>
          </a:p>
          <a:p>
            <a:pPr lvl="1"/>
            <a:r>
              <a:rPr lang="en-US" altLang="ko-KR" sz="2000" dirty="0" err="1"/>
              <a:t>RingBuffer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086651-B719-4FAB-83C8-EF65E05318A6}"/>
              </a:ext>
            </a:extLst>
          </p:cNvPr>
          <p:cNvSpPr txBox="1"/>
          <p:nvPr/>
        </p:nvSpPr>
        <p:spPr>
          <a:xfrm>
            <a:off x="3203848" y="4509120"/>
            <a:ext cx="5760889" cy="1938992"/>
          </a:xfrm>
          <a:prstGeom prst="rect">
            <a:avLst/>
          </a:prstGeom>
          <a:solidFill>
            <a:srgbClr val="FFFF00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반복되는 </a:t>
            </a:r>
            <a:r>
              <a:rPr lang="ko-KR" altLang="en-US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저수준</a:t>
            </a: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코드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↓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LcNetUtil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상위 네트워크 클래스에서 공통 사용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0560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1.7 </a:t>
            </a:r>
            <a:r>
              <a:rPr lang="ko-KR" altLang="en-US" dirty="0"/>
              <a:t>라이브러리화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설계 방향</a:t>
            </a:r>
          </a:p>
          <a:p>
            <a:pPr lvl="1"/>
            <a:r>
              <a:rPr lang="ko-KR" altLang="en-US" sz="1800" dirty="0"/>
              <a:t>응용 코드에서 </a:t>
            </a:r>
            <a:r>
              <a:rPr lang="en-US" altLang="ko-KR" sz="1800" dirty="0"/>
              <a:t>WinSock API </a:t>
            </a:r>
            <a:r>
              <a:rPr lang="ko-KR" altLang="en-US" sz="1800" dirty="0"/>
              <a:t>제거</a:t>
            </a:r>
          </a:p>
          <a:p>
            <a:pPr lvl="1"/>
            <a:r>
              <a:rPr lang="ko-KR" altLang="en-US" sz="1800" dirty="0"/>
              <a:t>서버</a:t>
            </a:r>
            <a:r>
              <a:rPr lang="en-US" altLang="ko-KR" sz="1800" dirty="0"/>
              <a:t>/</a:t>
            </a:r>
            <a:r>
              <a:rPr lang="ko-KR" altLang="en-US" sz="1800" dirty="0"/>
              <a:t>클라이언트 코드 단순화</a:t>
            </a:r>
          </a:p>
          <a:p>
            <a:pPr lvl="1"/>
            <a:r>
              <a:rPr lang="ko-KR" altLang="en-US" sz="1800" dirty="0"/>
              <a:t>패킷 송수신 규칙 통일</a:t>
            </a:r>
          </a:p>
          <a:p>
            <a:pPr lvl="1"/>
            <a:r>
              <a:rPr lang="en-US" altLang="ko-KR" sz="1800" dirty="0"/>
              <a:t>I/O </a:t>
            </a:r>
            <a:r>
              <a:rPr lang="ko-KR" altLang="en-US" sz="1800" dirty="0"/>
              <a:t>모델 교체 가능</a:t>
            </a:r>
          </a:p>
          <a:p>
            <a:pPr lvl="1"/>
            <a:r>
              <a:rPr lang="ko-KR" altLang="en-US" sz="1800" dirty="0"/>
              <a:t>응용 코드와 네트워크 처리 역할 분리</a:t>
            </a:r>
          </a:p>
          <a:p>
            <a:pPr lvl="1"/>
            <a:r>
              <a:rPr lang="ko-KR" altLang="en-US" sz="1800" dirty="0"/>
              <a:t>유지보수 가능한 구조</a:t>
            </a:r>
            <a:endParaRPr lang="en-US" altLang="ko-KR" sz="1800" dirty="0"/>
          </a:p>
          <a:p>
            <a:pPr lvl="1"/>
            <a:endParaRPr lang="ko-KR" altLang="en-US" sz="1800" dirty="0"/>
          </a:p>
          <a:p>
            <a:r>
              <a:rPr lang="ko-KR" altLang="en-US" sz="2000" dirty="0"/>
              <a:t>응용 계층 사용 목표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B266E-5D66-4A97-8EA5-1C1E3162211D}"/>
              </a:ext>
            </a:extLst>
          </p:cNvPr>
          <p:cNvSpPr txBox="1"/>
          <p:nvPr/>
        </p:nvSpPr>
        <p:spPr>
          <a:xfrm>
            <a:off x="899561" y="4077072"/>
            <a:ext cx="7560778" cy="175432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ILcNet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net = </a:t>
            </a:r>
            <a:r>
              <a:rPr lang="en-US" altLang="ko-KR" sz="1800" b="1" i="0" u="none" strike="noStrike" dirty="0" err="1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LcNet_Create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"Select"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&amp;net,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port,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"TCP"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"Server"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net-&gt;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FrameMove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net-&gt;Send(data, size, MSG_CHAT);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net-&gt;Recv(buffer, &amp;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recvSize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msgType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244299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2.1 </a:t>
            </a:r>
            <a:r>
              <a:rPr lang="ko-KR" altLang="en-US" dirty="0"/>
              <a:t>공통 함수 라이브러리화</a:t>
            </a:r>
            <a:r>
              <a:rPr lang="en-US" altLang="ko-KR" dirty="0"/>
              <a:t>: </a:t>
            </a:r>
            <a:r>
              <a:rPr lang="en-US" altLang="ko-KR" dirty="0" err="1"/>
              <a:t>LcNetUtil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 </a:t>
            </a:r>
            <a:r>
              <a:rPr lang="en-US" altLang="ko-KR" dirty="0" err="1"/>
              <a:t>LcNetUtil</a:t>
            </a:r>
            <a:r>
              <a:rPr lang="ko-KR" altLang="en-US" dirty="0"/>
              <a:t>의 역할</a:t>
            </a:r>
            <a:endParaRPr lang="en-US" altLang="ko-KR" dirty="0"/>
          </a:p>
          <a:p>
            <a:pPr lvl="1"/>
            <a:r>
              <a:rPr lang="ko-KR" altLang="en-US" dirty="0"/>
              <a:t>구현 클래스가 공통으로 사용하는 기반 함수</a:t>
            </a:r>
          </a:p>
          <a:p>
            <a:endParaRPr lang="en-US" altLang="ko-KR" dirty="0"/>
          </a:p>
          <a:p>
            <a:r>
              <a:rPr lang="ko-KR" altLang="en-US" dirty="0"/>
              <a:t>설계 방향</a:t>
            </a:r>
          </a:p>
          <a:p>
            <a:pPr lvl="1"/>
            <a:r>
              <a:rPr lang="en-US" altLang="ko-KR" dirty="0"/>
              <a:t> API Wrapping</a:t>
            </a:r>
          </a:p>
          <a:p>
            <a:pPr lvl="2"/>
            <a:r>
              <a:rPr lang="en-US" altLang="ko-KR" dirty="0"/>
              <a:t>WinSock API</a:t>
            </a:r>
            <a:endParaRPr lang="ko-KR" altLang="en-US" dirty="0"/>
          </a:p>
          <a:p>
            <a:pPr lvl="2"/>
            <a:r>
              <a:rPr lang="en-US" altLang="ko-KR" dirty="0"/>
              <a:t>Socket API</a:t>
            </a:r>
          </a:p>
          <a:p>
            <a:pPr lvl="2"/>
            <a:r>
              <a:rPr lang="en-US" altLang="ko-KR" dirty="0"/>
              <a:t>Thread API</a:t>
            </a:r>
          </a:p>
          <a:p>
            <a:pPr lvl="2"/>
            <a:r>
              <a:rPr lang="en-US" altLang="ko-KR" dirty="0"/>
              <a:t>Event, IOCP API</a:t>
            </a:r>
            <a:endParaRPr lang="ko-KR" altLang="en-US" dirty="0"/>
          </a:p>
          <a:p>
            <a:pPr lvl="1"/>
            <a:r>
              <a:rPr lang="en-US" altLang="ko-KR" dirty="0"/>
              <a:t>Packet</a:t>
            </a:r>
          </a:p>
          <a:p>
            <a:pPr lvl="2"/>
            <a:r>
              <a:rPr lang="en-US" altLang="ko-KR" dirty="0"/>
              <a:t>Encode / Decode</a:t>
            </a:r>
          </a:p>
          <a:p>
            <a:pPr lvl="1"/>
            <a:r>
              <a:rPr lang="en-US" altLang="ko-KR" dirty="0" err="1"/>
              <a:t>RingBuffer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6859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2.2 Socket </a:t>
            </a:r>
            <a:r>
              <a:rPr lang="ko-KR" altLang="en-US" dirty="0"/>
              <a:t>공통 함수 구성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주요 내용</a:t>
            </a:r>
          </a:p>
          <a:p>
            <a:pPr lvl="1"/>
            <a:r>
              <a:rPr lang="ko-KR" altLang="en-US" sz="2000" dirty="0"/>
              <a:t>소켓 생성 코드 공통화</a:t>
            </a:r>
          </a:p>
          <a:p>
            <a:pPr lvl="1"/>
            <a:r>
              <a:rPr lang="ko-KR" altLang="en-US" sz="2000" dirty="0"/>
              <a:t>주소 설정 공통화</a:t>
            </a:r>
          </a:p>
          <a:p>
            <a:pPr lvl="1"/>
            <a:r>
              <a:rPr lang="ko-KR" altLang="en-US" sz="2000" dirty="0"/>
              <a:t>연결 </a:t>
            </a:r>
            <a:r>
              <a:rPr lang="en-US" altLang="ko-KR" sz="2000" dirty="0"/>
              <a:t>/ </a:t>
            </a:r>
            <a:r>
              <a:rPr lang="ko-KR" altLang="en-US" sz="2000" dirty="0"/>
              <a:t>바인딩 </a:t>
            </a:r>
            <a:r>
              <a:rPr lang="en-US" altLang="ko-KR" sz="2000" dirty="0"/>
              <a:t>/ </a:t>
            </a:r>
            <a:r>
              <a:rPr lang="ko-KR" altLang="en-US" sz="2000" dirty="0"/>
              <a:t>리슨 </a:t>
            </a:r>
            <a:r>
              <a:rPr lang="en-US" altLang="ko-KR" sz="2000" dirty="0"/>
              <a:t>/ Accept </a:t>
            </a:r>
            <a:r>
              <a:rPr lang="ko-KR" altLang="en-US" sz="2000" dirty="0"/>
              <a:t>공통화</a:t>
            </a:r>
          </a:p>
          <a:p>
            <a:pPr lvl="1"/>
            <a:r>
              <a:rPr lang="en-US" altLang="ko-KR" sz="2000" dirty="0" err="1"/>
              <a:t>NonBlocking</a:t>
            </a:r>
            <a:r>
              <a:rPr lang="en-US" altLang="ko-KR" sz="2000" dirty="0"/>
              <a:t> / Nagle Off </a:t>
            </a:r>
            <a:r>
              <a:rPr lang="ko-KR" altLang="en-US" sz="2000" dirty="0"/>
              <a:t>공통화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en-US" altLang="ko-KR" sz="2400" dirty="0"/>
              <a:t>Blackbox</a:t>
            </a:r>
          </a:p>
          <a:p>
            <a:pPr lvl="1"/>
            <a:r>
              <a:rPr lang="ko-KR" altLang="en-US" sz="2000" b="1" dirty="0"/>
              <a:t>내부 구현은 보지 않고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입력과 출력만 기준으로 대상을 이해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검증하는 방식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→ </a:t>
            </a:r>
            <a:r>
              <a:rPr lang="ko-KR" altLang="en-US" sz="2000" dirty="0"/>
              <a:t>내부 구현 모름 입력</a:t>
            </a:r>
            <a:r>
              <a:rPr lang="en-US" altLang="ko-KR" sz="2000" dirty="0"/>
              <a:t>·</a:t>
            </a:r>
            <a:r>
              <a:rPr lang="ko-KR" altLang="en-US" sz="2000" dirty="0"/>
              <a:t>출력 기준</a:t>
            </a:r>
            <a:endParaRPr lang="en-US" altLang="ko-KR" sz="2000" b="1" dirty="0"/>
          </a:p>
          <a:p>
            <a:endParaRPr lang="en-US" altLang="ko-KR" sz="2400" dirty="0"/>
          </a:p>
          <a:p>
            <a:r>
              <a:rPr lang="ko-KR" altLang="en-US" sz="2400" dirty="0"/>
              <a:t>구현 클래스</a:t>
            </a:r>
            <a:endParaRPr lang="en-US" altLang="ko-KR" sz="2400" dirty="0"/>
          </a:p>
          <a:p>
            <a:pPr lvl="1"/>
            <a:r>
              <a:rPr lang="ko-KR" altLang="en-US" sz="2000" dirty="0"/>
              <a:t>직접 </a:t>
            </a:r>
            <a:r>
              <a:rPr lang="en-US" altLang="ko-KR" sz="2000" dirty="0"/>
              <a:t>WinSock API </a:t>
            </a:r>
            <a:r>
              <a:rPr lang="ko-KR" altLang="en-US" sz="2000" dirty="0"/>
              <a:t>사용 대신 공통함수를 사용</a:t>
            </a:r>
            <a:br>
              <a:rPr lang="en-US" altLang="ko-KR" sz="2000" dirty="0"/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→ </a:t>
            </a:r>
            <a:r>
              <a:rPr lang="ko-KR" altLang="en-US" sz="2000" dirty="0"/>
              <a:t>구현 클래스에 대한 블랙박스화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18430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2.3 Socket </a:t>
            </a:r>
            <a:r>
              <a:rPr lang="ko-KR" altLang="en-US" dirty="0"/>
              <a:t>생성 추상화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설계 방향</a:t>
            </a:r>
          </a:p>
          <a:p>
            <a:pPr lvl="1"/>
            <a:r>
              <a:rPr lang="en-US" altLang="ko-KR" dirty="0"/>
              <a:t>TCP / UDP </a:t>
            </a:r>
            <a:r>
              <a:rPr lang="ko-KR" altLang="en-US" dirty="0"/>
              <a:t>생성 함수 분리</a:t>
            </a:r>
          </a:p>
          <a:p>
            <a:pPr lvl="1"/>
            <a:r>
              <a:rPr lang="en-US" altLang="ko-KR" dirty="0"/>
              <a:t>Overlapped </a:t>
            </a:r>
            <a:r>
              <a:rPr lang="ko-KR" altLang="en-US" dirty="0"/>
              <a:t>여부를 인자로 처리</a:t>
            </a:r>
          </a:p>
          <a:p>
            <a:pPr lvl="1"/>
            <a:r>
              <a:rPr lang="en-US" altLang="ko-KR" dirty="0"/>
              <a:t>Select </a:t>
            </a:r>
            <a:r>
              <a:rPr lang="ko-KR" altLang="en-US" dirty="0"/>
              <a:t>계열은 일반 소켓</a:t>
            </a:r>
          </a:p>
          <a:p>
            <a:pPr lvl="1"/>
            <a:r>
              <a:rPr lang="en-US" altLang="ko-KR" dirty="0"/>
              <a:t>IOCP</a:t>
            </a:r>
            <a:r>
              <a:rPr lang="ko-KR" altLang="en-US" dirty="0"/>
              <a:t>는 </a:t>
            </a:r>
            <a:r>
              <a:rPr lang="en-US" altLang="ko-KR" dirty="0"/>
              <a:t>Overlapped </a:t>
            </a:r>
            <a:r>
              <a:rPr lang="ko-KR" altLang="en-US" dirty="0"/>
              <a:t>소켓 필요</a:t>
            </a:r>
          </a:p>
          <a:p>
            <a:pPr lvl="1"/>
            <a:r>
              <a:rPr lang="ko-KR" altLang="en-US" dirty="0"/>
              <a:t>같은 함수 이름으로 생성 정책 통일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2865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2.4 Thread / Event </a:t>
            </a:r>
            <a:r>
              <a:rPr lang="ko-KR" altLang="en-US" dirty="0"/>
              <a:t>공통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내용</a:t>
            </a:r>
            <a:endParaRPr lang="en-US" altLang="ko-KR" dirty="0"/>
          </a:p>
          <a:p>
            <a:pPr lvl="1"/>
            <a:r>
              <a:rPr lang="en-US" altLang="ko-KR" dirty="0"/>
              <a:t>Thread </a:t>
            </a:r>
            <a:r>
              <a:rPr lang="ko-KR" altLang="en-US" dirty="0"/>
              <a:t>생성 방식 통일</a:t>
            </a:r>
          </a:p>
          <a:p>
            <a:pPr lvl="1"/>
            <a:r>
              <a:rPr lang="en-US" altLang="ko-KR" dirty="0"/>
              <a:t>Event </a:t>
            </a:r>
            <a:r>
              <a:rPr lang="ko-KR" altLang="en-US" dirty="0"/>
              <a:t>생성 방식 통일</a:t>
            </a:r>
          </a:p>
          <a:p>
            <a:pPr lvl="1"/>
            <a:r>
              <a:rPr lang="en-US" altLang="ko-KR" dirty="0"/>
              <a:t>I/O </a:t>
            </a:r>
            <a:r>
              <a:rPr lang="ko-KR" altLang="en-US" dirty="0" err="1"/>
              <a:t>모델별</a:t>
            </a:r>
            <a:r>
              <a:rPr lang="ko-KR" altLang="en-US" dirty="0"/>
              <a:t> 구현에서 반복 제거</a:t>
            </a:r>
          </a:p>
          <a:p>
            <a:pPr lvl="1"/>
            <a:r>
              <a:rPr lang="en-US" altLang="ko-KR" dirty="0" err="1"/>
              <a:t>AsyncSelect</a:t>
            </a:r>
            <a:r>
              <a:rPr lang="en-US" altLang="ko-KR" dirty="0"/>
              <a:t> / </a:t>
            </a:r>
            <a:r>
              <a:rPr lang="en-US" altLang="ko-KR" dirty="0" err="1"/>
              <a:t>EventSelect</a:t>
            </a:r>
            <a:r>
              <a:rPr lang="en-US" altLang="ko-KR" dirty="0"/>
              <a:t> / IOCP</a:t>
            </a:r>
            <a:r>
              <a:rPr lang="ko-KR" altLang="en-US" dirty="0"/>
              <a:t>에서 사용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구현 내용</a:t>
            </a:r>
            <a:endParaRPr lang="en-US" altLang="ko-KR" dirty="0"/>
          </a:p>
          <a:p>
            <a:pPr lvl="1"/>
            <a:r>
              <a:rPr lang="en-US" altLang="ko-KR" dirty="0"/>
              <a:t>Thread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→ </a:t>
            </a:r>
            <a:r>
              <a:rPr lang="en-US" altLang="ko-KR" sz="2000" dirty="0"/>
              <a:t>Create / End / Close / Resume / Suspend / Wait</a:t>
            </a:r>
          </a:p>
          <a:p>
            <a:pPr lvl="1"/>
            <a:r>
              <a:rPr lang="en-US" altLang="ko-KR" dirty="0"/>
              <a:t>Event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→ </a:t>
            </a:r>
            <a:r>
              <a:rPr lang="en-US" altLang="ko-KR" sz="2000" dirty="0"/>
              <a:t>Create / Close / Resume / Suspend / Wait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556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 </a:t>
            </a:r>
            <a:r>
              <a:rPr lang="en-US" altLang="ko-KR" dirty="0" err="1"/>
              <a:t>WSAEvent</a:t>
            </a:r>
            <a:r>
              <a:rPr lang="en-US" altLang="ko-KR" dirty="0"/>
              <a:t> / IOCP </a:t>
            </a:r>
            <a:r>
              <a:rPr lang="ko-KR" altLang="en-US" dirty="0"/>
              <a:t>공통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내용</a:t>
            </a:r>
          </a:p>
          <a:p>
            <a:pPr lvl="1"/>
            <a:r>
              <a:rPr lang="en-US" altLang="ko-KR" dirty="0" err="1"/>
              <a:t>EventSelect</a:t>
            </a:r>
            <a:r>
              <a:rPr lang="en-US" altLang="ko-KR" dirty="0"/>
              <a:t> </a:t>
            </a:r>
            <a:r>
              <a:rPr lang="ko-KR" altLang="en-US" dirty="0"/>
              <a:t>구현을 위한 </a:t>
            </a:r>
            <a:r>
              <a:rPr lang="en-US" altLang="ko-KR" dirty="0" err="1"/>
              <a:t>WSAEvent</a:t>
            </a:r>
            <a:r>
              <a:rPr lang="en-US" altLang="ko-KR" dirty="0"/>
              <a:t> </a:t>
            </a:r>
            <a:r>
              <a:rPr lang="ko-KR" altLang="en-US" dirty="0" err="1"/>
              <a:t>래핑</a:t>
            </a:r>
            <a:endParaRPr lang="ko-KR" altLang="en-US" dirty="0"/>
          </a:p>
          <a:p>
            <a:pPr lvl="1"/>
            <a:r>
              <a:rPr lang="en-US" altLang="ko-KR" dirty="0"/>
              <a:t>IOCP </a:t>
            </a:r>
            <a:r>
              <a:rPr lang="ko-KR" altLang="en-US" dirty="0"/>
              <a:t>구현을 위한 </a:t>
            </a:r>
            <a:r>
              <a:rPr lang="en-US" altLang="ko-KR" dirty="0"/>
              <a:t>Completion Port </a:t>
            </a:r>
            <a:r>
              <a:rPr lang="ko-KR" altLang="en-US" dirty="0" err="1"/>
              <a:t>래핑</a:t>
            </a:r>
            <a:endParaRPr lang="ko-KR" altLang="en-US" dirty="0"/>
          </a:p>
          <a:p>
            <a:pPr lvl="1"/>
            <a:r>
              <a:rPr lang="en-US" altLang="ko-KR" dirty="0"/>
              <a:t>API </a:t>
            </a:r>
            <a:r>
              <a:rPr lang="ko-KR" altLang="en-US" dirty="0"/>
              <a:t>호출 위치 분산 방지</a:t>
            </a:r>
          </a:p>
          <a:p>
            <a:pPr lvl="1"/>
            <a:r>
              <a:rPr lang="en-US" altLang="ko-KR" dirty="0"/>
              <a:t>I/O </a:t>
            </a:r>
            <a:r>
              <a:rPr lang="ko-KR" altLang="en-US" dirty="0" err="1"/>
              <a:t>모델별</a:t>
            </a:r>
            <a:r>
              <a:rPr lang="ko-KR" altLang="en-US" dirty="0"/>
              <a:t> 클래스는 흐름만 담당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WSA wrapping </a:t>
            </a:r>
            <a:r>
              <a:rPr lang="ko-KR" altLang="en-US" dirty="0"/>
              <a:t>구현 내용</a:t>
            </a:r>
            <a:endParaRPr lang="en-US" altLang="ko-KR" dirty="0"/>
          </a:p>
          <a:p>
            <a:pPr lvl="1"/>
            <a:r>
              <a:rPr lang="en-US" altLang="ko-KR" dirty="0" err="1"/>
              <a:t>WSAEventCreate</a:t>
            </a:r>
            <a:r>
              <a:rPr lang="en-US" altLang="ko-KR" dirty="0"/>
              <a:t> / </a:t>
            </a:r>
            <a:r>
              <a:rPr lang="en-US" altLang="ko-KR" dirty="0" err="1"/>
              <a:t>WSAEventClose</a:t>
            </a:r>
            <a:endParaRPr lang="en-US" altLang="ko-KR" dirty="0"/>
          </a:p>
          <a:p>
            <a:pPr lvl="1"/>
            <a:r>
              <a:rPr lang="en-US" altLang="ko-KR" dirty="0" err="1"/>
              <a:t>WSAEventSelect</a:t>
            </a:r>
            <a:endParaRPr lang="en-US" altLang="ko-KR" dirty="0"/>
          </a:p>
          <a:p>
            <a:pPr lvl="1"/>
            <a:r>
              <a:rPr lang="en-US" altLang="ko-KR" dirty="0" err="1"/>
              <a:t>WSAEventWaits</a:t>
            </a:r>
            <a:r>
              <a:rPr lang="en-US" altLang="ko-KR" dirty="0"/>
              <a:t> / </a:t>
            </a:r>
            <a:r>
              <a:rPr lang="en-US" altLang="ko-KR" dirty="0" err="1"/>
              <a:t>WSAEventEnum</a:t>
            </a:r>
            <a:endParaRPr lang="en-US" altLang="ko-KR" dirty="0"/>
          </a:p>
          <a:p>
            <a:pPr lvl="1"/>
            <a:r>
              <a:rPr lang="en-US" altLang="ko-KR" dirty="0" err="1"/>
              <a:t>GetSystemProcessNumber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7841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2.6 Packet / </a:t>
            </a:r>
            <a:r>
              <a:rPr lang="en-US" altLang="ko-KR" dirty="0" err="1"/>
              <a:t>RingBuffer</a:t>
            </a:r>
            <a:r>
              <a:rPr lang="en-US" altLang="ko-KR" dirty="0"/>
              <a:t> </a:t>
            </a:r>
            <a:r>
              <a:rPr lang="ko-KR" altLang="en-US" dirty="0"/>
              <a:t>라이브러리화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설계 방향</a:t>
            </a:r>
          </a:p>
          <a:p>
            <a:pPr lvl="1"/>
            <a:r>
              <a:rPr lang="en-US" altLang="ko-KR" dirty="0"/>
              <a:t>Send / Recv</a:t>
            </a:r>
            <a:r>
              <a:rPr lang="ko-KR" altLang="en-US" dirty="0"/>
              <a:t>는 문자열 전송이 아니라 패킷 전송</a:t>
            </a:r>
          </a:p>
          <a:p>
            <a:pPr lvl="1"/>
            <a:r>
              <a:rPr lang="ko-KR" altLang="en-US" dirty="0"/>
              <a:t>패킷 구조를 모든 모델에서 동일하게 사용</a:t>
            </a:r>
          </a:p>
          <a:p>
            <a:pPr lvl="1"/>
            <a:r>
              <a:rPr lang="en-US" altLang="ko-KR" dirty="0" err="1"/>
              <a:t>rbSnd</a:t>
            </a:r>
            <a:r>
              <a:rPr lang="ko-KR" altLang="en-US" dirty="0"/>
              <a:t>는 보낼 패킷 보관</a:t>
            </a:r>
          </a:p>
          <a:p>
            <a:pPr lvl="1"/>
            <a:r>
              <a:rPr lang="en-US" altLang="ko-KR" dirty="0" err="1"/>
              <a:t>rbRcv</a:t>
            </a:r>
            <a:r>
              <a:rPr lang="ko-KR" altLang="en-US" dirty="0"/>
              <a:t>는 받은 패킷 보관</a:t>
            </a:r>
          </a:p>
          <a:p>
            <a:pPr lvl="1"/>
            <a:r>
              <a:rPr lang="ko-KR" altLang="en-US" dirty="0"/>
              <a:t>패킷 </a:t>
            </a:r>
            <a:r>
              <a:rPr lang="en-US" altLang="ko-KR" dirty="0"/>
              <a:t>Encode / Decode</a:t>
            </a:r>
            <a:r>
              <a:rPr lang="ko-KR" altLang="en-US" dirty="0"/>
              <a:t>를 </a:t>
            </a:r>
            <a:r>
              <a:rPr lang="en-US" altLang="ko-KR" dirty="0" err="1"/>
              <a:t>LcNetUtil</a:t>
            </a:r>
            <a:r>
              <a:rPr lang="ko-KR" altLang="en-US" dirty="0"/>
              <a:t>로 분리</a:t>
            </a:r>
          </a:p>
          <a:p>
            <a:endParaRPr lang="en-US" altLang="ko-KR" dirty="0"/>
          </a:p>
          <a:p>
            <a:r>
              <a:rPr lang="ko-KR" altLang="en-US" dirty="0"/>
              <a:t>구현 내용</a:t>
            </a:r>
            <a:endParaRPr lang="en-US" altLang="ko-KR" dirty="0"/>
          </a:p>
          <a:p>
            <a:pPr lvl="1"/>
            <a:r>
              <a:rPr lang="en-US" altLang="ko-KR" dirty="0"/>
              <a:t>Encode / </a:t>
            </a:r>
            <a:r>
              <a:rPr lang="en-US" altLang="ko-KR" dirty="0" err="1"/>
              <a:t>PacketDecode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31390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 Packet </a:t>
            </a:r>
            <a:r>
              <a:rPr lang="ko-KR" altLang="en-US" dirty="0"/>
              <a:t>처리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내용</a:t>
            </a:r>
          </a:p>
          <a:p>
            <a:pPr lvl="1"/>
            <a:r>
              <a:rPr lang="ko-KR" altLang="en-US" dirty="0"/>
              <a:t>모든 네트워크 모델이 같은 패킷 구조 사용</a:t>
            </a:r>
          </a:p>
          <a:p>
            <a:pPr lvl="1"/>
            <a:r>
              <a:rPr lang="en-US" altLang="ko-KR" dirty="0"/>
              <a:t>Send</a:t>
            </a:r>
            <a:r>
              <a:rPr lang="ko-KR" altLang="en-US" dirty="0"/>
              <a:t>는 원본 메시지를 패킷으로 변환</a:t>
            </a:r>
          </a:p>
          <a:p>
            <a:pPr lvl="1"/>
            <a:r>
              <a:rPr lang="en-US" altLang="ko-KR" dirty="0"/>
              <a:t>Recv</a:t>
            </a:r>
            <a:r>
              <a:rPr lang="ko-KR" altLang="en-US" dirty="0"/>
              <a:t>는 패킷에서 메시지 복원</a:t>
            </a:r>
          </a:p>
          <a:p>
            <a:pPr lvl="1"/>
            <a:r>
              <a:rPr lang="ko-KR" altLang="en-US" dirty="0"/>
              <a:t>메시지 종류 </a:t>
            </a:r>
            <a:r>
              <a:rPr lang="en-US" altLang="ko-KR" dirty="0" err="1"/>
              <a:t>dMsg</a:t>
            </a:r>
            <a:r>
              <a:rPr lang="ko-KR" altLang="en-US" dirty="0"/>
              <a:t>로 구분</a:t>
            </a:r>
          </a:p>
          <a:p>
            <a:pPr lvl="1"/>
            <a:r>
              <a:rPr lang="en-US" altLang="ko-KR" dirty="0"/>
              <a:t>TCP </a:t>
            </a:r>
            <a:r>
              <a:rPr lang="ko-KR" altLang="en-US" dirty="0"/>
              <a:t>스트림 위에 메시지 경계 생성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5104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705D-DF81-D3A7-686F-3878993C9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10CD-F612-3434-AE9A-9367E3A8F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2.8 Packet </a:t>
            </a:r>
            <a:r>
              <a:rPr lang="ko-KR" altLang="en-US" dirty="0"/>
              <a:t>처리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2AA7F8-C884-1B8B-CF9E-C1CBE4DD8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7C7DB10-366A-4837-E1C6-F6B62F817B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0FB115-9D7A-E1F5-77E6-8A2425FF1CE8}"/>
              </a:ext>
            </a:extLst>
          </p:cNvPr>
          <p:cNvSpPr txBox="1"/>
          <p:nvPr/>
        </p:nvSpPr>
        <p:spPr>
          <a:xfrm>
            <a:off x="755576" y="701584"/>
            <a:ext cx="7776864" cy="552301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540000" tIns="108000" rIns="540000" bIns="180000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응용 계층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Data]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LcNet_PacketEncode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9900FF"/>
                </a:solidFill>
                <a:effectLst/>
                <a:latin typeface="Consolas" panose="020B0609020204030204" pitchFamily="49" charset="0"/>
              </a:rPr>
              <a:t>[Length 2][Kind 4][Message N][Tail 4]</a:t>
            </a:r>
            <a:br>
              <a:rPr lang="en-US" altLang="ko-KR" sz="2000" b="1" i="0" u="none" strike="noStrike" dirty="0">
                <a:solidFill>
                  <a:srgbClr val="9900FF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rbSnd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rbRcv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LcNet_PacketDecode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응용 계층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Data + Message Kind]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34425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2.9 </a:t>
            </a:r>
            <a:r>
              <a:rPr lang="en-US" altLang="ko-KR" dirty="0" err="1"/>
              <a:t>TRingBuf</a:t>
            </a:r>
            <a:r>
              <a:rPr lang="en-US" altLang="ko-KR" dirty="0"/>
              <a:t> </a:t>
            </a:r>
            <a:r>
              <a:rPr lang="ko-KR" altLang="en-US" dirty="0"/>
              <a:t>처리 위치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TCP recv </a:t>
            </a:r>
            <a:r>
              <a:rPr lang="ko-KR" altLang="en-US" dirty="0"/>
              <a:t>결과 임시 저장</a:t>
            </a:r>
          </a:p>
          <a:p>
            <a:pPr lvl="1"/>
            <a:r>
              <a:rPr lang="ko-KR" altLang="en-US" dirty="0"/>
              <a:t>완성된 패킷 단위 </a:t>
            </a:r>
            <a:r>
              <a:rPr lang="en-US" altLang="ko-KR" dirty="0" err="1"/>
              <a:t>PopFront</a:t>
            </a:r>
            <a:endParaRPr lang="en-US" altLang="ko-KR" dirty="0"/>
          </a:p>
          <a:p>
            <a:pPr lvl="1"/>
            <a:r>
              <a:rPr lang="ko-KR" altLang="en-US" dirty="0"/>
              <a:t>헤더 길이 기반 패킷 크기 확인</a:t>
            </a:r>
          </a:p>
          <a:p>
            <a:pPr lvl="1"/>
            <a:r>
              <a:rPr lang="en-US" altLang="ko-KR" dirty="0"/>
              <a:t>Send </a:t>
            </a:r>
            <a:r>
              <a:rPr lang="ko-KR" altLang="en-US" dirty="0"/>
              <a:t>요청을 </a:t>
            </a:r>
            <a:r>
              <a:rPr lang="en-US" altLang="ko-KR" dirty="0" err="1"/>
              <a:t>rbSnd</a:t>
            </a:r>
            <a:r>
              <a:rPr lang="ko-KR" altLang="en-US" dirty="0"/>
              <a:t>에 보관 후 실제 전송</a:t>
            </a:r>
          </a:p>
          <a:p>
            <a:pPr lvl="1"/>
            <a:r>
              <a:rPr lang="en-US" altLang="ko-KR" dirty="0"/>
              <a:t>Select / </a:t>
            </a:r>
            <a:r>
              <a:rPr lang="en-US" altLang="ko-KR" dirty="0" err="1"/>
              <a:t>AsyncSelect</a:t>
            </a:r>
            <a:r>
              <a:rPr lang="en-US" altLang="ko-KR" dirty="0"/>
              <a:t> / </a:t>
            </a:r>
            <a:r>
              <a:rPr lang="en-US" altLang="ko-KR" dirty="0" err="1"/>
              <a:t>EventSelect</a:t>
            </a:r>
            <a:r>
              <a:rPr lang="en-US" altLang="ko-KR" dirty="0"/>
              <a:t> / IOCP </a:t>
            </a:r>
            <a:r>
              <a:rPr lang="ko-KR" altLang="en-US" dirty="0"/>
              <a:t>공통 버퍼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1832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3B834-F5EA-2E60-C9E8-02A6674FB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03E6B9-AC17-0730-CE1E-A27AAC020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2.10 </a:t>
            </a:r>
            <a:r>
              <a:rPr lang="en-US" altLang="ko-KR" dirty="0" err="1"/>
              <a:t>TRingBuf</a:t>
            </a:r>
            <a:r>
              <a:rPr lang="en-US" altLang="ko-KR" dirty="0"/>
              <a:t> </a:t>
            </a:r>
            <a:r>
              <a:rPr lang="ko-KR" altLang="en-US" dirty="0"/>
              <a:t>처리 위치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1E5A29-93E8-2B3F-EAA9-97EF21908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링 버퍼 </a:t>
            </a:r>
            <a:r>
              <a:rPr lang="en-US" altLang="ko-KR" sz="2000" dirty="0"/>
              <a:t>push /pop</a:t>
            </a:r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BB206-BFAC-26EB-CA52-31204CB85B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DBAC87-7B66-4D0D-0EC5-1EB3E5EAFF4D}"/>
              </a:ext>
            </a:extLst>
          </p:cNvPr>
          <p:cNvSpPr txBox="1"/>
          <p:nvPr/>
        </p:nvSpPr>
        <p:spPr>
          <a:xfrm>
            <a:off x="4483846" y="1548656"/>
            <a:ext cx="4408633" cy="461664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TRingBuf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PopFront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(BYTE*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pDst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WORD* iSize)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BYTE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[PCK_BUF_HEAD] = 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T = F;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WORD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*(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= *(B + T);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++T;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T %= W;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*(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= *(B + T);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++T;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T %= W;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*((WORD*)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&gt; S ||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패킷 복사 후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이동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8D4E88-AD44-FCCA-A206-CCAFD536111A}"/>
              </a:ext>
            </a:extLst>
          </p:cNvPr>
          <p:cNvSpPr txBox="1"/>
          <p:nvPr/>
        </p:nvSpPr>
        <p:spPr>
          <a:xfrm>
            <a:off x="107504" y="1548656"/>
            <a:ext cx="4248472" cy="310854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TRingBuf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PushBack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(BYTE*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pSrc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iSize)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 &lt; (iSize + S))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iSize;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while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*(B + L) = *(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pSrc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++);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++L;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L %= W;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S += iSize;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46780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</a:t>
            </a:r>
            <a:r>
              <a:rPr lang="ko-KR" altLang="en-US" dirty="0"/>
              <a:t>추상화</a:t>
            </a:r>
            <a:r>
              <a:rPr lang="en-US" altLang="ko-KR" dirty="0"/>
              <a:t> </a:t>
            </a:r>
            <a:r>
              <a:rPr lang="en-US" altLang="ko-KR" dirty="0" err="1"/>
              <a:t>ILcNet</a:t>
            </a:r>
            <a:r>
              <a:rPr lang="en-US" altLang="ko-KR" dirty="0"/>
              <a:t>: </a:t>
            </a:r>
            <a:r>
              <a:rPr lang="en-US" altLang="ko-KR" dirty="0" err="1"/>
              <a:t>ILcNet</a:t>
            </a:r>
            <a:r>
              <a:rPr lang="en-US" altLang="ko-KR" dirty="0"/>
              <a:t> </a:t>
            </a:r>
            <a:r>
              <a:rPr lang="ko-KR" altLang="en-US" dirty="0"/>
              <a:t>추상화 목적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설계 방향</a:t>
            </a:r>
          </a:p>
          <a:p>
            <a:pPr lvl="1"/>
            <a:r>
              <a:rPr lang="en-US" altLang="ko-KR" sz="2000" dirty="0"/>
              <a:t>Select / </a:t>
            </a:r>
            <a:r>
              <a:rPr lang="en-US" altLang="ko-KR" sz="2000" dirty="0" err="1"/>
              <a:t>AsyncSelect</a:t>
            </a:r>
            <a:r>
              <a:rPr lang="en-US" altLang="ko-KR" sz="2000" dirty="0"/>
              <a:t> / </a:t>
            </a:r>
            <a:r>
              <a:rPr lang="en-US" altLang="ko-KR" sz="2000" dirty="0" err="1"/>
              <a:t>EventSelect</a:t>
            </a:r>
            <a:r>
              <a:rPr lang="en-US" altLang="ko-KR" sz="2000" dirty="0"/>
              <a:t> / IOCP </a:t>
            </a:r>
            <a:r>
              <a:rPr lang="ko-KR" altLang="en-US" sz="2000" dirty="0"/>
              <a:t>사용법 다름</a:t>
            </a:r>
          </a:p>
          <a:p>
            <a:pPr lvl="1"/>
            <a:r>
              <a:rPr lang="ko-KR" altLang="en-US" sz="2000" dirty="0"/>
              <a:t>하지만 응용 계층 </a:t>
            </a:r>
            <a:r>
              <a:rPr lang="ko-KR" altLang="en-US" sz="2000" dirty="0" err="1"/>
              <a:t>입여기서는</a:t>
            </a:r>
            <a:r>
              <a:rPr lang="ko-KR" altLang="en-US" sz="2000" dirty="0"/>
              <a:t> 같은 기능 필요</a:t>
            </a:r>
          </a:p>
          <a:p>
            <a:pPr lvl="1"/>
            <a:r>
              <a:rPr lang="en-US" altLang="ko-KR" sz="2000" dirty="0"/>
              <a:t>Create / Destroy</a:t>
            </a:r>
          </a:p>
          <a:p>
            <a:pPr lvl="1"/>
            <a:r>
              <a:rPr lang="en-US" altLang="ko-KR" sz="2000" dirty="0"/>
              <a:t>Listen / Connect</a:t>
            </a:r>
          </a:p>
          <a:p>
            <a:pPr lvl="1"/>
            <a:r>
              <a:rPr lang="en-US" altLang="ko-KR" sz="2000" dirty="0"/>
              <a:t>Send / Recv</a:t>
            </a:r>
          </a:p>
          <a:p>
            <a:pPr lvl="1"/>
            <a:r>
              <a:rPr lang="en-US" altLang="ko-KR" sz="2000" dirty="0" err="1"/>
              <a:t>FrameMove</a:t>
            </a:r>
            <a:r>
              <a:rPr lang="en-US" altLang="ko-KR" sz="2000" dirty="0"/>
              <a:t> (Update)</a:t>
            </a:r>
          </a:p>
          <a:p>
            <a:pPr lvl="1"/>
            <a:r>
              <a:rPr lang="ko-KR" altLang="en-US" sz="2000" dirty="0"/>
              <a:t>이 공통 사용 규칙을 </a:t>
            </a:r>
            <a:r>
              <a:rPr lang="en-US" altLang="ko-KR" sz="2000" dirty="0" err="1"/>
              <a:t>ILcNet</a:t>
            </a:r>
            <a:r>
              <a:rPr lang="ko-KR" altLang="en-US" sz="2000" dirty="0"/>
              <a:t>으로 추상화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응용 계층이 원하는 기능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D2876-516C-18BB-10B3-B1BAE89F7A79}"/>
              </a:ext>
            </a:extLst>
          </p:cNvPr>
          <p:cNvSpPr txBox="1"/>
          <p:nvPr/>
        </p:nvSpPr>
        <p:spPr>
          <a:xfrm>
            <a:off x="4283968" y="3981199"/>
            <a:ext cx="2880320" cy="258532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Create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Listen / Connect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 / Recv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FrameMove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Destroy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추상화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ILcNet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4518541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 </a:t>
            </a:r>
            <a:r>
              <a:rPr lang="en-US" altLang="ko-KR" dirty="0" err="1"/>
              <a:t>ILcNet</a:t>
            </a:r>
            <a:r>
              <a:rPr lang="en-US" altLang="ko-KR" dirty="0"/>
              <a:t> </a:t>
            </a:r>
            <a:r>
              <a:rPr lang="ko-KR" altLang="en-US" dirty="0"/>
              <a:t>원본 코드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구현 내용</a:t>
            </a:r>
          </a:p>
          <a:p>
            <a:pPr lvl="1"/>
            <a:r>
              <a:rPr lang="ko-KR" altLang="en-US" sz="2000" dirty="0"/>
              <a:t>순수 가상 함수</a:t>
            </a:r>
          </a:p>
          <a:p>
            <a:pPr lvl="1"/>
            <a:r>
              <a:rPr lang="en-US" altLang="ko-KR" sz="2000" dirty="0"/>
              <a:t>Network </a:t>
            </a:r>
            <a:r>
              <a:rPr lang="ko-KR" altLang="en-US" sz="2000" dirty="0"/>
              <a:t>사용 규칙</a:t>
            </a:r>
          </a:p>
          <a:p>
            <a:pPr lvl="1"/>
            <a:r>
              <a:rPr lang="ko-KR" altLang="en-US" sz="2000" dirty="0"/>
              <a:t>구현 모델을 감추는 경계</a:t>
            </a:r>
          </a:p>
          <a:p>
            <a:pPr lvl="1"/>
            <a:r>
              <a:rPr lang="en-US" altLang="ko-KR" sz="2000" dirty="0" err="1"/>
              <a:t>AsyncSelect</a:t>
            </a:r>
            <a:r>
              <a:rPr lang="ko-KR" altLang="en-US" sz="2000" dirty="0"/>
              <a:t>용 </a:t>
            </a:r>
            <a:r>
              <a:rPr lang="en-US" altLang="ko-KR" sz="2000" dirty="0" err="1"/>
              <a:t>MsgProc</a:t>
            </a:r>
            <a:r>
              <a:rPr lang="ko-KR" altLang="en-US" sz="2000" dirty="0"/>
              <a:t>까지 포함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CC8679-E9A9-19EB-77AE-2DE730AD5254}"/>
              </a:ext>
            </a:extLst>
          </p:cNvPr>
          <p:cNvSpPr txBox="1"/>
          <p:nvPr/>
        </p:nvSpPr>
        <p:spPr>
          <a:xfrm>
            <a:off x="1115616" y="2780928"/>
            <a:ext cx="6696744" cy="369331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interface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ILcNet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Destroy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FrameMove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Close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Listen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Connect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(...)=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Send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Recv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LRESULT </a:t>
            </a:r>
            <a:r>
              <a:rPr lang="en-US" altLang="ko-KR" sz="18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MsgProc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endParaRPr lang="ko-KR" altLang="en-US" sz="18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989360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ILcNet</a:t>
            </a:r>
            <a:r>
              <a:rPr lang="en-US" altLang="ko-KR" dirty="0"/>
              <a:t> </a:t>
            </a:r>
            <a:r>
              <a:rPr lang="ko-KR" altLang="en-US" dirty="0"/>
              <a:t>기능 단위 추상화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설계 방향</a:t>
            </a:r>
          </a:p>
          <a:p>
            <a:pPr lvl="1"/>
            <a:r>
              <a:rPr lang="en-US" altLang="ko-KR" dirty="0"/>
              <a:t>Create </a:t>
            </a:r>
            <a:r>
              <a:rPr lang="ko-KR" altLang="en-US" dirty="0"/>
              <a:t>→</a:t>
            </a:r>
            <a:r>
              <a:rPr lang="en-US" altLang="ko-KR" dirty="0"/>
              <a:t> </a:t>
            </a:r>
            <a:r>
              <a:rPr lang="ko-KR" altLang="en-US" dirty="0"/>
              <a:t>라이브러리 객체 생성과 준비</a:t>
            </a:r>
          </a:p>
          <a:p>
            <a:pPr lvl="1"/>
            <a:r>
              <a:rPr lang="en-US" altLang="ko-KR" dirty="0"/>
              <a:t>Listen </a:t>
            </a:r>
            <a:r>
              <a:rPr lang="ko-KR" altLang="en-US" dirty="0"/>
              <a:t>→ 서버 역할 시작</a:t>
            </a:r>
          </a:p>
          <a:p>
            <a:pPr lvl="1"/>
            <a:r>
              <a:rPr lang="en-US" altLang="ko-KR" dirty="0"/>
              <a:t>Connect </a:t>
            </a:r>
            <a:r>
              <a:rPr lang="ko-KR" altLang="en-US" dirty="0"/>
              <a:t>→ 클라이언트 역할 시작</a:t>
            </a:r>
          </a:p>
          <a:p>
            <a:pPr lvl="1"/>
            <a:r>
              <a:rPr lang="en-US" altLang="ko-KR" dirty="0"/>
              <a:t>Send </a:t>
            </a:r>
            <a:r>
              <a:rPr lang="ko-KR" altLang="en-US" dirty="0"/>
              <a:t>→ 패킷 송신 요청</a:t>
            </a:r>
          </a:p>
          <a:p>
            <a:pPr lvl="1"/>
            <a:r>
              <a:rPr lang="en-US" altLang="ko-KR" dirty="0"/>
              <a:t>Recv </a:t>
            </a:r>
            <a:r>
              <a:rPr lang="ko-KR" altLang="en-US" dirty="0"/>
              <a:t>→ 수신 패킷 꺼내기</a:t>
            </a:r>
          </a:p>
          <a:p>
            <a:pPr lvl="1"/>
            <a:r>
              <a:rPr lang="en-US" altLang="ko-KR" dirty="0" err="1"/>
              <a:t>FrameMove</a:t>
            </a:r>
            <a:r>
              <a:rPr lang="en-US" altLang="ko-KR" dirty="0"/>
              <a:t> </a:t>
            </a:r>
            <a:r>
              <a:rPr lang="ko-KR" altLang="en-US" dirty="0"/>
              <a:t>→ 네트워크 </a:t>
            </a:r>
            <a:r>
              <a:rPr lang="en-US" altLang="ko-KR" dirty="0"/>
              <a:t>I/O </a:t>
            </a:r>
            <a:r>
              <a:rPr lang="ko-KR" altLang="en-US" dirty="0"/>
              <a:t>갱신</a:t>
            </a:r>
          </a:p>
          <a:p>
            <a:pPr lvl="1"/>
            <a:r>
              <a:rPr lang="en-US" altLang="ko-KR" dirty="0" err="1"/>
              <a:t>MsgProc</a:t>
            </a:r>
            <a:r>
              <a:rPr lang="en-US" altLang="ko-KR" dirty="0"/>
              <a:t> </a:t>
            </a:r>
            <a:r>
              <a:rPr lang="ko-KR" altLang="en-US" dirty="0"/>
              <a:t>→ </a:t>
            </a:r>
            <a:r>
              <a:rPr lang="en-US" altLang="ko-KR" dirty="0" err="1"/>
              <a:t>AsyncSelect</a:t>
            </a:r>
            <a:r>
              <a:rPr lang="en-US" altLang="ko-KR" dirty="0"/>
              <a:t> </a:t>
            </a:r>
            <a:r>
              <a:rPr lang="ko-KR" altLang="en-US" dirty="0"/>
              <a:t>메시지 처리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확인 사항</a:t>
            </a:r>
          </a:p>
          <a:p>
            <a:pPr lvl="1"/>
            <a:r>
              <a:rPr lang="en-US" altLang="ko-KR" dirty="0"/>
              <a:t>WinSock </a:t>
            </a:r>
            <a:r>
              <a:rPr lang="ko-KR" altLang="en-US" dirty="0"/>
              <a:t>함수 이름을 그대로 노출하지 않음</a:t>
            </a:r>
          </a:p>
          <a:p>
            <a:pPr lvl="1"/>
            <a:r>
              <a:rPr lang="ko-KR" altLang="en-US" dirty="0"/>
              <a:t>네트워크 라이브러리 관점의 동작으로 추상화</a:t>
            </a:r>
          </a:p>
          <a:p>
            <a:pPr lvl="1"/>
            <a:r>
              <a:rPr lang="ko-KR" altLang="en-US" dirty="0"/>
              <a:t>내부 구현은 </a:t>
            </a:r>
            <a:r>
              <a:rPr lang="en-US" altLang="ko-KR" dirty="0"/>
              <a:t>I/O </a:t>
            </a:r>
            <a:r>
              <a:rPr lang="ko-KR" altLang="en-US" dirty="0" err="1"/>
              <a:t>모델별</a:t>
            </a:r>
            <a:r>
              <a:rPr lang="ko-KR" altLang="en-US" dirty="0"/>
              <a:t> 클래스가 담당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47202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3.4 Factory </a:t>
            </a:r>
            <a:r>
              <a:rPr lang="ko-KR" altLang="en-US" dirty="0"/>
              <a:t>함수 역할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설계 방향</a:t>
            </a:r>
          </a:p>
          <a:p>
            <a:pPr lvl="1"/>
            <a:r>
              <a:rPr lang="ko-KR" altLang="en-US" dirty="0"/>
              <a:t>문자열로 구현 모델 선택</a:t>
            </a:r>
          </a:p>
          <a:p>
            <a:pPr lvl="1"/>
            <a:r>
              <a:rPr lang="ko-KR" altLang="en-US" dirty="0"/>
              <a:t>생성 결과는 </a:t>
            </a:r>
            <a:r>
              <a:rPr lang="en-US" altLang="ko-KR" dirty="0" err="1"/>
              <a:t>ILcNet</a:t>
            </a:r>
            <a:r>
              <a:rPr lang="en-US" altLang="ko-KR" dirty="0"/>
              <a:t>*</a:t>
            </a:r>
          </a:p>
          <a:p>
            <a:pPr lvl="1"/>
            <a:r>
              <a:rPr lang="ko-KR" altLang="en-US" dirty="0"/>
              <a:t>응용 계층은 실제 타입을 알 필요 없음</a:t>
            </a:r>
          </a:p>
          <a:p>
            <a:pPr lvl="1"/>
            <a:r>
              <a:rPr lang="ko-KR" altLang="en-US" dirty="0"/>
              <a:t>테스트와 교체가 쉬움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206B4F-2BCF-22AC-A600-3D85769E3940}"/>
              </a:ext>
            </a:extLst>
          </p:cNvPr>
          <p:cNvSpPr txBox="1"/>
          <p:nvPr/>
        </p:nvSpPr>
        <p:spPr>
          <a:xfrm>
            <a:off x="899592" y="3304441"/>
            <a:ext cx="4320480" cy="32932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LcNet_CreateTcpServerEx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sCmd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pData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p1,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IP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p2,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Port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v1,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Ex Value1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v2);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Ex Value2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LcNet_CreateTcpClientEx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sCmd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pData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p1,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p2,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v1,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v2);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37867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구체화 </a:t>
            </a:r>
            <a:r>
              <a:rPr lang="en-US" altLang="ko-KR" dirty="0"/>
              <a:t>1</a:t>
            </a:r>
            <a:r>
              <a:rPr lang="ko-KR" altLang="en-US" dirty="0"/>
              <a:t>단계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 err="1"/>
              <a:t>CLcNet</a:t>
            </a:r>
            <a:r>
              <a:rPr lang="en-US" altLang="ko-KR" dirty="0"/>
              <a:t> </a:t>
            </a:r>
            <a:r>
              <a:rPr lang="ko-KR" altLang="en-US" dirty="0"/>
              <a:t>공통 기반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설계 방향</a:t>
            </a:r>
          </a:p>
          <a:p>
            <a:pPr lvl="1"/>
            <a:r>
              <a:rPr lang="en-US" altLang="ko-KR" dirty="0" err="1"/>
              <a:t>ILcNet</a:t>
            </a:r>
            <a:r>
              <a:rPr lang="ko-KR" altLang="en-US" dirty="0"/>
              <a:t>을 직접 구현하는 기본 클래스</a:t>
            </a:r>
          </a:p>
          <a:p>
            <a:pPr lvl="1"/>
            <a:r>
              <a:rPr lang="ko-KR" altLang="en-US" dirty="0"/>
              <a:t>모든 모델이 공유하는 상태 보관</a:t>
            </a:r>
          </a:p>
          <a:p>
            <a:pPr lvl="1"/>
            <a:r>
              <a:rPr lang="ko-KR" altLang="en-US" dirty="0"/>
              <a:t>기본 함수는 </a:t>
            </a:r>
            <a:r>
              <a:rPr lang="en-US" altLang="ko-KR" dirty="0"/>
              <a:t>0 </a:t>
            </a:r>
            <a:r>
              <a:rPr lang="ko-KR" altLang="en-US" dirty="0"/>
              <a:t>또는 </a:t>
            </a:r>
            <a:r>
              <a:rPr lang="en-US" altLang="ko-KR" dirty="0"/>
              <a:t>-1 </a:t>
            </a:r>
            <a:r>
              <a:rPr lang="ko-KR" altLang="en-US" dirty="0"/>
              <a:t>반환</a:t>
            </a:r>
          </a:p>
          <a:p>
            <a:pPr lvl="1"/>
            <a:r>
              <a:rPr lang="ko-KR" altLang="en-US" dirty="0"/>
              <a:t>실제 구현은 파생 클래스에서 재정의</a:t>
            </a:r>
          </a:p>
          <a:p>
            <a:pPr lvl="1"/>
            <a:r>
              <a:rPr lang="en-US" altLang="ko-KR" dirty="0"/>
              <a:t>Thread wrapper </a:t>
            </a:r>
            <a:r>
              <a:rPr lang="ko-KR" altLang="en-US" dirty="0"/>
              <a:t>제공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0434C-AD34-74D6-7D91-F204430E7149}"/>
              </a:ext>
            </a:extLst>
          </p:cNvPr>
          <p:cNvSpPr txBox="1"/>
          <p:nvPr/>
        </p:nvSpPr>
        <p:spPr>
          <a:xfrm>
            <a:off x="395287" y="4005064"/>
            <a:ext cx="8424863" cy="224676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              </a:t>
            </a: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ILcNet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                ↑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              </a:t>
            </a:r>
            <a:r>
              <a:rPr lang="en-US" altLang="ko-KR" sz="2800" b="1" i="0" u="none" strike="noStrike" dirty="0" err="1">
                <a:solidFill>
                  <a:srgbClr val="9900FF"/>
                </a:solidFill>
                <a:effectLst/>
                <a:latin typeface="Consolas" panose="020B0609020204030204" pitchFamily="49" charset="0"/>
              </a:rPr>
              <a:t>CLcNet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                ↑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LcNetSlct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LcNetSlctA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LcNetSlctE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LcNetIocp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677709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CLcNet</a:t>
            </a:r>
            <a:r>
              <a:rPr lang="en-US" altLang="ko-KR" dirty="0"/>
              <a:t> </a:t>
            </a:r>
            <a:r>
              <a:rPr lang="ko-KR" altLang="en-US" dirty="0"/>
              <a:t>공통 상태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내용</a:t>
            </a:r>
          </a:p>
          <a:p>
            <a:pPr lvl="1"/>
            <a:r>
              <a:rPr lang="ko-KR" altLang="en-US" dirty="0"/>
              <a:t>소켓 핸들</a:t>
            </a:r>
          </a:p>
          <a:p>
            <a:pPr lvl="1"/>
            <a:r>
              <a:rPr lang="ko-KR" altLang="en-US" dirty="0"/>
              <a:t>서버</a:t>
            </a:r>
            <a:r>
              <a:rPr lang="en-US" altLang="ko-KR" dirty="0"/>
              <a:t>/</a:t>
            </a:r>
            <a:r>
              <a:rPr lang="ko-KR" altLang="en-US" dirty="0"/>
              <a:t>클라이언트 주소</a:t>
            </a:r>
          </a:p>
          <a:p>
            <a:pPr lvl="1"/>
            <a:r>
              <a:rPr lang="en-US" altLang="ko-KR" dirty="0"/>
              <a:t>IP / Port</a:t>
            </a:r>
            <a:endParaRPr lang="ko-KR" altLang="en-US" dirty="0"/>
          </a:p>
          <a:p>
            <a:pPr lvl="1"/>
            <a:r>
              <a:rPr lang="ko-KR" altLang="en-US" dirty="0"/>
              <a:t>프로토콜 타입</a:t>
            </a:r>
          </a:p>
          <a:p>
            <a:pPr lvl="1"/>
            <a:r>
              <a:rPr lang="ko-KR" altLang="en-US" dirty="0"/>
              <a:t>호스트 타입</a:t>
            </a:r>
          </a:p>
          <a:p>
            <a:pPr lvl="1"/>
            <a:r>
              <a:rPr lang="ko-KR" altLang="en-US" dirty="0"/>
              <a:t>연결 상태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C9A0F4-F976-02D3-0335-74863B2C9613}"/>
              </a:ext>
            </a:extLst>
          </p:cNvPr>
          <p:cNvSpPr txBox="1"/>
          <p:nvPr/>
        </p:nvSpPr>
        <p:spPr>
          <a:xfrm>
            <a:off x="4472161" y="1561673"/>
            <a:ext cx="4276552" cy="409342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1" i="0" u="none" strike="noStrike" dirty="0" err="1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ILcNet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protected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SOCKET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m_scH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{};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SOCKADDR_IN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m_sdH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m_sIp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m_sPt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m_PtcType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{};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m_HstType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{};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m_nThConn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{};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659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en-US" altLang="ko-KR" dirty="0" err="1"/>
              <a:t>CLcNet</a:t>
            </a:r>
            <a:r>
              <a:rPr lang="en-US" altLang="ko-KR" dirty="0"/>
              <a:t> enum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내용</a:t>
            </a:r>
          </a:p>
          <a:p>
            <a:pPr lvl="1"/>
            <a:r>
              <a:rPr lang="ko-KR" altLang="en-US" dirty="0"/>
              <a:t>프로토콜 추상화</a:t>
            </a:r>
          </a:p>
          <a:p>
            <a:pPr lvl="1"/>
            <a:r>
              <a:rPr lang="ko-KR" altLang="en-US" dirty="0"/>
              <a:t>호스트 역할 추상화</a:t>
            </a:r>
          </a:p>
          <a:p>
            <a:pPr lvl="1"/>
            <a:r>
              <a:rPr lang="ko-KR" altLang="en-US" dirty="0"/>
              <a:t>이벤트 종류 추상화</a:t>
            </a:r>
          </a:p>
          <a:p>
            <a:pPr lvl="1"/>
            <a:r>
              <a:rPr lang="ko-KR" altLang="en-US" dirty="0"/>
              <a:t>공용 상수 →</a:t>
            </a:r>
            <a:br>
              <a:rPr lang="en-US" altLang="ko-KR" dirty="0"/>
            </a:br>
            <a:r>
              <a:rPr lang="ko-KR" altLang="en-US" dirty="0"/>
              <a:t>파생 클래스에서 같이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D6B4B5-9ACE-51FC-0D9F-B44D4D4EA1C2}"/>
              </a:ext>
            </a:extLst>
          </p:cNvPr>
          <p:cNvSpPr txBox="1"/>
          <p:nvPr/>
        </p:nvSpPr>
        <p:spPr>
          <a:xfrm>
            <a:off x="5285174" y="879077"/>
            <a:ext cx="3463539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ELcNetPrtcl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NETPRT_NONE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NETPRT_TCP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NETPRT_UDP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ELcNetHstType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NETHST_NONE 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NETHST_CLIENT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NETHST_SERVER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ELcNetEventType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NETEVT_NONE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NETEVT_SEND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NETEVT_RECV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NETEVT_ACCP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NETEVT_CONN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NETEVT_CLOSE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9069439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en-US" altLang="ko-KR" dirty="0" err="1"/>
              <a:t>CLcNet</a:t>
            </a:r>
            <a:r>
              <a:rPr lang="en-US" altLang="ko-KR" dirty="0"/>
              <a:t> </a:t>
            </a:r>
            <a:r>
              <a:rPr lang="ko-KR" altLang="en-US" dirty="0"/>
              <a:t>기본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내용</a:t>
            </a:r>
          </a:p>
          <a:p>
            <a:pPr lvl="1"/>
            <a:r>
              <a:rPr lang="ko-KR" altLang="en-US" dirty="0"/>
              <a:t>공통 기반 클래스</a:t>
            </a:r>
          </a:p>
          <a:p>
            <a:pPr lvl="1"/>
            <a:r>
              <a:rPr lang="ko-KR" altLang="en-US" dirty="0"/>
              <a:t>실제 </a:t>
            </a:r>
            <a:r>
              <a:rPr lang="en-US" altLang="ko-KR" dirty="0"/>
              <a:t>I/O</a:t>
            </a:r>
            <a:r>
              <a:rPr lang="ko-KR" altLang="en-US" dirty="0"/>
              <a:t>는 하지 않음</a:t>
            </a:r>
          </a:p>
          <a:p>
            <a:pPr lvl="1"/>
            <a:r>
              <a:rPr lang="ko-KR" altLang="en-US" dirty="0"/>
              <a:t>인터페이스 구조 유지</a:t>
            </a:r>
          </a:p>
          <a:p>
            <a:pPr lvl="1"/>
            <a:r>
              <a:rPr lang="ko-KR" altLang="en-US" dirty="0"/>
              <a:t>파생 클래스 구현 강제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833557-EBC4-11E2-463C-3B5E51A82089}"/>
              </a:ext>
            </a:extLst>
          </p:cNvPr>
          <p:cNvSpPr txBox="1"/>
          <p:nvPr/>
        </p:nvSpPr>
        <p:spPr>
          <a:xfrm>
            <a:off x="4248150" y="692150"/>
            <a:ext cx="4572000" cy="569386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::Create(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p1,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p2,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p3,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p4)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::Destroy()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FrameMove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::Listen()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::Connect(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sIp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sPort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::Send(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pSrc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iSnd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DWORD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dMsg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SOCKET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scH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::Recv(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pDst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iRcv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DWORD*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dMsg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SOCKET*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scH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9652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Thread wrapper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내용</a:t>
            </a:r>
          </a:p>
          <a:p>
            <a:pPr lvl="1"/>
            <a:r>
              <a:rPr lang="en-US" altLang="ko-KR" dirty="0"/>
              <a:t>C </a:t>
            </a:r>
            <a:r>
              <a:rPr lang="ko-KR" altLang="en-US" dirty="0"/>
              <a:t>스타일 </a:t>
            </a:r>
            <a:r>
              <a:rPr lang="en-US" altLang="ko-KR" dirty="0"/>
              <a:t>Thread </a:t>
            </a:r>
            <a:r>
              <a:rPr lang="ko-KR" altLang="en-US" dirty="0"/>
              <a:t>함수와 </a:t>
            </a:r>
            <a:r>
              <a:rPr lang="en-US" altLang="ko-KR" dirty="0"/>
              <a:t>C++ </a:t>
            </a:r>
            <a:r>
              <a:rPr lang="ko-KR" altLang="en-US" dirty="0"/>
              <a:t>객체 연결</a:t>
            </a:r>
          </a:p>
          <a:p>
            <a:pPr lvl="1"/>
            <a:r>
              <a:rPr lang="en-US" altLang="ko-KR" dirty="0"/>
              <a:t>static </a:t>
            </a:r>
            <a:r>
              <a:rPr lang="ko-KR" altLang="en-US" dirty="0"/>
              <a:t>함수에서 객체 함수 호출</a:t>
            </a:r>
          </a:p>
          <a:p>
            <a:pPr lvl="1"/>
            <a:r>
              <a:rPr lang="en-US" altLang="ko-KR" dirty="0" err="1"/>
              <a:t>ProcRecv</a:t>
            </a:r>
            <a:r>
              <a:rPr lang="en-US" altLang="ko-KR" dirty="0"/>
              <a:t> / </a:t>
            </a:r>
            <a:r>
              <a:rPr lang="en-US" altLang="ko-KR" dirty="0" err="1"/>
              <a:t>ProcSend</a:t>
            </a:r>
            <a:r>
              <a:rPr lang="en-US" altLang="ko-KR" dirty="0"/>
              <a:t> / </a:t>
            </a:r>
            <a:r>
              <a:rPr lang="en-US" altLang="ko-KR" dirty="0" err="1"/>
              <a:t>ProcAccp</a:t>
            </a:r>
            <a:r>
              <a:rPr lang="en-US" altLang="ko-KR" dirty="0"/>
              <a:t> / </a:t>
            </a:r>
            <a:r>
              <a:rPr lang="en-US" altLang="ko-KR" dirty="0" err="1"/>
              <a:t>ProcWork</a:t>
            </a:r>
            <a:r>
              <a:rPr lang="en-US" altLang="ko-KR" dirty="0"/>
              <a:t> </a:t>
            </a:r>
            <a:r>
              <a:rPr lang="ko-KR" altLang="en-US" dirty="0"/>
              <a:t>재정의</a:t>
            </a:r>
          </a:p>
          <a:p>
            <a:pPr lvl="1"/>
            <a:r>
              <a:rPr lang="ko-KR" altLang="en-US" dirty="0"/>
              <a:t>스레드 기반 모델 구현의 공통 구조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8065A4-C9DC-C933-DA03-046C469B1C90}"/>
              </a:ext>
            </a:extLst>
          </p:cNvPr>
          <p:cNvSpPr txBox="1"/>
          <p:nvPr/>
        </p:nvSpPr>
        <p:spPr>
          <a:xfrm>
            <a:off x="1259632" y="3284984"/>
            <a:ext cx="6048672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DWORD WINAPI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ThreadRecv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 pParam)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((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*)pParam)-&gt;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ProcRecv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(pParam);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DWORD WINAPI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ThreadSend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 pParam)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((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*)pParam)-&gt;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ProcSend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(pParam);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DWORD WINAPI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ThreadAccp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 pParam)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((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*)pParam)-&gt;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ProcAccp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(pParam);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DWORD WINAPI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ThreadWork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 pParam)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((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*)pParam)-&gt;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ProcWork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(pParam);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}</a:t>
            </a:r>
            <a:endParaRPr lang="ko-KR" altLang="en-US" sz="1600" b="1" dirty="0">
              <a:latin typeface="Consolas" panose="020B0609020204030204" pitchFamily="49" charset="0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580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</a:t>
            </a:r>
            <a:r>
              <a:rPr lang="ko-KR" altLang="en-US" dirty="0"/>
              <a:t>구체화 </a:t>
            </a:r>
            <a:r>
              <a:rPr lang="en-US" altLang="ko-KR" dirty="0"/>
              <a:t>2</a:t>
            </a:r>
            <a:r>
              <a:rPr lang="ko-KR" altLang="en-US" dirty="0"/>
              <a:t>단계</a:t>
            </a:r>
            <a:r>
              <a:rPr lang="en-US" altLang="ko-KR" dirty="0"/>
              <a:t>: Select </a:t>
            </a:r>
            <a:r>
              <a:rPr lang="ko-KR" altLang="en-US" dirty="0"/>
              <a:t>모델 구현 목적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설계 방향</a:t>
            </a:r>
          </a:p>
          <a:p>
            <a:pPr lvl="1"/>
            <a:r>
              <a:rPr lang="ko-KR" altLang="en-US"/>
              <a:t>구조가 가장 직접적</a:t>
            </a:r>
          </a:p>
          <a:p>
            <a:pPr lvl="1"/>
            <a:r>
              <a:rPr lang="en-US" altLang="ko-KR"/>
              <a:t>FD_SET</a:t>
            </a:r>
            <a:r>
              <a:rPr lang="ko-KR" altLang="en-US"/>
              <a:t>으로 소켓 목록 확인</a:t>
            </a:r>
          </a:p>
          <a:p>
            <a:pPr lvl="1"/>
            <a:r>
              <a:rPr lang="en-US" altLang="ko-KR"/>
              <a:t>FrameMove </a:t>
            </a:r>
            <a:r>
              <a:rPr lang="ko-KR" altLang="en-US"/>
              <a:t>안에서 </a:t>
            </a:r>
            <a:r>
              <a:rPr lang="en-US" altLang="ko-KR"/>
              <a:t>send / recv </a:t>
            </a:r>
            <a:r>
              <a:rPr lang="ko-KR" altLang="en-US"/>
              <a:t>처리</a:t>
            </a:r>
          </a:p>
          <a:p>
            <a:pPr lvl="1"/>
            <a:r>
              <a:rPr lang="ko-KR" altLang="en-US"/>
              <a:t>구현 예제 모델로 적합</a:t>
            </a:r>
          </a:p>
          <a:p>
            <a:pPr lvl="1"/>
            <a:r>
              <a:rPr lang="en-US" altLang="ko-KR"/>
              <a:t>AsyncSelect / EventSelect / IOCP </a:t>
            </a:r>
            <a:r>
              <a:rPr lang="ko-KR" altLang="en-US"/>
              <a:t>비교 기준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FBEDC8-3424-E84C-8D7D-A34E73A323C3}"/>
              </a:ext>
            </a:extLst>
          </p:cNvPr>
          <p:cNvSpPr txBox="1"/>
          <p:nvPr/>
        </p:nvSpPr>
        <p:spPr>
          <a:xfrm>
            <a:off x="1259632" y="3615749"/>
            <a:ext cx="6192688" cy="267765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CLcNetSlct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FrameMove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select write →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SendAllData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select read → accept / recv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5972462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en-US" altLang="ko-KR" dirty="0" err="1"/>
              <a:t>CLcNetSlct</a:t>
            </a:r>
            <a:r>
              <a:rPr lang="en-US" altLang="ko-KR" dirty="0"/>
              <a:t> </a:t>
            </a:r>
            <a:r>
              <a:rPr lang="ko-KR" altLang="en-US" dirty="0"/>
              <a:t>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내용</a:t>
            </a:r>
          </a:p>
          <a:p>
            <a:pPr lvl="1"/>
            <a:r>
              <a:rPr lang="en-US" altLang="ko-KR" dirty="0" err="1"/>
              <a:t>CLcNet</a:t>
            </a:r>
            <a:r>
              <a:rPr lang="en-US" altLang="ko-KR" dirty="0"/>
              <a:t> </a:t>
            </a:r>
            <a:r>
              <a:rPr lang="ko-KR" altLang="en-US" dirty="0"/>
              <a:t>상속</a:t>
            </a:r>
          </a:p>
          <a:p>
            <a:pPr lvl="1"/>
            <a:r>
              <a:rPr lang="ko-KR" altLang="en-US" dirty="0"/>
              <a:t>클라이언트별 송수신 버퍼</a:t>
            </a:r>
          </a:p>
          <a:p>
            <a:pPr lvl="1"/>
            <a:r>
              <a:rPr lang="ko-KR" altLang="en-US" dirty="0"/>
              <a:t>소켓 목록</a:t>
            </a:r>
            <a:r>
              <a:rPr lang="en-US" altLang="ko-KR" dirty="0"/>
              <a:t>: </a:t>
            </a:r>
            <a:r>
              <a:rPr lang="en-US" altLang="ko-KR" dirty="0" err="1"/>
              <a:t>m_rmF</a:t>
            </a:r>
            <a:endParaRPr lang="ko-KR" altLang="en-US" dirty="0"/>
          </a:p>
          <a:p>
            <a:pPr lvl="1"/>
            <a:r>
              <a:rPr lang="ko-KR" altLang="en-US" dirty="0"/>
              <a:t>소켓 상태</a:t>
            </a:r>
            <a:r>
              <a:rPr lang="en-US" altLang="ko-KR" dirty="0"/>
              <a:t>: </a:t>
            </a:r>
            <a:r>
              <a:rPr lang="en-US" altLang="ko-KR" dirty="0" err="1"/>
              <a:t>m_rmH</a:t>
            </a:r>
            <a:endParaRPr lang="ko-KR" altLang="en-US" dirty="0"/>
          </a:p>
          <a:p>
            <a:pPr lvl="1"/>
            <a:r>
              <a:rPr lang="en-US" altLang="ko-KR" dirty="0"/>
              <a:t>Send </a:t>
            </a:r>
            <a:r>
              <a:rPr lang="ko-KR" altLang="en-US" dirty="0"/>
              <a:t>요청과</a:t>
            </a:r>
            <a:br>
              <a:rPr lang="en-US" altLang="ko-KR" dirty="0"/>
            </a:br>
            <a:r>
              <a:rPr lang="ko-KR" altLang="en-US" dirty="0"/>
              <a:t>실제 </a:t>
            </a:r>
            <a:r>
              <a:rPr lang="en-US" altLang="ko-KR" dirty="0"/>
              <a:t>send </a:t>
            </a:r>
            <a:r>
              <a:rPr lang="ko-KR" altLang="en-US" dirty="0"/>
              <a:t>분리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8597A5-C229-93D9-BF9C-2C7FA2CE8730}"/>
              </a:ext>
            </a:extLst>
          </p:cNvPr>
          <p:cNvSpPr txBox="1"/>
          <p:nvPr/>
        </p:nvSpPr>
        <p:spPr>
          <a:xfrm>
            <a:off x="4821238" y="692150"/>
            <a:ext cx="4176266" cy="452431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 err="1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CLcNetSlct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CLcNet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struct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 err="1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LcNetSlctHost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TRingBuf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rbSnd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TRingBuf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rbRcv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protected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TRingBuf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m_rbSnd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TRingBuf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m_rbRcv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FD_SET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m_rmF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LcNetSlctHost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m_rmH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[FD_SETSIZE];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endParaRPr lang="ko-KR" altLang="en-US" sz="18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6078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 Create </a:t>
            </a:r>
            <a:r>
              <a:rPr lang="ko-KR" altLang="en-US" dirty="0"/>
              <a:t>역할 구체화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p1: IP</a:t>
            </a:r>
          </a:p>
          <a:p>
            <a:pPr lvl="1"/>
            <a:r>
              <a:rPr lang="en-US" altLang="ko-KR" dirty="0"/>
              <a:t>p2: Port</a:t>
            </a:r>
          </a:p>
          <a:p>
            <a:pPr lvl="1"/>
            <a:r>
              <a:rPr lang="en-US" altLang="ko-KR" dirty="0"/>
              <a:t>p3: Protocol</a:t>
            </a:r>
          </a:p>
          <a:p>
            <a:pPr lvl="1"/>
            <a:r>
              <a:rPr lang="en-US" altLang="ko-KR" dirty="0"/>
              <a:t>p4: Client / Server</a:t>
            </a:r>
          </a:p>
          <a:p>
            <a:pPr lvl="1"/>
            <a:r>
              <a:rPr lang="en-US" altLang="ko-KR" dirty="0"/>
              <a:t>TCP / UDP </a:t>
            </a:r>
            <a:r>
              <a:rPr lang="ko-KR" altLang="en-US" dirty="0"/>
              <a:t>결정</a:t>
            </a:r>
          </a:p>
          <a:p>
            <a:pPr lvl="1"/>
            <a:r>
              <a:rPr lang="en-US" altLang="ko-KR" dirty="0"/>
              <a:t>Client</a:t>
            </a:r>
            <a:r>
              <a:rPr lang="ko-KR" altLang="en-US" dirty="0"/>
              <a:t>면 </a:t>
            </a:r>
            <a:r>
              <a:rPr lang="en-US" altLang="ko-KR" dirty="0"/>
              <a:t>Connect</a:t>
            </a:r>
          </a:p>
          <a:p>
            <a:pPr lvl="1"/>
            <a:r>
              <a:rPr lang="en-US" altLang="ko-KR" dirty="0"/>
              <a:t>Server</a:t>
            </a:r>
            <a:r>
              <a:rPr lang="ko-KR" altLang="en-US" dirty="0"/>
              <a:t>면 </a:t>
            </a:r>
            <a:r>
              <a:rPr lang="en-US" altLang="ko-KR" dirty="0"/>
              <a:t>Listen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99F85-D421-BD14-179D-3BE8B938303C}"/>
              </a:ext>
            </a:extLst>
          </p:cNvPr>
          <p:cNvSpPr txBox="1"/>
          <p:nvPr/>
        </p:nvSpPr>
        <p:spPr>
          <a:xfrm>
            <a:off x="4174059" y="692150"/>
            <a:ext cx="4574654" cy="59093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CLcNetSlct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::Create(...)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auto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sIp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=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*)p1;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auto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sPort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*)p2;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auto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sPtcl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*)p3;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auto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sSvr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*)p4;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sIp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m_sIp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sIp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sPort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m_sPt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sPort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== 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"TCP"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sPtcl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m_PtcType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NETPRT_TCP;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== 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"UDP"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sPtcl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m_PtcType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NETPRT_UDP;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== 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"Client"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sSvr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m_HstType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NETHST_CLIENT;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Connect(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== 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"Server"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sSvr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m_HstType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NETHST_SERVER;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Listen();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}</a:t>
            </a:r>
            <a:endParaRPr lang="ko-KR" altLang="en-US" sz="1400" b="1" dirty="0">
              <a:latin typeface="Consolas" panose="020B0609020204030204" pitchFamily="49" charset="0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7385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Connect / Listen </a:t>
            </a:r>
            <a:r>
              <a:rPr lang="ko-KR" altLang="en-US" dirty="0"/>
              <a:t>처리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내용</a:t>
            </a:r>
          </a:p>
          <a:p>
            <a:pPr lvl="1"/>
            <a:r>
              <a:rPr lang="ko-KR" altLang="en-US" dirty="0"/>
              <a:t>소켓 주소 설정은 </a:t>
            </a:r>
            <a:r>
              <a:rPr lang="en-US" altLang="ko-KR" dirty="0" err="1"/>
              <a:t>LcNetUtil</a:t>
            </a:r>
            <a:endParaRPr lang="ko-KR" altLang="en-US" dirty="0"/>
          </a:p>
          <a:p>
            <a:pPr lvl="1"/>
            <a:r>
              <a:rPr lang="ko-KR" altLang="en-US" dirty="0"/>
              <a:t>소켓 생성도 </a:t>
            </a:r>
            <a:r>
              <a:rPr lang="en-US" altLang="ko-KR" dirty="0" err="1"/>
              <a:t>LcNetUtil</a:t>
            </a:r>
            <a:endParaRPr lang="ko-KR" altLang="en-US" dirty="0"/>
          </a:p>
          <a:p>
            <a:pPr lvl="1"/>
            <a:r>
              <a:rPr lang="en-US" altLang="ko-KR" dirty="0"/>
              <a:t>Connect / Bind / Listen</a:t>
            </a:r>
            <a:r>
              <a:rPr lang="ko-KR" altLang="en-US" dirty="0"/>
              <a:t>도 </a:t>
            </a:r>
            <a:r>
              <a:rPr lang="en-US" altLang="ko-KR" dirty="0" err="1"/>
              <a:t>LcNetUtil</a:t>
            </a:r>
            <a:endParaRPr lang="ko-KR" altLang="en-US" dirty="0"/>
          </a:p>
          <a:p>
            <a:pPr lvl="1"/>
            <a:r>
              <a:rPr lang="en-US" altLang="ko-KR" dirty="0" err="1"/>
              <a:t>CLcNetSlct</a:t>
            </a:r>
            <a:r>
              <a:rPr lang="ko-KR" altLang="en-US" dirty="0"/>
              <a:t>는 흐름만 담당</a:t>
            </a:r>
          </a:p>
          <a:p>
            <a:pPr lvl="1"/>
            <a:r>
              <a:rPr lang="ko-KR" altLang="en-US" dirty="0"/>
              <a:t>이것이 공통 함수 라이브러리화의 효과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68194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AFB29-D32D-1C12-0F26-B318816C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90B23-CD5B-E956-5702-563A35B5D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5.5 Connect </a:t>
            </a:r>
            <a:r>
              <a:rPr lang="ko-KR" altLang="en-US" dirty="0"/>
              <a:t>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5AC8D0-7CDC-650E-63FF-CFF2D38839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BE36997-E295-3861-6104-40384EAD85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5DD277-8A12-0ABF-F7F1-C9F53605202F}"/>
              </a:ext>
            </a:extLst>
          </p:cNvPr>
          <p:cNvSpPr txBox="1"/>
          <p:nvPr/>
        </p:nvSpPr>
        <p:spPr>
          <a:xfrm>
            <a:off x="539750" y="836712"/>
            <a:ext cx="4032250" cy="32932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LcNet_SocketAddr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LcNet_SocketTcpCreate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UdpCreate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LcNet_SocketConnect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LcNet_SocketNonBlocking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LcNet_SocketNaggleOff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Fd_Set</a:t>
            </a:r>
            <a:endParaRPr lang="ko-KR" altLang="en-US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F9E6EE-9F67-A308-6DFA-C47BB5FEF6BC}"/>
              </a:ext>
            </a:extLst>
          </p:cNvPr>
          <p:cNvSpPr txBox="1"/>
          <p:nvPr/>
        </p:nvSpPr>
        <p:spPr>
          <a:xfrm>
            <a:off x="4644008" y="836712"/>
            <a:ext cx="3960242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Listen 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흐름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Listen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LcNet_SocketAddr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LcNet_SocketTcpCreate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UdpCreate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LcNet_SocketBind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LcNet_SocketListen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Fd_Set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9772306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5.6 Send </a:t>
            </a:r>
            <a:r>
              <a:rPr lang="ko-KR" altLang="en-US" dirty="0"/>
              <a:t>처리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내용</a:t>
            </a:r>
          </a:p>
          <a:p>
            <a:pPr lvl="1"/>
            <a:r>
              <a:rPr lang="ko-KR" altLang="en-US" dirty="0"/>
              <a:t>응용 계층은 </a:t>
            </a:r>
            <a:r>
              <a:rPr lang="en-US" altLang="ko-KR" dirty="0"/>
              <a:t>net-&gt;Send </a:t>
            </a:r>
            <a:r>
              <a:rPr lang="ko-KR" altLang="en-US" dirty="0"/>
              <a:t>호출</a:t>
            </a:r>
          </a:p>
          <a:p>
            <a:pPr lvl="1"/>
            <a:r>
              <a:rPr lang="ko-KR" altLang="en-US" dirty="0"/>
              <a:t>내부에서는 </a:t>
            </a:r>
            <a:r>
              <a:rPr lang="en-US" altLang="ko-KR" dirty="0" err="1"/>
              <a:t>PacketEncode</a:t>
            </a:r>
            <a:endParaRPr lang="ko-KR" altLang="en-US" dirty="0"/>
          </a:p>
          <a:p>
            <a:pPr lvl="1"/>
            <a:r>
              <a:rPr lang="ko-KR" altLang="en-US" dirty="0"/>
              <a:t>송신 </a:t>
            </a:r>
            <a:r>
              <a:rPr lang="ko-KR" altLang="en-US" dirty="0" err="1"/>
              <a:t>링버퍼에</a:t>
            </a:r>
            <a:r>
              <a:rPr lang="ko-KR" altLang="en-US" dirty="0"/>
              <a:t> 저장</a:t>
            </a:r>
          </a:p>
          <a:p>
            <a:pPr lvl="1"/>
            <a:r>
              <a:rPr lang="ko-KR" altLang="en-US" dirty="0"/>
              <a:t>실제 </a:t>
            </a:r>
            <a:r>
              <a:rPr lang="en-US" altLang="ko-KR" dirty="0"/>
              <a:t>send</a:t>
            </a:r>
            <a:r>
              <a:rPr lang="ko-KR" altLang="en-US" dirty="0"/>
              <a:t>는 </a:t>
            </a:r>
            <a:r>
              <a:rPr lang="en-US" altLang="ko-KR" dirty="0" err="1"/>
              <a:t>FrameMove</a:t>
            </a:r>
            <a:r>
              <a:rPr lang="en-US" altLang="ko-KR" dirty="0"/>
              <a:t> / </a:t>
            </a:r>
            <a:r>
              <a:rPr lang="en-US" altLang="ko-KR" dirty="0" err="1"/>
              <a:t>SendAllData</a:t>
            </a:r>
            <a:r>
              <a:rPr lang="ko-KR" altLang="en-US" dirty="0"/>
              <a:t>에서 처리</a:t>
            </a:r>
          </a:p>
          <a:p>
            <a:pPr lvl="1"/>
            <a:r>
              <a:rPr lang="en-US" altLang="ko-KR" dirty="0"/>
              <a:t>Send </a:t>
            </a:r>
            <a:r>
              <a:rPr lang="ko-KR" altLang="en-US" dirty="0"/>
              <a:t>요청과 실제 </a:t>
            </a:r>
            <a:r>
              <a:rPr lang="en-US" altLang="ko-KR" dirty="0"/>
              <a:t>I/O </a:t>
            </a:r>
            <a:r>
              <a:rPr lang="ko-KR" altLang="en-US" dirty="0"/>
              <a:t>분리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79940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 Send </a:t>
            </a:r>
            <a:r>
              <a:rPr lang="ko-KR" altLang="en-US" dirty="0"/>
              <a:t>처리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84830D-2265-7629-6F24-91E36EB0B0D8}"/>
              </a:ext>
            </a:extLst>
          </p:cNvPr>
          <p:cNvSpPr txBox="1"/>
          <p:nvPr/>
        </p:nvSpPr>
        <p:spPr>
          <a:xfrm>
            <a:off x="395287" y="692149"/>
            <a:ext cx="4425951" cy="59093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CLcNetSlct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::Send(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pSrc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iSnd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DWORD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dMsg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SOCKET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scH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BYTE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[PCK_BUF_MAX_MSG] = 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iSize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hr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0xFFFFFFFF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scH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iSize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</a:t>
            </a:r>
            <a:r>
              <a:rPr lang="en-US" altLang="ko-KR" sz="1400" b="1" i="0" u="none" strike="noStrike" dirty="0" err="1">
                <a:solidFill>
                  <a:srgbClr val="9900FF"/>
                </a:solidFill>
                <a:effectLst/>
                <a:latin typeface="Consolas" panose="020B0609020204030204" pitchFamily="49" charset="0"/>
              </a:rPr>
              <a:t>PacketEncode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(BYTE*)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pSrc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iSnd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dMsg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m_rbSnd.</a:t>
            </a:r>
            <a:r>
              <a:rPr lang="en-US" altLang="ko-KR" sz="1400" b="1" i="0" u="none" strike="noStrike" dirty="0" err="1">
                <a:solidFill>
                  <a:srgbClr val="9900FF"/>
                </a:solidFill>
                <a:effectLst/>
                <a:latin typeface="Consolas" panose="020B0609020204030204" pitchFamily="49" charset="0"/>
              </a:rPr>
              <a:t>PushBack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iSize);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(FAILED(hr))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대상 클라이언트 검색 후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m_rmH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nIdx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rbSnd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PushBack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89A7D9-6F80-71CE-014D-1580E45FA234}"/>
              </a:ext>
            </a:extLst>
          </p:cNvPr>
          <p:cNvSpPr txBox="1"/>
          <p:nvPr/>
        </p:nvSpPr>
        <p:spPr>
          <a:xfrm>
            <a:off x="5220072" y="692149"/>
            <a:ext cx="3384178" cy="34163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360000" rIns="360000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응용 계층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PacketEncode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rbSnd.PushBack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SendAllData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send</a:t>
            </a:r>
            <a:endParaRPr lang="ko-KR" altLang="en-US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81970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5.8 Recv </a:t>
            </a:r>
            <a:r>
              <a:rPr lang="ko-KR" altLang="en-US" dirty="0"/>
              <a:t>처리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내용</a:t>
            </a:r>
          </a:p>
          <a:p>
            <a:pPr lvl="1"/>
            <a:r>
              <a:rPr lang="ko-KR" altLang="en-US" dirty="0"/>
              <a:t>응용 계층은 </a:t>
            </a:r>
            <a:r>
              <a:rPr lang="en-US" altLang="ko-KR" dirty="0"/>
              <a:t>net-&gt;Recv </a:t>
            </a:r>
            <a:r>
              <a:rPr lang="ko-KR" altLang="en-US" dirty="0"/>
              <a:t>호출</a:t>
            </a:r>
          </a:p>
          <a:p>
            <a:pPr lvl="1"/>
            <a:r>
              <a:rPr lang="ko-KR" altLang="en-US" dirty="0"/>
              <a:t>내부에서 </a:t>
            </a:r>
            <a:r>
              <a:rPr lang="en-US" altLang="ko-KR" dirty="0" err="1"/>
              <a:t>rbRcv</a:t>
            </a:r>
            <a:r>
              <a:rPr lang="ko-KR" altLang="en-US" dirty="0"/>
              <a:t>에서 패킷 </a:t>
            </a:r>
            <a:r>
              <a:rPr lang="en-US" altLang="ko-KR" dirty="0"/>
              <a:t>Pop</a:t>
            </a:r>
            <a:endParaRPr lang="ko-KR" altLang="en-US" dirty="0"/>
          </a:p>
          <a:p>
            <a:pPr lvl="1"/>
            <a:r>
              <a:rPr lang="en-US" altLang="ko-KR" dirty="0" err="1"/>
              <a:t>PacketDecode</a:t>
            </a:r>
            <a:r>
              <a:rPr lang="en-US" altLang="ko-KR" dirty="0"/>
              <a:t> </a:t>
            </a:r>
            <a:r>
              <a:rPr lang="ko-KR" altLang="en-US" dirty="0"/>
              <a:t>후 메시지 반환</a:t>
            </a:r>
          </a:p>
          <a:p>
            <a:pPr lvl="1"/>
            <a:r>
              <a:rPr lang="ko-KR" altLang="en-US" dirty="0"/>
              <a:t>서버는 </a:t>
            </a:r>
            <a:r>
              <a:rPr lang="en-US" altLang="ko-KR" dirty="0" err="1"/>
              <a:t>scH</a:t>
            </a:r>
            <a:r>
              <a:rPr lang="ko-KR" altLang="en-US" dirty="0"/>
              <a:t>로 송신 클라이언트 확인</a:t>
            </a:r>
          </a:p>
          <a:p>
            <a:pPr lvl="1"/>
            <a:r>
              <a:rPr lang="en-US" altLang="ko-KR" dirty="0"/>
              <a:t>recv </a:t>
            </a:r>
            <a:r>
              <a:rPr lang="ko-KR" altLang="en-US" dirty="0"/>
              <a:t>시스템 호출과</a:t>
            </a:r>
            <a:br>
              <a:rPr lang="en-US" altLang="ko-KR" dirty="0"/>
            </a:br>
            <a:r>
              <a:rPr lang="ko-KR" altLang="en-US" dirty="0"/>
              <a:t>사용자 </a:t>
            </a:r>
            <a:r>
              <a:rPr lang="en-US" altLang="ko-KR" dirty="0"/>
              <a:t>Recv </a:t>
            </a:r>
            <a:r>
              <a:rPr lang="ko-KR" altLang="en-US" dirty="0"/>
              <a:t>분리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51542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D87F0-164A-61A4-B6C1-68BA3B98F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B09CDC-1430-008E-C769-462A7018D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5.8 Recv </a:t>
            </a:r>
            <a:r>
              <a:rPr lang="ko-KR" altLang="en-US" dirty="0"/>
              <a:t>처리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1E2C65-6C91-0426-C936-16EB9DA75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000" dirty="0"/>
          </a:p>
          <a:p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95A83B-58E4-7391-0B75-CF4D76AC7A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BCC0AE-0006-B6A8-5EC7-1F94587EB9C2}"/>
              </a:ext>
            </a:extLst>
          </p:cNvPr>
          <p:cNvSpPr txBox="1"/>
          <p:nvPr/>
        </p:nvSpPr>
        <p:spPr>
          <a:xfrm>
            <a:off x="622176" y="692150"/>
            <a:ext cx="4309864" cy="61247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CLcNetSlct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::Recv(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pDst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iRcv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DWORD*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dMsg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SOCKET*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scH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BYTE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[PCK_BUF_MAX_MSG] = 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WORD iSize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hr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*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iRcv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scH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hr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m_rbRcv.</a:t>
            </a:r>
            <a:r>
              <a:rPr lang="en-US" altLang="ko-KR" sz="1400" b="1" i="0" u="none" strike="noStrike" dirty="0" err="1">
                <a:solidFill>
                  <a:srgbClr val="9900FF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PopFront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&amp;iSize);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(FAILED(hr) ||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== iSize)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*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iRcv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LcNet_</a:t>
            </a:r>
            <a:r>
              <a:rPr lang="en-US" altLang="ko-KR" sz="1400" b="1" i="0" u="none" strike="noStrike" dirty="0" err="1">
                <a:solidFill>
                  <a:srgbClr val="9900FF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PacketDecode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  <a:ea typeface="D2Coding" panose="020B0609020101020101" pitchFamily="49" charset="-127"/>
              </a:rPr>
              <a:t>                 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(BYTE*)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pDst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dMsg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        iSize);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else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클라이언트별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rbRcv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에서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PopFront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// Decode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후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scH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반환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}</a:t>
            </a:r>
            <a:endParaRPr lang="ko-KR" altLang="en-US" sz="1400" b="1" dirty="0">
              <a:latin typeface="Consolas" panose="020B0609020204030204" pitchFamily="49" charset="0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8DFA97-67FE-D840-24B9-F20FD928B420}"/>
              </a:ext>
            </a:extLst>
          </p:cNvPr>
          <p:cNvSpPr txBox="1"/>
          <p:nvPr/>
        </p:nvSpPr>
        <p:spPr>
          <a:xfrm>
            <a:off x="5290778" y="692150"/>
            <a:ext cx="2988394" cy="34163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시스템 호출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rbRcv.PushBack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응용 계층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rbRcv.PopFront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PacketDecode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959976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5.9 </a:t>
            </a:r>
            <a:r>
              <a:rPr lang="en-US" altLang="ko-KR" dirty="0" err="1"/>
              <a:t>FrameMove</a:t>
            </a:r>
            <a:r>
              <a:rPr lang="en-US" altLang="ko-KR" dirty="0"/>
              <a:t>(Update) </a:t>
            </a:r>
            <a:r>
              <a:rPr lang="ko-KR" altLang="en-US" dirty="0"/>
              <a:t>처리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Send / Recv </a:t>
            </a:r>
            <a:r>
              <a:rPr lang="ko-KR" altLang="en-US" dirty="0"/>
              <a:t>함수 자체는 실제 </a:t>
            </a:r>
            <a:r>
              <a:rPr lang="en-US" altLang="ko-KR" dirty="0"/>
              <a:t>I/O</a:t>
            </a:r>
            <a:r>
              <a:rPr lang="ko-KR" altLang="en-US" dirty="0"/>
              <a:t>가 아님</a:t>
            </a:r>
          </a:p>
          <a:p>
            <a:pPr lvl="1"/>
            <a:r>
              <a:rPr lang="en-US" altLang="ko-KR" dirty="0" err="1"/>
              <a:t>FrameMove</a:t>
            </a:r>
            <a:r>
              <a:rPr lang="ko-KR" altLang="en-US" dirty="0"/>
              <a:t>가 </a:t>
            </a:r>
            <a:r>
              <a:rPr lang="en-US" altLang="ko-KR" dirty="0"/>
              <a:t>select</a:t>
            </a:r>
            <a:r>
              <a:rPr lang="ko-KR" altLang="en-US" dirty="0"/>
              <a:t>로 상태 확인</a:t>
            </a:r>
          </a:p>
          <a:p>
            <a:pPr lvl="1"/>
            <a:r>
              <a:rPr lang="ko-KR" altLang="en-US" dirty="0"/>
              <a:t>쓰기 가능하면 </a:t>
            </a:r>
            <a:r>
              <a:rPr lang="en-US" altLang="ko-KR" dirty="0" err="1"/>
              <a:t>SendAllData</a:t>
            </a:r>
            <a:endParaRPr lang="ko-KR" altLang="en-US" dirty="0"/>
          </a:p>
          <a:p>
            <a:pPr lvl="1"/>
            <a:r>
              <a:rPr lang="ko-KR" altLang="en-US" dirty="0"/>
              <a:t>읽기 가능하면 </a:t>
            </a:r>
            <a:r>
              <a:rPr lang="en-US" altLang="ko-KR" dirty="0"/>
              <a:t>accept </a:t>
            </a:r>
            <a:r>
              <a:rPr lang="ko-KR" altLang="en-US" dirty="0"/>
              <a:t>또는 </a:t>
            </a:r>
            <a:r>
              <a:rPr lang="en-US" altLang="ko-KR" dirty="0"/>
              <a:t>recv</a:t>
            </a:r>
            <a:endParaRPr lang="ko-KR" altLang="en-US" dirty="0"/>
          </a:p>
          <a:p>
            <a:pPr lvl="1"/>
            <a:r>
              <a:rPr lang="ko-KR" altLang="en-US" dirty="0"/>
              <a:t>게임 루프에 넣기 좋은 구조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88098-1EFE-C415-F1EF-27367217C291}"/>
              </a:ext>
            </a:extLst>
          </p:cNvPr>
          <p:cNvSpPr txBox="1"/>
          <p:nvPr/>
        </p:nvSpPr>
        <p:spPr>
          <a:xfrm>
            <a:off x="971600" y="3717032"/>
            <a:ext cx="3528392" cy="224676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gameLoop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net-&gt;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FrameMove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net-&gt;Send(...);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net-&gt;Recv(...);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A8ABF0-E914-9761-9E82-7794245501E5}"/>
              </a:ext>
            </a:extLst>
          </p:cNvPr>
          <p:cNvSpPr txBox="1"/>
          <p:nvPr/>
        </p:nvSpPr>
        <p:spPr>
          <a:xfrm>
            <a:off x="4672310" y="3747889"/>
            <a:ext cx="4140200" cy="101566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FrameMove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FrameMoveCln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FrameMoveSvr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4318869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5.10 </a:t>
            </a:r>
            <a:r>
              <a:rPr lang="en-US" altLang="ko-KR" dirty="0" err="1"/>
              <a:t>FrameMoveSvr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처리 과정</a:t>
            </a:r>
          </a:p>
          <a:p>
            <a:pPr lvl="1"/>
            <a:r>
              <a:rPr lang="en-US" altLang="ko-KR" sz="2000" dirty="0"/>
              <a:t>write </a:t>
            </a:r>
            <a:r>
              <a:rPr lang="ko-KR" altLang="en-US" sz="2000" dirty="0"/>
              <a:t>가능 검사</a:t>
            </a:r>
          </a:p>
          <a:p>
            <a:pPr lvl="1"/>
            <a:r>
              <a:rPr lang="en-US" altLang="ko-KR" sz="2000" dirty="0" err="1"/>
              <a:t>SendAllData</a:t>
            </a:r>
            <a:r>
              <a:rPr lang="en-US" altLang="ko-KR" sz="2000" dirty="0"/>
              <a:t> </a:t>
            </a:r>
            <a:r>
              <a:rPr lang="ko-KR" altLang="en-US" sz="2000" dirty="0"/>
              <a:t>호출</a:t>
            </a:r>
          </a:p>
          <a:p>
            <a:pPr lvl="1"/>
            <a:r>
              <a:rPr lang="en-US" altLang="ko-KR" sz="2000" dirty="0"/>
              <a:t>read </a:t>
            </a:r>
            <a:r>
              <a:rPr lang="ko-KR" altLang="en-US" sz="2000" dirty="0"/>
              <a:t>가능 검사</a:t>
            </a:r>
          </a:p>
          <a:p>
            <a:pPr lvl="1"/>
            <a:r>
              <a:rPr lang="en-US" altLang="ko-KR" sz="2000" dirty="0"/>
              <a:t>listen socket</a:t>
            </a:r>
            <a:r>
              <a:rPr lang="ko-KR" altLang="en-US" sz="2000" dirty="0"/>
              <a:t>이면 </a:t>
            </a:r>
            <a:r>
              <a:rPr lang="en-US" altLang="ko-KR" sz="2000" dirty="0"/>
              <a:t>accept</a:t>
            </a:r>
            <a:endParaRPr lang="ko-KR" altLang="en-US" sz="2000" dirty="0"/>
          </a:p>
          <a:p>
            <a:pPr lvl="1"/>
            <a:r>
              <a:rPr lang="en-US" altLang="ko-KR" sz="2000" dirty="0"/>
              <a:t>client socket</a:t>
            </a:r>
            <a:r>
              <a:rPr lang="ko-KR" altLang="en-US" sz="2000" dirty="0"/>
              <a:t>이면 </a:t>
            </a:r>
            <a:r>
              <a:rPr lang="en-US" altLang="ko-KR" sz="2000" dirty="0"/>
              <a:t>recv</a:t>
            </a:r>
            <a:endParaRPr lang="ko-KR" altLang="en-US" sz="2000" dirty="0"/>
          </a:p>
          <a:p>
            <a:pPr lvl="1"/>
            <a:r>
              <a:rPr lang="en-US" altLang="ko-KR" sz="2000" dirty="0"/>
              <a:t>recv </a:t>
            </a:r>
            <a:r>
              <a:rPr lang="ko-KR" altLang="en-US" sz="2000" dirty="0"/>
              <a:t>결과 클라이언트 </a:t>
            </a:r>
            <a:r>
              <a:rPr lang="en-US" altLang="ko-KR" sz="2000" dirty="0" err="1"/>
              <a:t>rbRcv</a:t>
            </a:r>
            <a:r>
              <a:rPr lang="ko-KR" altLang="en-US" sz="2000" dirty="0"/>
              <a:t> 저장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C92CB-642E-68FB-0D54-11C3CC1E0B3D}"/>
              </a:ext>
            </a:extLst>
          </p:cNvPr>
          <p:cNvSpPr txBox="1"/>
          <p:nvPr/>
        </p:nvSpPr>
        <p:spPr>
          <a:xfrm>
            <a:off x="1115616" y="3608387"/>
            <a:ext cx="5328592" cy="280076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FrameMoveSvr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select write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SendAllData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select read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listen socket?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├ yes → accept →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Fd_Set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└ no → recv →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m_rmH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[i].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rbRcv.PushBack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4899727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5.11 </a:t>
            </a:r>
            <a:r>
              <a:rPr lang="en-US" altLang="ko-KR" dirty="0" err="1"/>
              <a:t>FrameMoveCln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write </a:t>
            </a:r>
            <a:r>
              <a:rPr lang="ko-KR" altLang="en-US" dirty="0"/>
              <a:t>가능 검사</a:t>
            </a:r>
          </a:p>
          <a:p>
            <a:pPr lvl="1"/>
            <a:r>
              <a:rPr lang="en-US" altLang="ko-KR" dirty="0" err="1"/>
              <a:t>SendAllData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</a:p>
          <a:p>
            <a:pPr lvl="1"/>
            <a:r>
              <a:rPr lang="en-US" altLang="ko-KR" dirty="0"/>
              <a:t>read </a:t>
            </a:r>
            <a:r>
              <a:rPr lang="ko-KR" altLang="en-US" dirty="0"/>
              <a:t>가능 검사</a:t>
            </a:r>
          </a:p>
          <a:p>
            <a:pPr lvl="1"/>
            <a:r>
              <a:rPr lang="en-US" altLang="ko-KR" dirty="0"/>
              <a:t>recv</a:t>
            </a:r>
            <a:endParaRPr lang="ko-KR" altLang="en-US" dirty="0"/>
          </a:p>
          <a:p>
            <a:pPr lvl="1"/>
            <a:r>
              <a:rPr lang="ko-KR" altLang="en-US" dirty="0"/>
              <a:t>수신 데이터는 </a:t>
            </a:r>
            <a:r>
              <a:rPr lang="en-US" altLang="ko-KR" dirty="0" err="1"/>
              <a:t>m_rbRcv</a:t>
            </a:r>
            <a:r>
              <a:rPr lang="ko-KR" altLang="en-US" dirty="0"/>
              <a:t>에 저장</a:t>
            </a:r>
          </a:p>
          <a:p>
            <a:pPr lvl="1"/>
            <a:r>
              <a:rPr lang="ko-KR" altLang="en-US" dirty="0"/>
              <a:t>응용 계층은 이후 </a:t>
            </a:r>
            <a:r>
              <a:rPr lang="en-US" altLang="ko-KR" dirty="0"/>
              <a:t>Recv</a:t>
            </a:r>
            <a:r>
              <a:rPr lang="ko-KR" altLang="en-US" dirty="0"/>
              <a:t>로 꺼냄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D71095-71BF-78CC-E6AB-1596ED917FCF}"/>
              </a:ext>
            </a:extLst>
          </p:cNvPr>
          <p:cNvSpPr txBox="1"/>
          <p:nvPr/>
        </p:nvSpPr>
        <p:spPr>
          <a:xfrm>
            <a:off x="5652120" y="764704"/>
            <a:ext cx="3168030" cy="415498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FrameMoveCln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select write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SendAllData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select read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m_rbRcv.PushBack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3698544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5.12 </a:t>
            </a:r>
            <a:r>
              <a:rPr lang="en-US" altLang="ko-KR" dirty="0" err="1"/>
              <a:t>SendAllData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 err="1"/>
              <a:t>rbSnd</a:t>
            </a:r>
            <a:r>
              <a:rPr lang="ko-KR" altLang="en-US" dirty="0"/>
              <a:t>에 쌓인 패킷을 실제 </a:t>
            </a:r>
            <a:r>
              <a:rPr lang="en-US" altLang="ko-KR" dirty="0"/>
              <a:t>send</a:t>
            </a:r>
            <a:endParaRPr lang="ko-KR" altLang="en-US" dirty="0"/>
          </a:p>
          <a:p>
            <a:pPr lvl="1"/>
            <a:r>
              <a:rPr lang="en-US" altLang="ko-KR" dirty="0"/>
              <a:t>Client</a:t>
            </a:r>
            <a:r>
              <a:rPr lang="ko-KR" altLang="en-US" dirty="0"/>
              <a:t>는 </a:t>
            </a:r>
            <a:r>
              <a:rPr lang="en-US" altLang="ko-KR" dirty="0" err="1"/>
              <a:t>m_rbSnd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</a:p>
          <a:p>
            <a:pPr lvl="1"/>
            <a:r>
              <a:rPr lang="en-US" altLang="ko-KR" dirty="0"/>
              <a:t>Server</a:t>
            </a:r>
            <a:r>
              <a:rPr lang="ko-KR" altLang="en-US" dirty="0"/>
              <a:t>는 클라이언트별 </a:t>
            </a:r>
            <a:r>
              <a:rPr lang="en-US" altLang="ko-KR" dirty="0" err="1"/>
              <a:t>rbSnd</a:t>
            </a:r>
            <a:r>
              <a:rPr lang="en-US" altLang="ko-KR" dirty="0"/>
              <a:t> </a:t>
            </a:r>
            <a:r>
              <a:rPr lang="ko-KR" altLang="en-US" dirty="0"/>
              <a:t>순회</a:t>
            </a:r>
          </a:p>
          <a:p>
            <a:pPr lvl="1"/>
            <a:r>
              <a:rPr lang="en-US" altLang="ko-KR" dirty="0"/>
              <a:t>Send </a:t>
            </a:r>
            <a:r>
              <a:rPr lang="ko-KR" altLang="en-US" dirty="0"/>
              <a:t>요청과 실제 </a:t>
            </a:r>
            <a:r>
              <a:rPr lang="en-US" altLang="ko-KR" dirty="0"/>
              <a:t>send</a:t>
            </a:r>
            <a:r>
              <a:rPr lang="ko-KR" altLang="en-US" dirty="0"/>
              <a:t>가 여기서 연결</a:t>
            </a:r>
          </a:p>
          <a:p>
            <a:pPr lvl="1"/>
            <a:r>
              <a:rPr lang="ko-KR" altLang="en-US" dirty="0"/>
              <a:t>구현 관점에서는 </a:t>
            </a:r>
            <a:r>
              <a:rPr lang="en-US" altLang="ko-KR" dirty="0"/>
              <a:t>send </a:t>
            </a:r>
            <a:r>
              <a:rPr lang="ko-KR" altLang="en-US" dirty="0"/>
              <a:t>부분 전송 주의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64994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FD021-140E-26AF-B62B-AF6C4BD88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30CC1-A620-68F7-E4CF-AFE2A5BF7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5.12 </a:t>
            </a:r>
            <a:r>
              <a:rPr lang="en-US" altLang="ko-KR" dirty="0" err="1"/>
              <a:t>SendAllData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8660A6-E53B-70AA-258C-714F96893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b="0" dirty="0"/>
          </a:p>
          <a:p>
            <a:endParaRPr lang="en-US" altLang="ko-KR" b="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19D9B1-8173-338E-1ABD-5AC5BA35D6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DF0E-E932-1782-4A5C-412611A08F03}"/>
              </a:ext>
            </a:extLst>
          </p:cNvPr>
          <p:cNvSpPr txBox="1"/>
          <p:nvPr/>
        </p:nvSpPr>
        <p:spPr>
          <a:xfrm>
            <a:off x="539750" y="764704"/>
            <a:ext cx="6480522" cy="600164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(NETHST_CLIENT ==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m_HstType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(FAILED(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m_rbSnd.PopFront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&amp;iSize)))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hr = send(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m_scH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*)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iSize,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(NETHST_SERVER ==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m_HstType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j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j &lt;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m_rmF.fd_count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++j)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m_scH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!=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m_rmF.fd_array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[j])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(SUCCEEDED(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m_rmH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[j].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rbSnd.PopFront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&amp;iSize)))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hr = send(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m_rmF.fd_array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[j],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*)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iSize,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46100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5.13 FD_SET </a:t>
            </a:r>
            <a:r>
              <a:rPr lang="ko-KR" altLang="en-US" dirty="0"/>
              <a:t>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내용</a:t>
            </a:r>
          </a:p>
          <a:p>
            <a:pPr lvl="1"/>
            <a:r>
              <a:rPr lang="en-US" altLang="ko-KR" dirty="0"/>
              <a:t>Select </a:t>
            </a:r>
            <a:r>
              <a:rPr lang="ko-KR" altLang="en-US" dirty="0"/>
              <a:t>모델은 소켓 목록 관리 필요</a:t>
            </a:r>
          </a:p>
          <a:p>
            <a:pPr lvl="1"/>
            <a:r>
              <a:rPr lang="en-US" altLang="ko-KR" dirty="0" err="1"/>
              <a:t>Fd_Set</a:t>
            </a:r>
            <a:r>
              <a:rPr lang="ko-KR" altLang="en-US" dirty="0"/>
              <a:t>으로 추가</a:t>
            </a:r>
          </a:p>
          <a:p>
            <a:pPr lvl="1"/>
            <a:r>
              <a:rPr lang="en-US" altLang="ko-KR" dirty="0" err="1"/>
              <a:t>Fd_Clr</a:t>
            </a:r>
            <a:r>
              <a:rPr lang="ko-KR" altLang="en-US" dirty="0"/>
              <a:t>로 제거</a:t>
            </a:r>
          </a:p>
          <a:p>
            <a:pPr lvl="1"/>
            <a:r>
              <a:rPr lang="ko-KR" altLang="en-US" dirty="0"/>
              <a:t>제거 시 </a:t>
            </a:r>
            <a:r>
              <a:rPr lang="en-US" altLang="ko-KR" dirty="0" err="1"/>
              <a:t>m_rmH</a:t>
            </a:r>
            <a:r>
              <a:rPr lang="ko-KR" altLang="en-US" dirty="0"/>
              <a:t>도 함께 이동</a:t>
            </a:r>
          </a:p>
          <a:p>
            <a:pPr lvl="1"/>
            <a:r>
              <a:rPr lang="ko-KR" altLang="en-US" dirty="0"/>
              <a:t>소켓 목록과 클라이언트 버퍼 배열 동기화 중요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CED5C-F111-C45D-3E9B-A9F046650D5F}"/>
              </a:ext>
            </a:extLst>
          </p:cNvPr>
          <p:cNvSpPr txBox="1"/>
          <p:nvPr/>
        </p:nvSpPr>
        <p:spPr>
          <a:xfrm>
            <a:off x="1115616" y="3717032"/>
            <a:ext cx="7272808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m_rmF.fd_array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[listen][client1][client2][client3]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m_rmH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[unused][host1 ][host2 ][host3 ]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128493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I/O </a:t>
            </a:r>
            <a:r>
              <a:rPr lang="ko-KR" altLang="en-US" dirty="0"/>
              <a:t>모델 구체화</a:t>
            </a:r>
            <a:r>
              <a:rPr lang="en-US" altLang="ko-KR" dirty="0"/>
              <a:t>: </a:t>
            </a:r>
            <a:r>
              <a:rPr lang="ko-KR" altLang="en-US" dirty="0"/>
              <a:t>동일 인터페이스 </a:t>
            </a:r>
            <a:r>
              <a:rPr lang="en-US" altLang="ko-KR" dirty="0"/>
              <a:t>I/O </a:t>
            </a:r>
            <a:r>
              <a:rPr lang="ko-KR" altLang="en-US" dirty="0"/>
              <a:t>모델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내용</a:t>
            </a:r>
          </a:p>
          <a:p>
            <a:pPr lvl="1"/>
            <a:r>
              <a:rPr lang="en-US" altLang="ko-KR" dirty="0" err="1"/>
              <a:t>ILcNet</a:t>
            </a:r>
            <a:r>
              <a:rPr lang="en-US" altLang="ko-KR" dirty="0"/>
              <a:t> </a:t>
            </a:r>
            <a:r>
              <a:rPr lang="ko-KR" altLang="en-US" dirty="0"/>
              <a:t>사용법은 동일</a:t>
            </a:r>
          </a:p>
          <a:p>
            <a:pPr lvl="1"/>
            <a:r>
              <a:rPr lang="ko-KR" altLang="en-US" dirty="0"/>
              <a:t>내부 </a:t>
            </a:r>
            <a:r>
              <a:rPr lang="en-US" altLang="ko-KR" dirty="0"/>
              <a:t>I/O </a:t>
            </a:r>
            <a:r>
              <a:rPr lang="ko-KR" altLang="en-US" dirty="0"/>
              <a:t>모델만 변경</a:t>
            </a:r>
          </a:p>
          <a:p>
            <a:pPr lvl="1"/>
            <a:r>
              <a:rPr lang="en-US" altLang="ko-KR" dirty="0"/>
              <a:t>Select: </a:t>
            </a:r>
            <a:r>
              <a:rPr lang="en-US" altLang="ko-KR" dirty="0" err="1"/>
              <a:t>FrameMove</a:t>
            </a:r>
            <a:r>
              <a:rPr lang="en-US" altLang="ko-KR" dirty="0"/>
              <a:t> polling</a:t>
            </a:r>
          </a:p>
          <a:p>
            <a:pPr lvl="1"/>
            <a:r>
              <a:rPr lang="en-US" altLang="ko-KR" dirty="0" err="1"/>
              <a:t>AsyncSelect</a:t>
            </a:r>
            <a:r>
              <a:rPr lang="en-US" altLang="ko-KR" dirty="0"/>
              <a:t>: Window Message</a:t>
            </a:r>
          </a:p>
          <a:p>
            <a:pPr lvl="1"/>
            <a:r>
              <a:rPr lang="en-US" altLang="ko-KR" dirty="0" err="1"/>
              <a:t>EventSelect</a:t>
            </a:r>
            <a:r>
              <a:rPr lang="en-US" altLang="ko-KR" dirty="0"/>
              <a:t>: WSAEVENT</a:t>
            </a:r>
          </a:p>
          <a:p>
            <a:pPr lvl="1"/>
            <a:r>
              <a:rPr lang="en-US" altLang="ko-KR" dirty="0"/>
              <a:t>IOCP: Completion Port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CDAC9B-2D43-5BD0-4F46-556A7AFFCD74}"/>
              </a:ext>
            </a:extLst>
          </p:cNvPr>
          <p:cNvSpPr txBox="1"/>
          <p:nvPr/>
        </p:nvSpPr>
        <p:spPr>
          <a:xfrm>
            <a:off x="1403648" y="4014902"/>
            <a:ext cx="4464496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응용 계층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ILcNet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CLcNetSlct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: select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CLcNetSlctA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: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WSAAsyncSelect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CLcNetSlctE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: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WSAEventSelect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CLcNetIocp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: IOCP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0809504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en-US" altLang="ko-KR" dirty="0" err="1"/>
              <a:t>AsyncSelect</a:t>
            </a:r>
            <a:r>
              <a:rPr lang="en-US" altLang="ko-KR" dirty="0"/>
              <a:t> </a:t>
            </a:r>
            <a:r>
              <a:rPr lang="ko-KR" altLang="en-US" dirty="0"/>
              <a:t>구체화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구현 내용</a:t>
            </a:r>
          </a:p>
          <a:p>
            <a:pPr lvl="1"/>
            <a:r>
              <a:rPr lang="en-US" altLang="ko-KR" sz="2000" dirty="0"/>
              <a:t>Window Message </a:t>
            </a:r>
            <a:r>
              <a:rPr lang="ko-KR" altLang="en-US" sz="2000" dirty="0"/>
              <a:t>기반</a:t>
            </a:r>
          </a:p>
          <a:p>
            <a:pPr lvl="1"/>
            <a:r>
              <a:rPr lang="en-US" altLang="ko-KR" sz="2000" dirty="0"/>
              <a:t>HWND</a:t>
            </a:r>
            <a:r>
              <a:rPr lang="ko-KR" altLang="en-US" sz="2000" dirty="0"/>
              <a:t>와 사용자 메시지 보유</a:t>
            </a:r>
          </a:p>
          <a:p>
            <a:pPr lvl="1"/>
            <a:r>
              <a:rPr lang="en-US" altLang="ko-KR" sz="2000" dirty="0" err="1"/>
              <a:t>MsgProc</a:t>
            </a:r>
            <a:r>
              <a:rPr lang="ko-KR" altLang="en-US" sz="2000" dirty="0"/>
              <a:t>에서 </a:t>
            </a:r>
            <a:r>
              <a:rPr lang="en-US" altLang="ko-KR" sz="2000" dirty="0"/>
              <a:t>FD_READ / FD_WRITE / FD_CLOSE </a:t>
            </a:r>
            <a:r>
              <a:rPr lang="ko-KR" altLang="en-US" sz="2000" dirty="0"/>
              <a:t>처리</a:t>
            </a:r>
          </a:p>
          <a:p>
            <a:pPr lvl="1"/>
            <a:r>
              <a:rPr lang="en-US" altLang="ko-KR" sz="2000" dirty="0" err="1"/>
              <a:t>WinAPI</a:t>
            </a:r>
            <a:r>
              <a:rPr lang="en-US" altLang="ko-KR" sz="2000" dirty="0"/>
              <a:t> GUI </a:t>
            </a:r>
            <a:r>
              <a:rPr lang="ko-KR" altLang="en-US" sz="2000" dirty="0"/>
              <a:t>클라이언트에 적합</a:t>
            </a:r>
          </a:p>
          <a:p>
            <a:pPr lvl="1"/>
            <a:r>
              <a:rPr lang="en-US" altLang="ko-KR" sz="2000" dirty="0"/>
              <a:t>Send / Recv </a:t>
            </a:r>
            <a:r>
              <a:rPr lang="ko-KR" altLang="en-US" sz="2000" dirty="0"/>
              <a:t>구조는 동일하게 </a:t>
            </a:r>
            <a:r>
              <a:rPr lang="en-US" altLang="ko-KR" sz="2000" dirty="0" err="1"/>
              <a:t>rbSnd</a:t>
            </a:r>
            <a:r>
              <a:rPr lang="en-US" altLang="ko-KR" sz="2000" dirty="0"/>
              <a:t> / </a:t>
            </a:r>
            <a:r>
              <a:rPr lang="en-US" altLang="ko-KR" sz="2000" dirty="0" err="1"/>
              <a:t>rbRcv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6E53C5-CA3F-E820-6B6F-C6D0C56160C0}"/>
              </a:ext>
            </a:extLst>
          </p:cNvPr>
          <p:cNvSpPr txBox="1"/>
          <p:nvPr/>
        </p:nvSpPr>
        <p:spPr>
          <a:xfrm>
            <a:off x="1331640" y="3068960"/>
            <a:ext cx="5688632" cy="32932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CLcNetSlctA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TRingBuf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m_rbSnd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TRingBuf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m_rbRcv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m_iNsck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LcNetSlctHost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m_rmH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[WSA_MAXIMUM_WAIT_EVENTS];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HANDLE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m_hThSend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DWORD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m_dThSend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m_nThSend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HWND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m_hWnd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DWORD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m_dwMsg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3802840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</a:t>
            </a:r>
            <a:r>
              <a:rPr lang="en-US" altLang="ko-KR" dirty="0" err="1"/>
              <a:t>EventSelect</a:t>
            </a:r>
            <a:r>
              <a:rPr lang="en-US" altLang="ko-KR" dirty="0"/>
              <a:t> </a:t>
            </a:r>
            <a:r>
              <a:rPr lang="ko-KR" altLang="en-US" dirty="0"/>
              <a:t>구체화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구현 내용</a:t>
            </a:r>
          </a:p>
          <a:p>
            <a:pPr lvl="1"/>
            <a:r>
              <a:rPr lang="en-US" altLang="ko-KR" sz="2000" dirty="0"/>
              <a:t>WSAEVENT </a:t>
            </a:r>
            <a:r>
              <a:rPr lang="ko-KR" altLang="en-US" sz="2000" dirty="0"/>
              <a:t>배열 사용</a:t>
            </a:r>
          </a:p>
          <a:p>
            <a:pPr lvl="1"/>
            <a:r>
              <a:rPr lang="en-US" altLang="ko-KR" sz="2000" dirty="0"/>
              <a:t>Window Message </a:t>
            </a:r>
            <a:r>
              <a:rPr lang="ko-KR" altLang="en-US" sz="2000" dirty="0"/>
              <a:t>없이 이벤트 대기</a:t>
            </a:r>
          </a:p>
          <a:p>
            <a:pPr lvl="1"/>
            <a:r>
              <a:rPr lang="en-US" altLang="ko-KR" sz="2000" dirty="0"/>
              <a:t>Recv / Send Thread </a:t>
            </a:r>
            <a:r>
              <a:rPr lang="ko-KR" altLang="en-US" sz="2000" dirty="0"/>
              <a:t>사용</a:t>
            </a:r>
          </a:p>
          <a:p>
            <a:pPr lvl="1"/>
            <a:r>
              <a:rPr lang="en-US" altLang="ko-KR" sz="2000" dirty="0" err="1"/>
              <a:t>WSAEventSelect</a:t>
            </a:r>
            <a:r>
              <a:rPr lang="ko-KR" altLang="en-US" sz="2000" dirty="0"/>
              <a:t>로 </a:t>
            </a:r>
            <a:r>
              <a:rPr lang="en-US" altLang="ko-KR" sz="2000" dirty="0"/>
              <a:t>FD_ACCEPT / FD_READ / FD_WRITE / FD_CLOSE </a:t>
            </a:r>
            <a:r>
              <a:rPr lang="ko-KR" altLang="en-US" sz="2000" dirty="0"/>
              <a:t>등록</a:t>
            </a:r>
          </a:p>
          <a:p>
            <a:pPr lvl="1"/>
            <a:r>
              <a:rPr lang="ko-KR" altLang="en-US" sz="2000" dirty="0"/>
              <a:t>서버</a:t>
            </a:r>
            <a:r>
              <a:rPr lang="en-US" altLang="ko-KR" sz="2000" dirty="0"/>
              <a:t>/</a:t>
            </a:r>
            <a:r>
              <a:rPr lang="ko-KR" altLang="en-US" sz="2000" dirty="0"/>
              <a:t>클라이언트 모두 이벤트 기반 처리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243163-9CE9-3751-6896-E5B68341F9F1}"/>
              </a:ext>
            </a:extLst>
          </p:cNvPr>
          <p:cNvSpPr txBox="1"/>
          <p:nvPr/>
        </p:nvSpPr>
        <p:spPr>
          <a:xfrm>
            <a:off x="1163638" y="3365996"/>
            <a:ext cx="6144666" cy="32316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CLcNetSlctE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TRingBuf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m_rbSnd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TRingBuf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m_rbRcv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m_iNsck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WSAEVENT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m_rmE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[WSA_MAXIMUM_WAIT_EVENTS];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LcNetSlctHost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m_rmH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[WSA_MAXIMUM_WAIT_EVENTS];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HANDLE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m_hThRecv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DWORD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m_dThRecv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m_nThRecv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HANDLE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m_hThSend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DWORD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m_dThSend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m_nThSend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WSAEVENT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m_hEvnt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DWORD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m_dEvnt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852275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6.4 IOCP </a:t>
            </a:r>
            <a:r>
              <a:rPr lang="ko-KR" altLang="en-US" dirty="0"/>
              <a:t>구체화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설계 방향</a:t>
            </a:r>
          </a:p>
          <a:p>
            <a:pPr lvl="1"/>
            <a:r>
              <a:rPr lang="en-US" altLang="ko-KR" sz="2000" dirty="0"/>
              <a:t>Overlapped I/O </a:t>
            </a:r>
            <a:r>
              <a:rPr lang="ko-KR" altLang="en-US" sz="2000" dirty="0"/>
              <a:t>기반</a:t>
            </a:r>
          </a:p>
          <a:p>
            <a:pPr lvl="1"/>
            <a:r>
              <a:rPr lang="en-US" altLang="ko-KR" sz="2000" dirty="0"/>
              <a:t>Completion Port</a:t>
            </a:r>
            <a:r>
              <a:rPr lang="ko-KR" altLang="en-US" sz="2000" dirty="0"/>
              <a:t>로 완료 통지 수신</a:t>
            </a:r>
          </a:p>
          <a:p>
            <a:pPr lvl="1"/>
            <a:r>
              <a:rPr lang="en-US" altLang="ko-KR" sz="2000" dirty="0"/>
              <a:t>Worker Thread</a:t>
            </a:r>
            <a:r>
              <a:rPr lang="ko-KR" altLang="en-US" sz="2000" dirty="0"/>
              <a:t>에서 완료 처리</a:t>
            </a:r>
          </a:p>
          <a:p>
            <a:pPr lvl="1"/>
            <a:r>
              <a:rPr lang="en-US" altLang="ko-KR" sz="2000" dirty="0"/>
              <a:t>Accept Thread</a:t>
            </a:r>
            <a:r>
              <a:rPr lang="ko-KR" altLang="en-US" sz="2000" dirty="0"/>
              <a:t>에서 연결 수락</a:t>
            </a:r>
          </a:p>
          <a:p>
            <a:pPr lvl="1"/>
            <a:r>
              <a:rPr lang="ko-KR" altLang="en-US" sz="2000" dirty="0"/>
              <a:t>클라이언트별 </a:t>
            </a:r>
            <a:r>
              <a:rPr lang="en-US" altLang="ko-KR" sz="2000" dirty="0"/>
              <a:t>Overlap / </a:t>
            </a:r>
            <a:r>
              <a:rPr lang="en-US" altLang="ko-KR" sz="2000" dirty="0" err="1"/>
              <a:t>RingBuffer</a:t>
            </a:r>
            <a:r>
              <a:rPr lang="en-US" altLang="ko-KR" sz="2000" dirty="0"/>
              <a:t> </a:t>
            </a:r>
            <a:r>
              <a:rPr lang="ko-KR" altLang="en-US" sz="2000" dirty="0"/>
              <a:t>보유</a:t>
            </a:r>
          </a:p>
          <a:p>
            <a:pPr lvl="1"/>
            <a:r>
              <a:rPr lang="ko-KR" altLang="en-US" sz="2000" dirty="0"/>
              <a:t>서버 확장성 중심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D7D538-3822-BC65-0F33-C94C5CE83C13}"/>
              </a:ext>
            </a:extLst>
          </p:cNvPr>
          <p:cNvSpPr txBox="1"/>
          <p:nvPr/>
        </p:nvSpPr>
        <p:spPr>
          <a:xfrm>
            <a:off x="1259632" y="3385304"/>
            <a:ext cx="5688632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WSARecv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요청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IOCP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완료 통지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Worker Thread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NETEVT_RECV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RingBufPush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AsyncRecv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재요청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647767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6.5 IOCP Host </a:t>
            </a:r>
            <a:r>
              <a:rPr lang="ko-KR" altLang="en-US" dirty="0"/>
              <a:t>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내용</a:t>
            </a:r>
          </a:p>
          <a:p>
            <a:pPr lvl="1"/>
            <a:r>
              <a:rPr lang="ko-KR" altLang="en-US" dirty="0"/>
              <a:t>클라이언트 </a:t>
            </a:r>
            <a:r>
              <a:rPr lang="en-US" altLang="ko-KR" dirty="0"/>
              <a:t>1</a:t>
            </a:r>
            <a:r>
              <a:rPr lang="ko-KR" altLang="en-US" dirty="0"/>
              <a:t>개 상태</a:t>
            </a:r>
          </a:p>
          <a:p>
            <a:pPr lvl="1"/>
            <a:r>
              <a:rPr lang="en-US" altLang="ko-KR" dirty="0"/>
              <a:t>Recv / Send Overlap </a:t>
            </a:r>
            <a:r>
              <a:rPr lang="ko-KR" altLang="en-US" dirty="0"/>
              <a:t>분리</a:t>
            </a:r>
          </a:p>
          <a:p>
            <a:pPr lvl="1"/>
            <a:r>
              <a:rPr lang="en-US" altLang="ko-KR" dirty="0"/>
              <a:t>Recv / Send </a:t>
            </a:r>
            <a:r>
              <a:rPr lang="en-US" altLang="ko-KR" dirty="0" err="1"/>
              <a:t>RingBuffer</a:t>
            </a:r>
            <a:r>
              <a:rPr lang="en-US" altLang="ko-KR" dirty="0"/>
              <a:t> </a:t>
            </a:r>
            <a:r>
              <a:rPr lang="ko-KR" altLang="en-US" dirty="0"/>
              <a:t>분리</a:t>
            </a:r>
          </a:p>
          <a:p>
            <a:pPr lvl="1"/>
            <a:r>
              <a:rPr lang="en-US" altLang="ko-KR" dirty="0" err="1"/>
              <a:t>AsyncRecv</a:t>
            </a:r>
            <a:r>
              <a:rPr lang="en-US" altLang="ko-KR" dirty="0"/>
              <a:t> / </a:t>
            </a:r>
            <a:r>
              <a:rPr lang="en-US" altLang="ko-KR" dirty="0" err="1"/>
              <a:t>AsyncSend</a:t>
            </a:r>
            <a:r>
              <a:rPr lang="en-US" altLang="ko-KR" dirty="0"/>
              <a:t> </a:t>
            </a:r>
            <a:r>
              <a:rPr lang="ko-KR" altLang="en-US" dirty="0"/>
              <a:t>함수 보유</a:t>
            </a:r>
          </a:p>
          <a:p>
            <a:pPr lvl="1"/>
            <a:r>
              <a:rPr lang="en-US" altLang="ko-KR" dirty="0"/>
              <a:t>Select</a:t>
            </a:r>
            <a:r>
              <a:rPr lang="ko-KR" altLang="en-US" dirty="0"/>
              <a:t>의 </a:t>
            </a:r>
            <a:r>
              <a:rPr lang="en-US" altLang="ko-KR" dirty="0" err="1"/>
              <a:t>m_rmH</a:t>
            </a:r>
            <a:r>
              <a:rPr lang="ko-KR" altLang="en-US" dirty="0"/>
              <a:t>와 같은 역할을 더 고성능 구조로 확장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F72684-6956-C8A2-B7F2-8644765D9BE5}"/>
              </a:ext>
            </a:extLst>
          </p:cNvPr>
          <p:cNvSpPr txBox="1"/>
          <p:nvPr/>
        </p:nvSpPr>
        <p:spPr>
          <a:xfrm>
            <a:off x="1187624" y="3488303"/>
            <a:ext cx="6768752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LcNetIocpHost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SOCKET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SOCKADDR_IN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TlnOVERLAP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olRcv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TlnOVERLAP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olSnd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TRingBuf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rbRcv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TRingBuf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rbSnd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AsyncRecv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AsyncSend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RingBufPush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iRcv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7561739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 </a:t>
            </a:r>
            <a:r>
              <a:rPr lang="ko-KR" altLang="en-US" dirty="0"/>
              <a:t>정리</a:t>
            </a:r>
            <a:r>
              <a:rPr lang="en-US" altLang="ko-KR" dirty="0"/>
              <a:t>: I/O </a:t>
            </a:r>
            <a:r>
              <a:rPr lang="ko-KR" altLang="en-US" dirty="0" err="1"/>
              <a:t>모델별</a:t>
            </a:r>
            <a:r>
              <a:rPr lang="ko-KR" altLang="en-US" dirty="0"/>
              <a:t> 차이 정리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5D44D4D6-4182-F52E-6899-14EDCBB4E643}"/>
              </a:ext>
            </a:extLst>
          </p:cNvPr>
          <p:cNvSpPr txBox="1">
            <a:spLocks/>
          </p:cNvSpPr>
          <p:nvPr/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3pPr>
            <a:lvl4pPr marL="16002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공통점</a:t>
            </a:r>
          </a:p>
          <a:p>
            <a:pPr lvl="1"/>
            <a:r>
              <a:rPr lang="en-US" altLang="ko-KR" sz="2000" dirty="0" err="1"/>
              <a:t>ILcNet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</a:p>
          <a:p>
            <a:pPr lvl="1"/>
            <a:r>
              <a:rPr lang="en-US" altLang="ko-KR" sz="2000" dirty="0" err="1"/>
              <a:t>CLcNet</a:t>
            </a:r>
            <a:r>
              <a:rPr lang="en-US" altLang="ko-KR" sz="2000" dirty="0"/>
              <a:t> </a:t>
            </a:r>
            <a:r>
              <a:rPr lang="ko-KR" altLang="en-US" sz="2000" dirty="0"/>
              <a:t>기반</a:t>
            </a:r>
          </a:p>
          <a:p>
            <a:pPr lvl="1"/>
            <a:r>
              <a:rPr lang="en-US" altLang="ko-KR" sz="2000" dirty="0" err="1"/>
              <a:t>LcNetUtil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</a:p>
          <a:p>
            <a:pPr lvl="1"/>
            <a:r>
              <a:rPr lang="en-US" altLang="ko-KR" sz="2000" dirty="0" err="1"/>
              <a:t>rbSnd</a:t>
            </a:r>
            <a:r>
              <a:rPr lang="en-US" altLang="ko-KR" sz="2000" dirty="0"/>
              <a:t> / </a:t>
            </a:r>
            <a:r>
              <a:rPr lang="en-US" altLang="ko-KR" sz="2000" dirty="0" err="1"/>
              <a:t>rbRcv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</a:p>
          <a:p>
            <a:pPr lvl="1"/>
            <a:r>
              <a:rPr lang="en-US" altLang="ko-KR" sz="2000" dirty="0" err="1"/>
              <a:t>PacketEncode</a:t>
            </a:r>
            <a:r>
              <a:rPr lang="en-US" altLang="ko-KR" sz="2000" dirty="0"/>
              <a:t> / </a:t>
            </a:r>
            <a:r>
              <a:rPr lang="en-US" altLang="ko-KR" sz="2000" dirty="0" err="1"/>
              <a:t>PacketDecode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</a:p>
          <a:p>
            <a:pPr lvl="1"/>
            <a:r>
              <a:rPr lang="en-US" altLang="ko-KR" sz="2000" dirty="0"/>
              <a:t>Send </a:t>
            </a:r>
            <a:r>
              <a:rPr lang="ko-KR" altLang="en-US" sz="2000" dirty="0"/>
              <a:t>요청과 실제 </a:t>
            </a:r>
            <a:r>
              <a:rPr lang="en-US" altLang="ko-KR" sz="2000" dirty="0"/>
              <a:t>I/O </a:t>
            </a:r>
            <a:r>
              <a:rPr lang="ko-KR" altLang="en-US" sz="2000" dirty="0"/>
              <a:t>분리</a:t>
            </a:r>
          </a:p>
        </p:txBody>
      </p:sp>
      <p:graphicFrame>
        <p:nvGraphicFramePr>
          <p:cNvPr id="9" name="내용 개체 틀 8">
            <a:extLst>
              <a:ext uri="{FF2B5EF4-FFF2-40B4-BE49-F238E27FC236}">
                <a16:creationId xmlns:a16="http://schemas.microsoft.com/office/drawing/2014/main" id="{3BCD1B64-5067-4CB3-3108-A88B26DE6B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6282272"/>
              </p:ext>
            </p:extLst>
          </p:nvPr>
        </p:nvGraphicFramePr>
        <p:xfrm>
          <a:off x="755576" y="836712"/>
          <a:ext cx="7056784" cy="252028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2822120923"/>
                    </a:ext>
                  </a:extLst>
                </a:gridCol>
                <a:gridCol w="3274341">
                  <a:extLst>
                    <a:ext uri="{9D8B030D-6E8A-4147-A177-3AD203B41FA5}">
                      <a16:colId xmlns:a16="http://schemas.microsoft.com/office/drawing/2014/main" val="1446620613"/>
                    </a:ext>
                  </a:extLst>
                </a:gridCol>
                <a:gridCol w="1982243">
                  <a:extLst>
                    <a:ext uri="{9D8B030D-6E8A-4147-A177-3AD203B41FA5}">
                      <a16:colId xmlns:a16="http://schemas.microsoft.com/office/drawing/2014/main" val="1890355717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I/O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모델 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I/O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확인 방식 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중심 함수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1197617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Select</a:t>
                      </a:r>
                      <a:endParaRPr lang="en-US" sz="3600" dirty="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select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직접 호출</a:t>
                      </a:r>
                      <a:endParaRPr lang="ko-KR" altLang="en-US" sz="3600" dirty="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FrameMove</a:t>
                      </a:r>
                      <a:endParaRPr lang="en-US" sz="360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677406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AsyncSelect</a:t>
                      </a:r>
                      <a:endParaRPr lang="en-US" sz="360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Window Message</a:t>
                      </a:r>
                      <a:endParaRPr lang="en-US" sz="3600" dirty="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MsgProc</a:t>
                      </a:r>
                      <a:endParaRPr lang="en-US" sz="360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275131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EventSelect</a:t>
                      </a:r>
                      <a:endParaRPr lang="en-US" sz="360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WSAEVENT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대기</a:t>
                      </a:r>
                      <a:endParaRPr lang="ko-KR" altLang="en-US" sz="3600" dirty="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ProcRecv</a:t>
                      </a:r>
                      <a:endParaRPr lang="en-US" sz="3600" dirty="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4006792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IOCP</a:t>
                      </a:r>
                      <a:endParaRPr lang="en-US" sz="360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완료 통지 </a:t>
                      </a:r>
                      <a:endParaRPr lang="ko-KR" altLang="en-US" sz="360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ProcWork</a:t>
                      </a:r>
                      <a:endParaRPr lang="en-US" sz="3600" dirty="0">
                        <a:effectLst/>
                      </a:endParaRPr>
                    </a:p>
                  </a:txBody>
                  <a:tcPr marL="216000" marR="71996" marT="71996" marB="71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8167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49722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8E20D-8AA8-47B3-A974-65F072C8D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 </a:t>
            </a:r>
            <a:r>
              <a:rPr lang="ko-KR" altLang="en-US" dirty="0"/>
              <a:t>정리</a:t>
            </a:r>
            <a:r>
              <a:rPr lang="en-US" altLang="ko-KR" dirty="0"/>
              <a:t>: </a:t>
            </a:r>
            <a:r>
              <a:rPr lang="ko-KR" altLang="en-US" dirty="0"/>
              <a:t>구조적 장점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5FF639-60B7-40BB-B7A7-EBE844037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내용</a:t>
            </a:r>
          </a:p>
          <a:p>
            <a:pPr lvl="1"/>
            <a:r>
              <a:rPr lang="ko-KR" altLang="en-US" dirty="0"/>
              <a:t>응용 계층 코드 단순화</a:t>
            </a:r>
          </a:p>
          <a:p>
            <a:pPr lvl="1"/>
            <a:r>
              <a:rPr lang="en-US" altLang="ko-KR" dirty="0"/>
              <a:t>I/O </a:t>
            </a:r>
            <a:r>
              <a:rPr lang="ko-KR" altLang="en-US" dirty="0"/>
              <a:t>모델 교체 가능</a:t>
            </a:r>
          </a:p>
          <a:p>
            <a:pPr lvl="1"/>
            <a:r>
              <a:rPr lang="ko-KR" altLang="en-US" dirty="0"/>
              <a:t>공통 함수 중복 제거</a:t>
            </a:r>
          </a:p>
          <a:p>
            <a:pPr lvl="1"/>
            <a:r>
              <a:rPr lang="ko-KR" altLang="en-US" dirty="0"/>
              <a:t>패킷 처리 규칙 통일</a:t>
            </a:r>
          </a:p>
          <a:p>
            <a:pPr lvl="1"/>
            <a:r>
              <a:rPr lang="ko-KR" altLang="en-US" dirty="0"/>
              <a:t>송수신 버퍼 구조 통일</a:t>
            </a:r>
          </a:p>
          <a:p>
            <a:pPr lvl="1"/>
            <a:r>
              <a:rPr lang="ko-KR" altLang="en-US" dirty="0"/>
              <a:t>구현 난이도 단계화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A4D79-D961-4BEF-B7BE-0E05957718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29598566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buNone/>
          <a:defRPr sz="1600" b="1" dirty="0">
            <a:solidFill>
              <a:srgbClr val="0000FF"/>
            </a:solidFill>
            <a:effectLst/>
            <a:latin typeface="D2Coding" panose="020B0609020101020101" pitchFamily="49" charset="-127"/>
            <a:ea typeface="D2Coding" panose="020B0609020101020101" pitchFamily="49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3638</TotalTime>
  <Words>4346</Words>
  <Application>Microsoft Office PowerPoint</Application>
  <PresentationFormat>화면 슬라이드 쇼(4:3)</PresentationFormat>
  <Paragraphs>488</Paragraphs>
  <Slides>51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60" baseType="lpstr">
      <vt:lpstr>D2Coding</vt:lpstr>
      <vt:lpstr>HY견고딕</vt:lpstr>
      <vt:lpstr>가을체</vt:lpstr>
      <vt:lpstr>굴림</vt:lpstr>
      <vt:lpstr>나눔바른고딕</vt:lpstr>
      <vt:lpstr>Arial</vt:lpstr>
      <vt:lpstr>Consolas</vt:lpstr>
      <vt:lpstr>Wingdings</vt:lpstr>
      <vt:lpstr>기본 디자인</vt:lpstr>
      <vt:lpstr>Network Programming - 16 Network Library 구현  afewhee@gmail.com</vt:lpstr>
      <vt:lpstr>0 목차</vt:lpstr>
      <vt:lpstr>1.1 Network Library 구현 방향</vt:lpstr>
      <vt:lpstr>1.2 설계 진행 과정</vt:lpstr>
      <vt:lpstr>1.3 설계 진행 요약</vt:lpstr>
      <vt:lpstr>1.3 설계 진행 요약</vt:lpstr>
      <vt:lpstr>1.4 설계 기준</vt:lpstr>
      <vt:lpstr>1.5 라이브러리화 전 코드 문제</vt:lpstr>
      <vt:lpstr>1.6 라이브러리화 대상</vt:lpstr>
      <vt:lpstr>1.7 라이브러리화 목표</vt:lpstr>
      <vt:lpstr>2.1 공통 함수 라이브러리화: LcNetUtil</vt:lpstr>
      <vt:lpstr>2.2 Socket 공통 함수 구성</vt:lpstr>
      <vt:lpstr>2.3 Socket 생성 추상화</vt:lpstr>
      <vt:lpstr>2.4 Thread / Event 공통 함수</vt:lpstr>
      <vt:lpstr>2.5 WSAEvent / IOCP 공통 함수</vt:lpstr>
      <vt:lpstr>2.6 Packet / RingBuffer 라이브러리화</vt:lpstr>
      <vt:lpstr>2.7 Packet 처리 구조</vt:lpstr>
      <vt:lpstr>2.8 Packet 처리 구조</vt:lpstr>
      <vt:lpstr>2.9 TRingBuf 처리 위치</vt:lpstr>
      <vt:lpstr>2.10 TRingBuf 처리 위치</vt:lpstr>
      <vt:lpstr>3.1추상화 ILcNet: ILcNet 추상화 목적</vt:lpstr>
      <vt:lpstr>3.2 ILcNet 원본 코드</vt:lpstr>
      <vt:lpstr>3.3 ILcNet 기능 단위 추상화</vt:lpstr>
      <vt:lpstr>3.4 Factory 함수 역할</vt:lpstr>
      <vt:lpstr>4.1 구체화 1단계: CLcNet 공통 기반</vt:lpstr>
      <vt:lpstr>4.2 CLcNet 공통 상태</vt:lpstr>
      <vt:lpstr>4.3 CLcNet enum</vt:lpstr>
      <vt:lpstr>4.4 CLcNet 기본 구현</vt:lpstr>
      <vt:lpstr>4.5 Thread wrapper</vt:lpstr>
      <vt:lpstr>5.1 구체화 2단계: Select 모델 구현 목적</vt:lpstr>
      <vt:lpstr>5.2 CLcNetSlct 구조</vt:lpstr>
      <vt:lpstr>5.3 Create 역할 구체화</vt:lpstr>
      <vt:lpstr>5.4 Connect / Listen 처리 과정</vt:lpstr>
      <vt:lpstr>5.5 Connect 흐름</vt:lpstr>
      <vt:lpstr>5.6 Send 처리 과정</vt:lpstr>
      <vt:lpstr>5.7 Send 처리 과정</vt:lpstr>
      <vt:lpstr>5.8 Recv 처리 과정</vt:lpstr>
      <vt:lpstr>5.8 Recv 처리 과정</vt:lpstr>
      <vt:lpstr>5.9 FrameMove(Update) 처리 과정</vt:lpstr>
      <vt:lpstr>5.10 FrameMoveSvr</vt:lpstr>
      <vt:lpstr>5.11 FrameMoveCln</vt:lpstr>
      <vt:lpstr>5.12 SendAllData</vt:lpstr>
      <vt:lpstr>5.12 SendAllData</vt:lpstr>
      <vt:lpstr>5.13 FD_SET 관리</vt:lpstr>
      <vt:lpstr>6. I/O 모델 구체화: 동일 인터페이스 I/O 모델 구현</vt:lpstr>
      <vt:lpstr>6.2 AsyncSelect 구체화</vt:lpstr>
      <vt:lpstr>6.3 EventSelect 구체화</vt:lpstr>
      <vt:lpstr>6.4 IOCP 구체화</vt:lpstr>
      <vt:lpstr>6.5 IOCP Host 구조</vt:lpstr>
      <vt:lpstr>7. 정리: I/O 모델별 차이 정리</vt:lpstr>
      <vt:lpstr>7. 정리: 구조적 장점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211</cp:revision>
  <dcterms:created xsi:type="dcterms:W3CDTF">2003-11-30T16:03:20Z</dcterms:created>
  <dcterms:modified xsi:type="dcterms:W3CDTF">2026-05-20T12:06:03Z</dcterms:modified>
</cp:coreProperties>
</file>