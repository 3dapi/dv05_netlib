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302" r:id="rId5"/>
    <p:sldId id="259" r:id="rId6"/>
    <p:sldId id="260" r:id="rId7"/>
    <p:sldId id="332" r:id="rId8"/>
    <p:sldId id="333" r:id="rId9"/>
    <p:sldId id="334" r:id="rId10"/>
    <p:sldId id="261" r:id="rId11"/>
    <p:sldId id="262" r:id="rId12"/>
    <p:sldId id="303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304" r:id="rId22"/>
    <p:sldId id="271" r:id="rId23"/>
    <p:sldId id="305" r:id="rId24"/>
    <p:sldId id="272" r:id="rId25"/>
    <p:sldId id="306" r:id="rId26"/>
    <p:sldId id="273" r:id="rId27"/>
    <p:sldId id="307" r:id="rId28"/>
    <p:sldId id="274" r:id="rId29"/>
    <p:sldId id="308" r:id="rId30"/>
    <p:sldId id="275" r:id="rId31"/>
    <p:sldId id="276" r:id="rId32"/>
    <p:sldId id="277" r:id="rId33"/>
    <p:sldId id="309" r:id="rId34"/>
    <p:sldId id="278" r:id="rId35"/>
    <p:sldId id="280" r:id="rId36"/>
    <p:sldId id="281" r:id="rId37"/>
    <p:sldId id="310" r:id="rId38"/>
    <p:sldId id="279" r:id="rId39"/>
    <p:sldId id="282" r:id="rId40"/>
    <p:sldId id="283" r:id="rId41"/>
    <p:sldId id="311" r:id="rId42"/>
    <p:sldId id="284" r:id="rId43"/>
    <p:sldId id="312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313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9" r:id="rId72"/>
    <p:sldId id="330" r:id="rId73"/>
    <p:sldId id="323" r:id="rId74"/>
    <p:sldId id="324" r:id="rId75"/>
    <p:sldId id="325" r:id="rId76"/>
    <p:sldId id="326" r:id="rId77"/>
    <p:sldId id="327" r:id="rId78"/>
    <p:sldId id="328" r:id="rId79"/>
    <p:sldId id="331" r:id="rId80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C"/>
    <a:srgbClr val="FF9900"/>
    <a:srgbClr val="CCCC00"/>
    <a:srgbClr val="66FF33"/>
    <a:srgbClr val="9900FF"/>
    <a:srgbClr val="FF33CC"/>
    <a:srgbClr val="003300"/>
    <a:srgbClr val="0080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72" autoAdjust="0"/>
    <p:restoredTop sz="94582" autoAdjust="0"/>
  </p:normalViewPr>
  <p:slideViewPr>
    <p:cSldViewPr>
      <p:cViewPr varScale="1">
        <p:scale>
          <a:sx n="122" d="100"/>
          <a:sy n="122" d="100"/>
        </p:scale>
        <p:origin x="189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A88D3AC-F88D-DCA0-3386-175A98D04A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7EF5D1-9489-216D-1711-8BEA3B0B50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DAC108B-3248-AAEB-FEB9-15D3888E98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A285E75-A20B-9E77-B212-EE0F3FE823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FF40FF3-4AB4-F2A0-F5CE-C5CF048B53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2788A3B-C79B-B554-FD19-51E5534BE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E1F17537-23E5-4DE5-98DB-6E922DC7B1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BA1ABAE-82DC-748F-74EF-EB47AB72B2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3015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2A1B03-E6EF-1509-0E27-D5B545ECF9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179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A9E72B9-FCDD-9AAD-C7C9-D8CAFC259D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617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EF43F0-ABB3-A623-05D2-6644680AA5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714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25E678-7D8B-35F1-6BC2-27AC2D1B4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B5FB5F-9879-FE8F-DE10-076DA540C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09EEC06-106C-0AC6-494C-D315AC1264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D82FD4F5-F8EC-1EAA-5042-2329980122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EF4DEAFE-92C6-D447-A594-49DCC51FDA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F936D7EA-50A0-F4CE-9E2C-749AA3156C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- 18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2400" dirty="0"/>
              <a:t>Network Library </a:t>
            </a:r>
            <a:r>
              <a:rPr lang="ko-KR" altLang="en-US" sz="2400" dirty="0"/>
              <a:t>확장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32696-13CE-4399-AF6B-9F40A76F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 </a:t>
            </a:r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2DC88B-BADD-4885-B160-5955E95DA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암호화 </a:t>
            </a:r>
            <a:r>
              <a:rPr lang="en-US" altLang="ko-KR" dirty="0"/>
              <a:t>/ </a:t>
            </a:r>
            <a:r>
              <a:rPr lang="ko-KR" altLang="en-US" dirty="0"/>
              <a:t>복호화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ODBC </a:t>
            </a:r>
            <a:r>
              <a:rPr lang="ko-KR" altLang="en-US" dirty="0"/>
              <a:t>→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OLEDB </a:t>
            </a:r>
            <a:r>
              <a:rPr lang="ko-KR" altLang="en-US" dirty="0"/>
              <a:t>→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MySQL </a:t>
            </a:r>
            <a:r>
              <a:rPr lang="ko-KR" altLang="en-US" dirty="0"/>
              <a:t>연결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B40114-16A1-4532-AE0C-0B70226DF4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68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4AAF2-3AFE-0648-1E24-6C2126B3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Network Library </a:t>
            </a:r>
            <a:r>
              <a:rPr lang="ko-KR" altLang="en-US" dirty="0"/>
              <a:t>확장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37F66-77E3-7A22-D1F0-F63AFDF05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내용</a:t>
            </a:r>
          </a:p>
          <a:p>
            <a:pPr lvl="1"/>
            <a:r>
              <a:rPr lang="ko-KR" altLang="en-US" dirty="0"/>
              <a:t>네트워크 라이브러리 이후 확장 계층</a:t>
            </a:r>
          </a:p>
          <a:p>
            <a:pPr lvl="1"/>
            <a:r>
              <a:rPr lang="ko-KR" altLang="en-US" dirty="0"/>
              <a:t>패킷 계층</a:t>
            </a:r>
          </a:p>
          <a:p>
            <a:pPr lvl="1"/>
            <a:r>
              <a:rPr lang="ko-KR" altLang="en-US" dirty="0"/>
              <a:t>암호화 </a:t>
            </a:r>
            <a:r>
              <a:rPr lang="en-US" altLang="ko-KR" dirty="0"/>
              <a:t>/ </a:t>
            </a:r>
            <a:r>
              <a:rPr lang="ko-KR" altLang="en-US" dirty="0"/>
              <a:t>복호화 계층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접근 계층</a:t>
            </a:r>
          </a:p>
          <a:p>
            <a:pPr lvl="1"/>
            <a:r>
              <a:rPr lang="en-US" altLang="ko-KR" dirty="0"/>
              <a:t>ODBC / OLEDB </a:t>
            </a:r>
            <a:r>
              <a:rPr lang="ko-KR" altLang="en-US" dirty="0"/>
              <a:t>기반 </a:t>
            </a:r>
            <a:r>
              <a:rPr lang="en-US" altLang="ko-KR" dirty="0"/>
              <a:t>DB </a:t>
            </a:r>
            <a:r>
              <a:rPr lang="ko-KR" altLang="en-US" dirty="0"/>
              <a:t>라이브러리</a:t>
            </a:r>
          </a:p>
          <a:p>
            <a:pPr lvl="1"/>
            <a:r>
              <a:rPr lang="en-US" altLang="ko-KR" dirty="0"/>
              <a:t>ODBC Driver </a:t>
            </a:r>
            <a:r>
              <a:rPr lang="ko-KR" altLang="en-US" dirty="0"/>
              <a:t>기반 확장 가능성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E90EF-0941-2B4E-5B99-1F643CF66D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45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3DC9C-9FA8-99BB-81D3-D195D9EF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41311-CF0D-6B20-B486-0CD833E2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Network Library </a:t>
            </a:r>
            <a:r>
              <a:rPr lang="ko-KR" altLang="en-US" dirty="0"/>
              <a:t>확장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FAB959-7F5A-6E55-01C1-060ABDA16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A8676A-20B4-EFA1-EAD3-85BD24517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B9A2C-920C-165C-D05F-83CAD8E5B890}"/>
              </a:ext>
            </a:extLst>
          </p:cNvPr>
          <p:cNvSpPr txBox="1"/>
          <p:nvPr/>
        </p:nvSpPr>
        <p:spPr>
          <a:xfrm>
            <a:off x="971600" y="715539"/>
            <a:ext cx="4572000" cy="5450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08000" rIns="144000" bIns="108000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Network Library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 Layer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Encryption Layer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 Layer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 Logic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DB Library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ODBC / OLEDB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Database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31410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AB7D-0CBB-395A-A952-CB842125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7D8CF-36B9-9B02-5063-4ABC94B6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주요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85A66-106E-0AA3-225D-769EE3C22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B5CCBE-FE5F-3BC4-DF39-32C7D556C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80D5A-D5EC-1947-CAAD-584796A03501}"/>
              </a:ext>
            </a:extLst>
          </p:cNvPr>
          <p:cNvSpPr txBox="1"/>
          <p:nvPr/>
        </p:nvSpPr>
        <p:spPr>
          <a:xfrm>
            <a:off x="539750" y="681534"/>
            <a:ext cx="2664098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DB Library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B3642-0888-1A0D-6123-47C321D9F90E}"/>
              </a:ext>
            </a:extLst>
          </p:cNvPr>
          <p:cNvSpPr txBox="1"/>
          <p:nvPr/>
        </p:nvSpPr>
        <p:spPr>
          <a:xfrm>
            <a:off x="539750" y="2911584"/>
            <a:ext cx="4752330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Encryption Layer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CLcXorCrypt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외부 암호화 라이브러리 후보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6E874-DB67-89C3-0117-5F65ACD5C26F}"/>
              </a:ext>
            </a:extLst>
          </p:cNvPr>
          <p:cNvSpPr txBox="1"/>
          <p:nvPr/>
        </p:nvSpPr>
        <p:spPr>
          <a:xfrm>
            <a:off x="5784552" y="2911584"/>
            <a:ext cx="2951932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 Flow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Encrypt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Send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Recv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 Decrypt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8074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7321-FBDC-3ED5-A0AC-9BEEE648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8667-C783-D968-83EE-595A33DB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라이브러리 확장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2DB83-FCEF-9797-A2F0-66F40F99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설계 기준</a:t>
            </a:r>
          </a:p>
          <a:p>
            <a:pPr lvl="1"/>
            <a:r>
              <a:rPr lang="ko-KR" altLang="en-US" dirty="0"/>
              <a:t>공통 사용 함수 분리</a:t>
            </a:r>
          </a:p>
          <a:p>
            <a:pPr lvl="1"/>
            <a:r>
              <a:rPr lang="ko-KR" altLang="en-US" dirty="0"/>
              <a:t>인터페이스 기반 사용 규칙</a:t>
            </a:r>
          </a:p>
          <a:p>
            <a:pPr lvl="1"/>
            <a:r>
              <a:rPr lang="ko-KR" altLang="en-US" dirty="0"/>
              <a:t>구현 클래스 교체 가능 구조</a:t>
            </a:r>
          </a:p>
          <a:p>
            <a:pPr lvl="1"/>
            <a:r>
              <a:rPr lang="ko-KR" altLang="en-US" dirty="0"/>
              <a:t>응용 계층 코드 단순화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종류와 접근 방식 은닉</a:t>
            </a:r>
          </a:p>
          <a:p>
            <a:pPr lvl="1"/>
            <a:r>
              <a:rPr lang="ko-KR" altLang="en-US" dirty="0"/>
              <a:t>암호화 알고리즘 교체 가능 구조</a:t>
            </a:r>
          </a:p>
          <a:p>
            <a:pPr lvl="1"/>
            <a:r>
              <a:rPr lang="ko-KR" altLang="en-US" dirty="0"/>
              <a:t>네트워크 패킷 처리 흐름</a:t>
            </a:r>
            <a:br>
              <a:rPr lang="en-US" altLang="ko-KR" dirty="0"/>
            </a:br>
            <a:r>
              <a:rPr lang="ko-KR" altLang="en-US" dirty="0"/>
              <a:t>일관성 유지</a:t>
            </a:r>
            <a:endParaRPr lang="ko-KR" altLang="en-US" sz="28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C455E0-5398-0AEA-8710-B2506A004D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B8831-B582-8612-D438-7D69A8DFAB02}"/>
              </a:ext>
            </a:extLst>
          </p:cNvPr>
          <p:cNvSpPr txBox="1"/>
          <p:nvPr/>
        </p:nvSpPr>
        <p:spPr>
          <a:xfrm>
            <a:off x="5292080" y="836712"/>
            <a:ext cx="3779912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추상화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공통 기반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CLcCrypt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구체화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CLcXorCrypt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외부 라이브러리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58604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AFEA-ABAE-2F1B-0B46-FFDAE3BA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062A0-6601-9D6D-77AA-F20308B6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ODBC / OLE DB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AF7D2F-3FFF-6B06-1C9B-BE3637B65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ODBC</a:t>
            </a:r>
          </a:p>
          <a:p>
            <a:pPr lvl="1"/>
            <a:r>
              <a:rPr lang="en-US" altLang="ko-KR" sz="2000" dirty="0"/>
              <a:t>Open Database Connectivity</a:t>
            </a:r>
          </a:p>
          <a:p>
            <a:pPr lvl="1"/>
            <a:r>
              <a:rPr lang="en-US" altLang="ko-KR" sz="2000" dirty="0"/>
              <a:t>SQL </a:t>
            </a:r>
            <a:r>
              <a:rPr lang="ko-KR" altLang="en-US" sz="2000" dirty="0"/>
              <a:t>기반 </a:t>
            </a:r>
            <a:r>
              <a:rPr lang="en-US" altLang="ko-KR" sz="2000" dirty="0"/>
              <a:t>DB </a:t>
            </a:r>
            <a:r>
              <a:rPr lang="ko-KR" altLang="en-US" sz="2000" dirty="0"/>
              <a:t>접근</a:t>
            </a:r>
            <a:endParaRPr lang="en-US" altLang="ko-KR" sz="2000" dirty="0"/>
          </a:p>
          <a:p>
            <a:pPr lvl="1"/>
            <a:r>
              <a:rPr lang="en-US" altLang="ko-KR" sz="2000" dirty="0"/>
              <a:t>DB </a:t>
            </a:r>
            <a:r>
              <a:rPr lang="ko-KR" altLang="en-US" sz="2000" dirty="0"/>
              <a:t>접근 표준 인터페이스 </a:t>
            </a:r>
          </a:p>
          <a:p>
            <a:pPr lvl="1"/>
            <a:r>
              <a:rPr lang="en-US" altLang="ko-KR" sz="2000" dirty="0"/>
              <a:t>ODBC Driver </a:t>
            </a:r>
            <a:r>
              <a:rPr lang="ko-KR" altLang="en-US" sz="2000" dirty="0"/>
              <a:t>기반 연결 </a:t>
            </a:r>
          </a:p>
          <a:p>
            <a:pPr lvl="1"/>
            <a:r>
              <a:rPr lang="en-US" altLang="ko-KR" sz="2000" dirty="0"/>
              <a:t>DSN / SQL Server / Access / Excel </a:t>
            </a:r>
            <a:r>
              <a:rPr lang="ko-KR" altLang="en-US" sz="2000" dirty="0"/>
              <a:t>연결 </a:t>
            </a:r>
          </a:p>
          <a:p>
            <a:pPr lvl="1"/>
            <a:r>
              <a:rPr lang="en-US" altLang="ko-KR" sz="2000" dirty="0"/>
              <a:t>C </a:t>
            </a:r>
            <a:r>
              <a:rPr lang="ko-KR" altLang="en-US" sz="2000" dirty="0"/>
              <a:t>스타일 </a:t>
            </a:r>
            <a:r>
              <a:rPr lang="en-US" altLang="ko-KR" sz="2000" dirty="0"/>
              <a:t>API </a:t>
            </a:r>
            <a:r>
              <a:rPr lang="ko-KR" altLang="en-US" sz="2000" dirty="0"/>
              <a:t>중심 </a:t>
            </a:r>
            <a:endParaRPr lang="en-US" altLang="ko-KR" sz="2000" dirty="0"/>
          </a:p>
          <a:p>
            <a:pPr lvl="2"/>
            <a:endParaRPr lang="ko-KR" altLang="en-US" sz="1800" dirty="0"/>
          </a:p>
          <a:p>
            <a:r>
              <a:rPr lang="en-US" altLang="ko-KR" sz="2400" dirty="0"/>
              <a:t>OLE DB</a:t>
            </a:r>
          </a:p>
          <a:p>
            <a:pPr lvl="1"/>
            <a:r>
              <a:rPr lang="en-US" altLang="ko-KR" sz="2000" dirty="0"/>
              <a:t>Object Linking and Embedding Database </a:t>
            </a:r>
          </a:p>
          <a:p>
            <a:pPr lvl="1"/>
            <a:r>
              <a:rPr lang="en-US" altLang="ko-KR" sz="2000" dirty="0"/>
              <a:t>COM </a:t>
            </a:r>
            <a:r>
              <a:rPr lang="ko-KR" altLang="en-US" sz="2000" dirty="0"/>
              <a:t>기반 데이터 접근</a:t>
            </a:r>
          </a:p>
          <a:p>
            <a:pPr lvl="1"/>
            <a:r>
              <a:rPr lang="en-US" altLang="ko-KR" sz="2000" dirty="0"/>
              <a:t>Provider </a:t>
            </a:r>
            <a:r>
              <a:rPr lang="ko-KR" altLang="en-US" sz="2000" dirty="0"/>
              <a:t>기반 연결 </a:t>
            </a:r>
          </a:p>
          <a:p>
            <a:pPr lvl="1"/>
            <a:r>
              <a:rPr lang="en-US" altLang="ko-KR" sz="2000" dirty="0"/>
              <a:t>ADO _</a:t>
            </a:r>
            <a:r>
              <a:rPr lang="en-US" altLang="ko-KR" sz="2000" dirty="0" err="1"/>
              <a:t>ConnectionPtr</a:t>
            </a:r>
            <a:r>
              <a:rPr lang="en-US" altLang="ko-KR" sz="2000" dirty="0"/>
              <a:t>, _</a:t>
            </a:r>
            <a:r>
              <a:rPr lang="en-US" altLang="ko-KR" sz="2000" dirty="0" err="1"/>
              <a:t>RecordsetPtr</a:t>
            </a:r>
            <a:r>
              <a:rPr lang="en-US" altLang="ko-KR" sz="2000" dirty="0"/>
              <a:t> </a:t>
            </a:r>
            <a:r>
              <a:rPr lang="ko-KR" altLang="en-US" sz="2000" dirty="0"/>
              <a:t>사용 </a:t>
            </a:r>
          </a:p>
          <a:p>
            <a:pPr lvl="1"/>
            <a:r>
              <a:rPr lang="en-US" altLang="ko-KR" sz="2000" dirty="0"/>
              <a:t>SQL Server / Excel / </a:t>
            </a:r>
            <a:r>
              <a:rPr lang="ko-KR" altLang="en-US" sz="2000" dirty="0"/>
              <a:t>기타 데이터 소스 연결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228C11-6C09-087A-A45B-038ED73A30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201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4CC3-0CE7-151A-F08A-BB38E69D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AD96F-4AD6-C0FD-5AD6-F109E369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ODBC </a:t>
            </a:r>
            <a:r>
              <a:rPr lang="ko-KR" altLang="en-US" dirty="0"/>
              <a:t>주요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2FAFD-9B5A-549F-B6D5-975223C30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SQLAllocHandle</a:t>
            </a:r>
            <a:br>
              <a:rPr lang="en-US" altLang="ko-KR" sz="2400" dirty="0"/>
            </a:b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Environment / Connection / Statement </a:t>
            </a:r>
            <a:r>
              <a:rPr lang="ko-KR" altLang="en-US" sz="2400" dirty="0"/>
              <a:t>핸들 생성</a:t>
            </a:r>
          </a:p>
          <a:p>
            <a:r>
              <a:rPr lang="en-US" altLang="ko-KR" sz="2400" dirty="0" err="1"/>
              <a:t>SQLSetEnvAttr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ODBC </a:t>
            </a:r>
            <a:r>
              <a:rPr lang="ko-KR" altLang="en-US" sz="2400" dirty="0"/>
              <a:t>버전 속성 설정</a:t>
            </a:r>
          </a:p>
          <a:p>
            <a:r>
              <a:rPr lang="en-US" altLang="ko-KR" sz="2400" dirty="0" err="1"/>
              <a:t>SQLConnect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DSN / SQL Server </a:t>
            </a:r>
            <a:r>
              <a:rPr lang="ko-KR" altLang="en-US" sz="2400" dirty="0"/>
              <a:t>연결</a:t>
            </a:r>
          </a:p>
          <a:p>
            <a:r>
              <a:rPr lang="en-US" altLang="ko-KR" sz="2400" dirty="0" err="1"/>
              <a:t>SQLExecDirect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SQL </a:t>
            </a:r>
            <a:r>
              <a:rPr lang="ko-KR" altLang="en-US" sz="2400" dirty="0"/>
              <a:t>문 실행</a:t>
            </a:r>
          </a:p>
          <a:p>
            <a:r>
              <a:rPr lang="en-US" altLang="ko-KR" sz="2400" dirty="0" err="1"/>
              <a:t>SQLNumResultCols</a:t>
            </a:r>
            <a:r>
              <a:rPr lang="en-US" altLang="ko-KR" sz="2400" dirty="0"/>
              <a:t> </a:t>
            </a:r>
            <a:r>
              <a:rPr lang="ko-KR" altLang="en-US" sz="2400" dirty="0"/>
              <a:t>→ 결과 컬럼 수 획득</a:t>
            </a:r>
          </a:p>
          <a:p>
            <a:r>
              <a:rPr lang="en-US" altLang="ko-KR" sz="2400" dirty="0" err="1"/>
              <a:t>SQLBindCol</a:t>
            </a:r>
            <a:r>
              <a:rPr lang="en-US" altLang="ko-KR" sz="2400" dirty="0"/>
              <a:t> </a:t>
            </a:r>
            <a:r>
              <a:rPr lang="ko-KR" altLang="en-US" sz="2400" dirty="0"/>
              <a:t>→ 결과 컬럼과 버퍼 연결</a:t>
            </a:r>
          </a:p>
          <a:p>
            <a:r>
              <a:rPr lang="en-US" altLang="ko-KR" sz="2400" dirty="0" err="1"/>
              <a:t>SQLFetch</a:t>
            </a:r>
            <a:r>
              <a:rPr lang="en-US" altLang="ko-KR" sz="2400" dirty="0"/>
              <a:t> </a:t>
            </a:r>
            <a:r>
              <a:rPr lang="ko-KR" altLang="en-US" sz="2400" dirty="0"/>
              <a:t>→ 결과 행 이동</a:t>
            </a:r>
          </a:p>
          <a:p>
            <a:r>
              <a:rPr lang="en-US" altLang="ko-KR" sz="2400" dirty="0" err="1"/>
              <a:t>SQLCloseCursor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SQL </a:t>
            </a:r>
            <a:r>
              <a:rPr lang="ko-KR" altLang="en-US" sz="2400" dirty="0"/>
              <a:t>결과 커서 종료</a:t>
            </a:r>
          </a:p>
          <a:p>
            <a:r>
              <a:rPr lang="en-US" altLang="ko-KR" sz="2400" dirty="0" err="1"/>
              <a:t>SQLDisconnect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DB </a:t>
            </a:r>
            <a:r>
              <a:rPr lang="ko-KR" altLang="en-US" sz="2400" dirty="0"/>
              <a:t>연결 종료</a:t>
            </a:r>
          </a:p>
          <a:p>
            <a:r>
              <a:rPr lang="en-US" altLang="ko-KR" sz="2400" dirty="0" err="1"/>
              <a:t>SQLFreeHandle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en-US" altLang="ko-KR" sz="2400" dirty="0"/>
              <a:t>ODBC </a:t>
            </a:r>
            <a:r>
              <a:rPr lang="ko-KR" altLang="en-US" sz="2400" dirty="0"/>
              <a:t>핸들 해제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61B9D6-C5CC-86B1-8433-34184599E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54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DC61-06BF-AFF4-2405-3E9DEA70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34049-DBAC-DC0A-0669-1D17B5A5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OLEDB / ADO </a:t>
            </a:r>
            <a:r>
              <a:rPr lang="ko-KR" altLang="en-US" dirty="0"/>
              <a:t>주요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552425-C419-21E0-4873-0912F14C7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err="1"/>
              <a:t>CoInitialize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en-US" altLang="ko-KR" sz="2000" dirty="0"/>
              <a:t>COM </a:t>
            </a:r>
            <a:r>
              <a:rPr lang="ko-KR" altLang="en-US" sz="2000" dirty="0"/>
              <a:t>초기화</a:t>
            </a:r>
          </a:p>
          <a:p>
            <a:r>
              <a:rPr lang="en-US" altLang="ko-KR" sz="2000" dirty="0" err="1"/>
              <a:t>CoUninitialize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en-US" altLang="ko-KR" sz="2000" dirty="0"/>
              <a:t>COM </a:t>
            </a:r>
            <a:r>
              <a:rPr lang="ko-KR" altLang="en-US" sz="2000" dirty="0"/>
              <a:t>해제</a:t>
            </a:r>
          </a:p>
          <a:p>
            <a:r>
              <a:rPr lang="en-US" altLang="ko-KR" sz="2000" dirty="0"/>
              <a:t>_</a:t>
            </a:r>
            <a:r>
              <a:rPr lang="en-US" altLang="ko-KR" sz="2000" dirty="0" err="1"/>
              <a:t>ConnectionPtr</a:t>
            </a:r>
            <a:r>
              <a:rPr lang="en-US" altLang="ko-KR" sz="2000" dirty="0"/>
              <a:t>::</a:t>
            </a:r>
            <a:r>
              <a:rPr lang="en-US" altLang="ko-KR" sz="2000" dirty="0" err="1"/>
              <a:t>CreateInstance</a:t>
            </a:r>
            <a:br>
              <a:rPr lang="en-US" altLang="ko-KR" sz="2000" dirty="0"/>
            </a:br>
            <a:r>
              <a:rPr lang="ko-KR" altLang="en-US" sz="2000" dirty="0"/>
              <a:t>→ </a:t>
            </a:r>
            <a:r>
              <a:rPr lang="en-US" altLang="ko-KR" sz="2000" dirty="0"/>
              <a:t>Connection </a:t>
            </a:r>
            <a:r>
              <a:rPr lang="ko-KR" altLang="en-US" sz="2000" dirty="0"/>
              <a:t>객체 생성</a:t>
            </a:r>
          </a:p>
          <a:p>
            <a:r>
              <a:rPr lang="en-US" altLang="ko-KR" sz="2000" dirty="0" err="1"/>
              <a:t>ConnectionString</a:t>
            </a:r>
            <a:r>
              <a:rPr lang="en-US" altLang="ko-KR" sz="2000" dirty="0"/>
              <a:t> </a:t>
            </a:r>
            <a:r>
              <a:rPr lang="ko-KR" altLang="en-US" sz="2000" dirty="0"/>
              <a:t>→ 연결 문자열 설정</a:t>
            </a:r>
          </a:p>
          <a:p>
            <a:r>
              <a:rPr lang="en-US" altLang="ko-KR" sz="2000" dirty="0"/>
              <a:t>Connection::Open </a:t>
            </a:r>
            <a:r>
              <a:rPr lang="ko-KR" altLang="en-US" sz="2000" dirty="0"/>
              <a:t>→ </a:t>
            </a:r>
            <a:r>
              <a:rPr lang="en-US" altLang="ko-KR" sz="2000" dirty="0"/>
              <a:t>DB </a:t>
            </a:r>
            <a:r>
              <a:rPr lang="ko-KR" altLang="en-US" sz="2000" dirty="0"/>
              <a:t>연결</a:t>
            </a:r>
          </a:p>
          <a:p>
            <a:r>
              <a:rPr lang="en-US" altLang="ko-KR" sz="2000" dirty="0"/>
              <a:t>_</a:t>
            </a:r>
            <a:r>
              <a:rPr lang="en-US" altLang="ko-KR" sz="2000" dirty="0" err="1"/>
              <a:t>RecordsetPtr</a:t>
            </a:r>
            <a:r>
              <a:rPr lang="en-US" altLang="ko-KR" sz="2000" dirty="0"/>
              <a:t>::</a:t>
            </a:r>
            <a:r>
              <a:rPr lang="en-US" altLang="ko-KR" sz="2000" dirty="0" err="1"/>
              <a:t>CreateInstance</a:t>
            </a:r>
            <a:br>
              <a:rPr lang="en-US" altLang="ko-KR" sz="2000" dirty="0"/>
            </a:br>
            <a:r>
              <a:rPr lang="ko-KR" altLang="en-US" sz="2000" dirty="0"/>
              <a:t>→ </a:t>
            </a:r>
            <a:r>
              <a:rPr lang="en-US" altLang="ko-KR" sz="2000" dirty="0" err="1"/>
              <a:t>Recordset</a:t>
            </a:r>
            <a:r>
              <a:rPr lang="en-US" altLang="ko-KR" sz="2000" dirty="0"/>
              <a:t> </a:t>
            </a:r>
            <a:r>
              <a:rPr lang="ko-KR" altLang="en-US" sz="2000" dirty="0"/>
              <a:t>객체 생성</a:t>
            </a:r>
          </a:p>
          <a:p>
            <a:r>
              <a:rPr lang="en-US" altLang="ko-KR" sz="2000" dirty="0" err="1"/>
              <a:t>Recordset</a:t>
            </a:r>
            <a:r>
              <a:rPr lang="en-US" altLang="ko-KR" sz="2000" dirty="0"/>
              <a:t>::Open </a:t>
            </a:r>
            <a:r>
              <a:rPr lang="ko-KR" altLang="en-US" sz="2000" dirty="0"/>
              <a:t>→ </a:t>
            </a:r>
            <a:r>
              <a:rPr lang="en-US" altLang="ko-KR" sz="2000" dirty="0"/>
              <a:t>SQL </a:t>
            </a:r>
            <a:r>
              <a:rPr lang="ko-KR" altLang="en-US" sz="2000" dirty="0"/>
              <a:t>실행과 결과 집합 생성</a:t>
            </a:r>
          </a:p>
          <a:p>
            <a:r>
              <a:rPr lang="en-US" altLang="ko-KR" sz="2000" dirty="0" err="1"/>
              <a:t>Recordset</a:t>
            </a:r>
            <a:r>
              <a:rPr lang="en-US" altLang="ko-KR" sz="2000" dirty="0"/>
              <a:t>::</a:t>
            </a:r>
            <a:r>
              <a:rPr lang="en-US" altLang="ko-KR" sz="2000" dirty="0" err="1"/>
              <a:t>GetFields</a:t>
            </a:r>
            <a:r>
              <a:rPr lang="en-US" altLang="ko-KR" sz="2000" dirty="0"/>
              <a:t> </a:t>
            </a:r>
            <a:r>
              <a:rPr lang="ko-KR" altLang="en-US" sz="2000" dirty="0"/>
              <a:t>→ 결과 필드 목록 획득</a:t>
            </a:r>
          </a:p>
          <a:p>
            <a:r>
              <a:rPr lang="en-US" altLang="ko-KR" sz="2000" dirty="0"/>
              <a:t>Fields::</a:t>
            </a:r>
            <a:r>
              <a:rPr lang="en-US" altLang="ko-KR" sz="2000" dirty="0" err="1"/>
              <a:t>GetCount</a:t>
            </a:r>
            <a:r>
              <a:rPr lang="en-US" altLang="ko-KR" sz="2000" dirty="0"/>
              <a:t> </a:t>
            </a:r>
            <a:r>
              <a:rPr lang="ko-KR" altLang="en-US" sz="2000" dirty="0"/>
              <a:t>→ 결과 컬럼 수 획득</a:t>
            </a:r>
          </a:p>
          <a:p>
            <a:r>
              <a:rPr lang="en-US" altLang="ko-KR" sz="2000" dirty="0"/>
              <a:t>Fields-&gt;Item[i]-&gt;</a:t>
            </a:r>
            <a:r>
              <a:rPr lang="en-US" altLang="ko-KR" sz="2000" dirty="0" err="1"/>
              <a:t>GetValue</a:t>
            </a:r>
            <a:r>
              <a:rPr lang="en-US" altLang="ko-KR" sz="2000" dirty="0"/>
              <a:t> </a:t>
            </a:r>
            <a:r>
              <a:rPr lang="ko-KR" altLang="en-US" sz="2000" dirty="0"/>
              <a:t>→ 컬럼 값 획득</a:t>
            </a:r>
          </a:p>
          <a:p>
            <a:r>
              <a:rPr lang="en-US" altLang="ko-KR" sz="2000" dirty="0" err="1"/>
              <a:t>Recordset</a:t>
            </a:r>
            <a:r>
              <a:rPr lang="en-US" altLang="ko-KR" sz="2000" dirty="0"/>
              <a:t>::</a:t>
            </a:r>
            <a:r>
              <a:rPr lang="en-US" altLang="ko-KR" sz="2000" dirty="0" err="1"/>
              <a:t>MoveNext</a:t>
            </a:r>
            <a:r>
              <a:rPr lang="en-US" altLang="ko-KR" sz="2000" dirty="0"/>
              <a:t> </a:t>
            </a:r>
            <a:r>
              <a:rPr lang="ko-KR" altLang="en-US" sz="2000" dirty="0"/>
              <a:t>→ 다음 행 이동</a:t>
            </a:r>
          </a:p>
          <a:p>
            <a:r>
              <a:rPr lang="en-US" altLang="ko-KR" sz="2000" dirty="0" err="1"/>
              <a:t>Recordset</a:t>
            </a:r>
            <a:r>
              <a:rPr lang="en-US" altLang="ko-KR" sz="2000" dirty="0"/>
              <a:t>::Close </a:t>
            </a:r>
            <a:r>
              <a:rPr lang="ko-KR" altLang="en-US" sz="2000" dirty="0"/>
              <a:t>→ 결과 집합 종료</a:t>
            </a:r>
          </a:p>
          <a:p>
            <a:r>
              <a:rPr lang="en-US" altLang="ko-KR" sz="2000" dirty="0"/>
              <a:t>Connection::Close </a:t>
            </a:r>
            <a:r>
              <a:rPr lang="ko-KR" altLang="en-US" sz="2000" dirty="0"/>
              <a:t>→ </a:t>
            </a:r>
            <a:r>
              <a:rPr lang="en-US" altLang="ko-KR" sz="2000" dirty="0"/>
              <a:t>DB </a:t>
            </a:r>
            <a:r>
              <a:rPr lang="ko-KR" altLang="en-US" sz="2000" dirty="0"/>
              <a:t>연결 종료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1B334-75C8-2A91-908C-CEDE8DDAA9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36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78E1-099F-CC77-804F-4402C37F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BB97D-DBE6-26E0-6402-9DF57241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DB Library </a:t>
            </a:r>
            <a:r>
              <a:rPr lang="ko-KR" altLang="en-US" dirty="0"/>
              <a:t>설계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DB Library </a:t>
            </a:r>
            <a:r>
              <a:rPr lang="ko-KR" altLang="en-US" dirty="0"/>
              <a:t>설계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685D04-10D3-BFD1-8E50-16481125B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설계 방향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접근 코드의 라이브러리화</a:t>
            </a:r>
          </a:p>
          <a:p>
            <a:pPr lvl="1"/>
            <a:r>
              <a:rPr lang="en-US" altLang="ko-KR" dirty="0"/>
              <a:t>ODBC / OLEDB </a:t>
            </a:r>
            <a:r>
              <a:rPr lang="ko-KR" altLang="en-US" dirty="0"/>
              <a:t>구현 차이 은닉</a:t>
            </a:r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실행 흐름 통일</a:t>
            </a:r>
          </a:p>
          <a:p>
            <a:pPr lvl="1"/>
            <a:r>
              <a:rPr lang="ko-KR" altLang="en-US" dirty="0"/>
              <a:t>결과 바인딩 방식 통일</a:t>
            </a:r>
          </a:p>
          <a:p>
            <a:pPr lvl="1"/>
            <a:r>
              <a:rPr lang="ko-KR" altLang="en-US" dirty="0"/>
              <a:t>응용 계층은 </a:t>
            </a:r>
            <a:r>
              <a:rPr lang="en-US" altLang="ko-KR" dirty="0" err="1"/>
              <a:t>ILcDB</a:t>
            </a:r>
            <a:r>
              <a:rPr lang="en-US" altLang="ko-KR" dirty="0"/>
              <a:t> </a:t>
            </a:r>
            <a:r>
              <a:rPr lang="ko-KR" altLang="en-US" dirty="0"/>
              <a:t>기준 접근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연결 방식은 </a:t>
            </a:r>
            <a:r>
              <a:rPr lang="en-US" altLang="ko-KR" dirty="0"/>
              <a:t>Factory</a:t>
            </a:r>
            <a:r>
              <a:rPr lang="ko-KR" altLang="en-US" dirty="0"/>
              <a:t>에서 선택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001E68-46AA-C71C-B63C-A2B20E10A6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161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BDD6-0F30-7A64-9CC1-EF1A786A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7EF18-6A17-75DB-AD83-C261E32B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DB Library </a:t>
            </a:r>
            <a:r>
              <a:rPr lang="ko-KR" altLang="en-US" dirty="0"/>
              <a:t>설계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Application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1E635-B38E-BC5F-6396-111D8B74E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EECADE-FDDE-5E8B-5873-FE7E49D4B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F471F-5913-6CD4-10F5-A6CCEC31FF90}"/>
              </a:ext>
            </a:extLst>
          </p:cNvPr>
          <p:cNvSpPr txBox="1"/>
          <p:nvPr/>
        </p:nvSpPr>
        <p:spPr>
          <a:xfrm>
            <a:off x="683568" y="764704"/>
            <a:ext cx="4572000" cy="43534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52000" tIns="144000" rIns="180000" bIns="180000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ODBC API / OLEDB ADO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Database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1436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CC42-D0DA-575F-8A48-6D594512F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0976B-0AD7-E067-703A-92A5079CC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en-US" altLang="ko-KR" dirty="0" err="1"/>
              <a:t>ILcDB</a:t>
            </a:r>
            <a:r>
              <a:rPr lang="en-US" altLang="ko-KR" dirty="0"/>
              <a:t> </a:t>
            </a:r>
            <a:r>
              <a:rPr lang="ko-KR" altLang="en-US" dirty="0"/>
              <a:t>인터페이스 구현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FB3C8-506D-AF8C-88AB-3C76B1843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내용</a:t>
            </a:r>
            <a:endParaRPr lang="en-US" altLang="ko-KR" dirty="0"/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객체 생성 규칙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연결 규칙</a:t>
            </a:r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실행 규칙</a:t>
            </a:r>
          </a:p>
          <a:p>
            <a:pPr lvl="1"/>
            <a:r>
              <a:rPr lang="ko-KR" altLang="en-US" dirty="0"/>
              <a:t>결과 바인딩 규칙</a:t>
            </a:r>
          </a:p>
          <a:p>
            <a:pPr lvl="1"/>
            <a:r>
              <a:rPr lang="en-US" altLang="ko-KR" dirty="0"/>
              <a:t>ODBC / OLEDB </a:t>
            </a:r>
            <a:r>
              <a:rPr lang="ko-KR" altLang="en-US" dirty="0"/>
              <a:t>공통 사용 인터페이스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906E7C-17BF-1BD5-9069-969B9187E6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9274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A4EF4-8D52-4D90-56AF-45F39AF7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4F9BA-22F3-0614-5749-323ED4BF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en-US" altLang="ko-KR" dirty="0" err="1"/>
              <a:t>ILcDB</a:t>
            </a:r>
            <a:r>
              <a:rPr lang="en-US" altLang="ko-KR" dirty="0"/>
              <a:t> </a:t>
            </a:r>
            <a:r>
              <a:rPr lang="ko-KR" altLang="en-US" dirty="0"/>
              <a:t>인터페이스 구현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7845A-8EAF-6D40-1308-A176F168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56358A-A89C-4F71-A122-76E24492D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4D1C68-5D06-1ADB-0605-29E22C5FC575}"/>
              </a:ext>
            </a:extLst>
          </p:cNvPr>
          <p:cNvSpPr txBox="1"/>
          <p:nvPr/>
        </p:nvSpPr>
        <p:spPr>
          <a:xfrm>
            <a:off x="683568" y="620688"/>
            <a:ext cx="7488832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 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p4=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Destroy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SqlBind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sOutputBufc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SqlExec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A626A4"/>
                </a:solidFill>
                <a:latin typeface="Consolas" panose="020B0609020204030204" pitchFamily="49" charset="0"/>
              </a:rPr>
              <a:t>int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8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SqlClose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49840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566F-7D9C-8DCF-64FE-DEF67644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9FA95-6647-E5C6-983F-91179482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en-US" altLang="ko-KR" dirty="0" err="1"/>
              <a:t>ILcDB</a:t>
            </a:r>
            <a:r>
              <a:rPr lang="en-US" altLang="ko-KR" dirty="0"/>
              <a:t> </a:t>
            </a:r>
            <a:r>
              <a:rPr lang="ko-KR" altLang="en-US" dirty="0"/>
              <a:t>함수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A5C87-C52A-DA72-7BB7-FA1C7513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인터페이스 구성</a:t>
            </a:r>
          </a:p>
          <a:p>
            <a:pPr lvl="1"/>
            <a:r>
              <a:rPr lang="en-US" altLang="ko-KR" sz="2000" dirty="0"/>
              <a:t>Create </a:t>
            </a:r>
            <a:r>
              <a:rPr lang="ko-KR" altLang="en-US" sz="2000" dirty="0"/>
              <a:t>→ </a:t>
            </a:r>
            <a:r>
              <a:rPr lang="en-US" altLang="ko-KR" sz="2000" dirty="0"/>
              <a:t>DB </a:t>
            </a:r>
            <a:r>
              <a:rPr lang="ko-KR" altLang="en-US" sz="2000" dirty="0"/>
              <a:t>객체 초기화</a:t>
            </a:r>
          </a:p>
          <a:p>
            <a:pPr lvl="1"/>
            <a:r>
              <a:rPr lang="en-US" altLang="ko-KR" sz="2000" dirty="0"/>
              <a:t>Destroy </a:t>
            </a:r>
            <a:r>
              <a:rPr lang="ko-KR" altLang="en-US" sz="2000" dirty="0"/>
              <a:t>→ 전체 자원 정리</a:t>
            </a:r>
          </a:p>
          <a:p>
            <a:pPr lvl="1"/>
            <a:r>
              <a:rPr lang="en-US" altLang="ko-KR" sz="2000" dirty="0"/>
              <a:t>Connect </a:t>
            </a:r>
            <a:r>
              <a:rPr lang="ko-KR" altLang="en-US" sz="2000" dirty="0"/>
              <a:t>→ </a:t>
            </a:r>
            <a:r>
              <a:rPr lang="en-US" altLang="ko-KR" sz="2000" dirty="0"/>
              <a:t>DB </a:t>
            </a:r>
            <a:r>
              <a:rPr lang="ko-KR" altLang="en-US" sz="2000" dirty="0"/>
              <a:t>연결</a:t>
            </a:r>
          </a:p>
          <a:p>
            <a:pPr lvl="1"/>
            <a:r>
              <a:rPr lang="en-US" altLang="ko-KR" sz="2000" dirty="0"/>
              <a:t>Close </a:t>
            </a:r>
            <a:r>
              <a:rPr lang="ko-KR" altLang="en-US" sz="2000" dirty="0"/>
              <a:t>→ 연결 종료</a:t>
            </a:r>
          </a:p>
          <a:p>
            <a:pPr lvl="1"/>
            <a:r>
              <a:rPr lang="en-US" altLang="ko-KR" sz="2000" dirty="0" err="1"/>
              <a:t>SqlBind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en-US" altLang="ko-KR" sz="2000" dirty="0"/>
              <a:t>SQL </a:t>
            </a:r>
            <a:r>
              <a:rPr lang="ko-KR" altLang="en-US" sz="2000" dirty="0"/>
              <a:t>실행 준비 </a:t>
            </a:r>
            <a:r>
              <a:rPr lang="en-US" altLang="ko-KR" sz="2000" dirty="0"/>
              <a:t>+ </a:t>
            </a:r>
            <a:r>
              <a:rPr lang="ko-KR" altLang="en-US" sz="2000" dirty="0"/>
              <a:t>결과 버퍼 연결</a:t>
            </a:r>
          </a:p>
          <a:p>
            <a:pPr lvl="1"/>
            <a:r>
              <a:rPr lang="en-US" altLang="ko-KR" sz="2000" dirty="0" err="1"/>
              <a:t>SqlExec</a:t>
            </a:r>
            <a:r>
              <a:rPr lang="en-US" altLang="ko-KR" sz="2000" dirty="0"/>
              <a:t> </a:t>
            </a:r>
            <a:r>
              <a:rPr lang="ko-KR" altLang="en-US" sz="2000" dirty="0"/>
              <a:t>→ 결과 행 단위 처리</a:t>
            </a:r>
          </a:p>
          <a:p>
            <a:pPr lvl="1"/>
            <a:r>
              <a:rPr lang="en-US" altLang="ko-KR" sz="2000" dirty="0" err="1"/>
              <a:t>SqlClose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en-US" altLang="ko-KR" sz="2000" dirty="0"/>
              <a:t>SQL </a:t>
            </a:r>
            <a:r>
              <a:rPr lang="ko-KR" altLang="en-US" sz="2000" dirty="0"/>
              <a:t>커서와 결과 버퍼 정리</a:t>
            </a:r>
          </a:p>
          <a:p>
            <a:pPr lvl="1"/>
            <a:r>
              <a:rPr lang="en-US" altLang="ko-KR" sz="2000" dirty="0"/>
              <a:t>Query </a:t>
            </a:r>
            <a:r>
              <a:rPr lang="ko-KR" altLang="en-US" sz="2000" dirty="0"/>
              <a:t>→ 구현별 추가 명령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구조적 특징</a:t>
            </a:r>
          </a:p>
          <a:p>
            <a:pPr lvl="1"/>
            <a:r>
              <a:rPr lang="ko-KR" altLang="en-US" sz="2000" dirty="0"/>
              <a:t>네트워크 </a:t>
            </a:r>
            <a:r>
              <a:rPr lang="en-US" altLang="ko-KR" sz="2000" dirty="0" err="1"/>
              <a:t>ILcNet</a:t>
            </a:r>
            <a:r>
              <a:rPr lang="ko-KR" altLang="en-US" sz="2000" dirty="0"/>
              <a:t>과 동일한 설계 방향</a:t>
            </a:r>
          </a:p>
          <a:p>
            <a:pPr lvl="1"/>
            <a:r>
              <a:rPr lang="ko-KR" altLang="en-US" sz="2000" dirty="0"/>
              <a:t>사용 규칙 추상화</a:t>
            </a:r>
          </a:p>
          <a:p>
            <a:pPr lvl="1"/>
            <a:r>
              <a:rPr lang="ko-KR" altLang="en-US" sz="2000" dirty="0"/>
              <a:t>구현 클래스 교체 가능성</a:t>
            </a:r>
          </a:p>
          <a:p>
            <a:pPr lvl="1"/>
            <a:r>
              <a:rPr lang="ko-KR" altLang="en-US" sz="2000" dirty="0"/>
              <a:t>응용 코드와 </a:t>
            </a:r>
            <a:r>
              <a:rPr lang="en-US" altLang="ko-KR" sz="2000" dirty="0"/>
              <a:t>DB API </a:t>
            </a:r>
            <a:r>
              <a:rPr lang="ko-KR" altLang="en-US" sz="2000" dirty="0"/>
              <a:t>분리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8A6AF7-EBD3-8E50-14BA-CE1177E64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39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F7D5-1D98-5BFE-AA9A-9C9C850C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C3E78-3D15-9CBF-CE7C-C2CBD73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DB Factory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C6AC77-6758-262F-7023-E61AF0D0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ko-KR" altLang="en-US" dirty="0"/>
              <a:t>문자열 명령 기반 </a:t>
            </a:r>
            <a:r>
              <a:rPr lang="en-US" altLang="ko-KR" dirty="0"/>
              <a:t>DB </a:t>
            </a:r>
            <a:r>
              <a:rPr lang="ko-KR" altLang="en-US" dirty="0"/>
              <a:t>구현 선택</a:t>
            </a:r>
          </a:p>
          <a:p>
            <a:pPr lvl="1"/>
            <a:r>
              <a:rPr lang="en-US" altLang="ko-KR" dirty="0"/>
              <a:t>"ODBC" → </a:t>
            </a:r>
            <a:r>
              <a:rPr lang="en-US" altLang="ko-KR" dirty="0" err="1"/>
              <a:t>CLcOdbc</a:t>
            </a:r>
            <a:endParaRPr lang="ko-KR" altLang="en-US" dirty="0"/>
          </a:p>
          <a:p>
            <a:pPr lvl="1"/>
            <a:r>
              <a:rPr lang="en-US" altLang="ko-KR" dirty="0"/>
              <a:t>"OLEDB" → </a:t>
            </a:r>
            <a:r>
              <a:rPr lang="en-US" altLang="ko-KR" dirty="0" err="1"/>
              <a:t>CLcOledb</a:t>
            </a:r>
            <a:endParaRPr lang="ko-KR" altLang="en-US" dirty="0"/>
          </a:p>
          <a:p>
            <a:pPr lvl="1"/>
            <a:r>
              <a:rPr lang="ko-KR" altLang="en-US" dirty="0"/>
              <a:t>생성 후 </a:t>
            </a:r>
            <a:r>
              <a:rPr lang="en-US" altLang="ko-KR" dirty="0"/>
              <a:t>Create</a:t>
            </a:r>
            <a:endParaRPr lang="ko-KR" altLang="en-US" dirty="0"/>
          </a:p>
          <a:p>
            <a:pPr lvl="1"/>
            <a:r>
              <a:rPr lang="ko-KR" altLang="en-US" dirty="0"/>
              <a:t>연결까지 필요한 경우 </a:t>
            </a:r>
            <a:r>
              <a:rPr lang="en-US" altLang="ko-KR" dirty="0" err="1"/>
              <a:t>CreateAndConnect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90B36E-6F70-18B1-0259-61EEBA277A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0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83D5-DB24-19AC-1A2B-C88507D2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1E663-D6CE-9057-A736-B63B9024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DB Factory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52EA0-4B78-B1CF-7852-D625D0B4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E38913-B2BC-3DF6-83FE-0FD8BCE02A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8C4FE-2672-99E9-27A4-0866884396A8}"/>
              </a:ext>
            </a:extLst>
          </p:cNvPr>
          <p:cNvSpPr txBox="1"/>
          <p:nvPr/>
        </p:nvSpPr>
        <p:spPr>
          <a:xfrm>
            <a:off x="683568" y="620688"/>
            <a:ext cx="7920682" cy="60016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LnDB_Create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"ODBC"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-&gt;Create()))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*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"OLDEDB"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-&gt;Create()))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*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6600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79BB-FAE3-715A-E364-233B2219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A627E-8717-0161-276B-1520D5FF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en-US" altLang="ko-KR" dirty="0" err="1"/>
              <a:t>CreateAndConnect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751321-0178-A05A-FB86-86FF02ED2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구현 선택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객체 생성</a:t>
            </a:r>
          </a:p>
          <a:p>
            <a:pPr lvl="1"/>
            <a:r>
              <a:rPr lang="ko-KR" altLang="en-US" dirty="0"/>
              <a:t>연결 인자 전달</a:t>
            </a:r>
          </a:p>
          <a:p>
            <a:pPr lvl="1"/>
            <a:r>
              <a:rPr lang="en-US" altLang="ko-KR" dirty="0"/>
              <a:t>OLEDB Host </a:t>
            </a:r>
            <a:r>
              <a:rPr lang="ko-KR" altLang="en-US" dirty="0"/>
              <a:t>설정 가능</a:t>
            </a:r>
          </a:p>
          <a:p>
            <a:pPr lvl="1"/>
            <a:r>
              <a:rPr lang="ko-KR" altLang="en-US" dirty="0"/>
              <a:t>실패 시 </a:t>
            </a:r>
            <a:r>
              <a:rPr lang="en-US" altLang="ko-KR" dirty="0"/>
              <a:t>Close + delete</a:t>
            </a:r>
            <a:endParaRPr lang="ko-KR" altLang="en-US" dirty="0"/>
          </a:p>
          <a:p>
            <a:pPr lvl="1"/>
            <a:r>
              <a:rPr lang="ko-KR" altLang="en-US" dirty="0"/>
              <a:t>성공 시 </a:t>
            </a:r>
            <a:r>
              <a:rPr lang="en-US" altLang="ko-KR" dirty="0" err="1"/>
              <a:t>ILcDB</a:t>
            </a:r>
            <a:r>
              <a:rPr lang="en-US" altLang="ko-KR" dirty="0"/>
              <a:t> </a:t>
            </a:r>
            <a:r>
              <a:rPr lang="ko-KR" altLang="en-US" dirty="0"/>
              <a:t>포인터 반환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4A9F14-9CD6-BF45-87BF-44CEBC226A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861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79B4-CE84-E16D-6BFC-9EF9F504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473E2-42C6-1C2B-E26D-75F795A2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en-US" altLang="ko-KR" dirty="0" err="1"/>
              <a:t>CreateAndConnect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644A24-0525-B662-3347-B6A4FFC48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D3FB70-3E2E-EA06-BF76-4A0A10EC0C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61A62-6E29-EEEF-792E-4A0232898A6E}"/>
              </a:ext>
            </a:extLst>
          </p:cNvPr>
          <p:cNvSpPr txBox="1"/>
          <p:nvPr/>
        </p:nvSpPr>
        <p:spPr>
          <a:xfrm>
            <a:off x="539750" y="692150"/>
            <a:ext cx="7920682" cy="61247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LnDB_CreateAndConnect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p4,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p5)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"ODBC"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-&gt;Create(p1, p2, p3, p4)))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-&gt;Close();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"OLEDB"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(p5)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-&gt;Query(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"Set Host"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p5);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-&gt;Create(p1, p2, p3, p4)))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-&gt;Close();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99986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2FEC-2CF1-2AD4-644C-7EB56504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C215B-7D1B-016D-8076-160F5129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en-US" altLang="ko-KR" dirty="0" err="1"/>
              <a:t>CLcDB</a:t>
            </a:r>
            <a:r>
              <a:rPr lang="en-US" altLang="ko-KR" dirty="0"/>
              <a:t> </a:t>
            </a:r>
            <a:r>
              <a:rPr lang="ko-KR" altLang="en-US" dirty="0"/>
              <a:t>공통 기반</a:t>
            </a:r>
            <a:r>
              <a:rPr lang="en-US" altLang="ko-KR" dirty="0"/>
              <a:t>: </a:t>
            </a:r>
            <a:r>
              <a:rPr lang="en-US" altLang="ko-KR" dirty="0" err="1"/>
              <a:t>CLcDB</a:t>
            </a:r>
            <a:r>
              <a:rPr lang="en-US" altLang="ko-KR" dirty="0"/>
              <a:t> </a:t>
            </a:r>
            <a:r>
              <a:rPr lang="ko-KR" altLang="en-US" dirty="0"/>
              <a:t>기본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B4FB7-7918-2373-E4B4-A293BFDE9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구현 구조</a:t>
            </a:r>
          </a:p>
          <a:p>
            <a:pPr lvl="1"/>
            <a:r>
              <a:rPr lang="en-US" altLang="ko-KR" sz="2000" dirty="0" err="1"/>
              <a:t>ILcDB</a:t>
            </a:r>
            <a:r>
              <a:rPr lang="en-US" altLang="ko-KR" sz="2000" dirty="0"/>
              <a:t> </a:t>
            </a:r>
            <a:r>
              <a:rPr lang="ko-KR" altLang="en-US" sz="2000" dirty="0"/>
              <a:t>구현 기반</a:t>
            </a:r>
          </a:p>
          <a:p>
            <a:pPr lvl="1"/>
            <a:r>
              <a:rPr lang="en-US" altLang="ko-KR" sz="2000" dirty="0"/>
              <a:t>DB Type </a:t>
            </a:r>
            <a:r>
              <a:rPr lang="ko-KR" altLang="en-US" sz="2000" dirty="0"/>
              <a:t>관리</a:t>
            </a:r>
          </a:p>
          <a:p>
            <a:pPr lvl="1"/>
            <a:r>
              <a:rPr lang="en-US" altLang="ko-KR" sz="2000" dirty="0"/>
              <a:t>Host / DSN / UID / Password </a:t>
            </a:r>
            <a:r>
              <a:rPr lang="ko-KR" altLang="en-US" sz="2000" dirty="0"/>
              <a:t>보관</a:t>
            </a:r>
          </a:p>
          <a:p>
            <a:pPr lvl="1"/>
            <a:r>
              <a:rPr lang="ko-KR" altLang="en-US" sz="2000" dirty="0"/>
              <a:t>실제 </a:t>
            </a:r>
            <a:r>
              <a:rPr lang="en-US" altLang="ko-KR" sz="2000" dirty="0"/>
              <a:t>DB </a:t>
            </a:r>
            <a:r>
              <a:rPr lang="ko-KR" altLang="en-US" sz="2000" dirty="0"/>
              <a:t>접근은 파생 클래스에서 구현</a:t>
            </a:r>
          </a:p>
          <a:p>
            <a:pPr lvl="1"/>
            <a:r>
              <a:rPr lang="ko-KR" altLang="en-US" sz="2000" dirty="0"/>
              <a:t>네트워크의 </a:t>
            </a:r>
            <a:r>
              <a:rPr lang="en-US" altLang="ko-KR" sz="2000" dirty="0" err="1"/>
              <a:t>CLcNet</a:t>
            </a:r>
            <a:r>
              <a:rPr lang="ko-KR" altLang="en-US" sz="2000" dirty="0"/>
              <a:t>과 같은 위치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738B7E-3B06-747C-F96E-DC3353DA28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8CA9C-5D1A-85F8-19A0-07C608C469DB}"/>
              </a:ext>
            </a:extLst>
          </p:cNvPr>
          <p:cNvSpPr txBox="1"/>
          <p:nvPr/>
        </p:nvSpPr>
        <p:spPr>
          <a:xfrm>
            <a:off x="1112826" y="3068960"/>
            <a:ext cx="5907446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CLcDB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EDBaseTyte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DB_NONE=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DB_MDB, DB_DSN, DB_SQL, DB_EXL,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DB_TOT,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EDBaseTyte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m_sHst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260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]{};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m_sDsn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260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{}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m_sUid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260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{}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m_sPwd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260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{}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1901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6B2A3-F724-24E4-97FE-FAD5C788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85B34-F415-DECB-3625-4CFBD2A4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</a:t>
            </a:r>
            <a:r>
              <a:rPr lang="en-US" altLang="ko-KR" dirty="0" err="1"/>
              <a:t>CLcDB</a:t>
            </a:r>
            <a:r>
              <a:rPr lang="en-US" altLang="ko-KR" dirty="0"/>
              <a:t> </a:t>
            </a:r>
            <a:r>
              <a:rPr lang="ko-KR" altLang="en-US" dirty="0"/>
              <a:t>기본 구현</a:t>
            </a:r>
            <a:r>
              <a:rPr lang="en-US" altLang="ko-KR" dirty="0"/>
              <a:t>: </a:t>
            </a:r>
            <a:r>
              <a:rPr lang="ko-KR" altLang="en-US" dirty="0"/>
              <a:t>구현</a:t>
            </a:r>
            <a:r>
              <a:rPr lang="en-US" altLang="ko-KR" dirty="0"/>
              <a:t> </a:t>
            </a:r>
            <a:r>
              <a:rPr lang="ko-KR" altLang="en-US" dirty="0"/>
              <a:t>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DA903-B649-2D51-869B-1300A587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설계 의미</a:t>
            </a:r>
          </a:p>
          <a:p>
            <a:pPr lvl="1"/>
            <a:r>
              <a:rPr lang="ko-KR" altLang="en-US" sz="2000" dirty="0"/>
              <a:t>공통 상태만 보관</a:t>
            </a:r>
          </a:p>
          <a:p>
            <a:pPr lvl="1"/>
            <a:r>
              <a:rPr lang="ko-KR" altLang="en-US" sz="2000" dirty="0"/>
              <a:t>실제 </a:t>
            </a:r>
            <a:r>
              <a:rPr lang="en-US" altLang="ko-KR" sz="2000" dirty="0"/>
              <a:t>DB API </a:t>
            </a:r>
            <a:r>
              <a:rPr lang="ko-KR" altLang="en-US" sz="2000" dirty="0"/>
              <a:t>호출 없음</a:t>
            </a:r>
          </a:p>
          <a:p>
            <a:pPr lvl="1"/>
            <a:r>
              <a:rPr lang="en-US" altLang="ko-KR" sz="2000" dirty="0"/>
              <a:t>ODBC / OLEDB </a:t>
            </a:r>
            <a:r>
              <a:rPr lang="ko-KR" altLang="en-US" sz="2000" dirty="0"/>
              <a:t>파생 클래스에서 구체화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B03DBA-9CF9-C49E-F66A-47439FADF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8228B-6A0C-C3B3-BD17-391E8DB55216}"/>
              </a:ext>
            </a:extLst>
          </p:cNvPr>
          <p:cNvSpPr txBox="1"/>
          <p:nvPr/>
        </p:nvSpPr>
        <p:spPr>
          <a:xfrm>
            <a:off x="1043608" y="2420888"/>
            <a:ext cx="7056784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::Create(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p4)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::Destroy()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::Connect(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SqlBind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sQuery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1830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11E74-B389-310E-5777-A8E62CC3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ODBC </a:t>
            </a:r>
            <a:r>
              <a:rPr lang="ko-KR" altLang="en-US" dirty="0"/>
              <a:t>구현</a:t>
            </a:r>
            <a:r>
              <a:rPr lang="en-US" altLang="ko-KR" dirty="0"/>
              <a:t>: </a:t>
            </a:r>
            <a:r>
              <a:rPr lang="en-US" altLang="ko-KR" dirty="0" err="1"/>
              <a:t>CLcOdbc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2B4FDD-87D3-E0F4-FE40-3C6B14B95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구현 구조</a:t>
            </a:r>
          </a:p>
          <a:p>
            <a:pPr lvl="1"/>
            <a:r>
              <a:rPr lang="en-US" altLang="ko-KR" sz="2000" dirty="0" err="1"/>
              <a:t>CLcDB</a:t>
            </a:r>
            <a:r>
              <a:rPr lang="en-US" altLang="ko-KR" sz="2000" dirty="0"/>
              <a:t> </a:t>
            </a:r>
            <a:r>
              <a:rPr lang="ko-KR" altLang="en-US" sz="2000" dirty="0"/>
              <a:t>상속</a:t>
            </a:r>
          </a:p>
          <a:p>
            <a:pPr lvl="1"/>
            <a:r>
              <a:rPr lang="en-US" altLang="ko-KR" sz="2000" dirty="0"/>
              <a:t>ODBC </a:t>
            </a:r>
            <a:r>
              <a:rPr lang="ko-KR" altLang="en-US" sz="2000" dirty="0"/>
              <a:t>환경 핸들</a:t>
            </a:r>
          </a:p>
          <a:p>
            <a:pPr lvl="1"/>
            <a:r>
              <a:rPr lang="en-US" altLang="ko-KR" sz="2000" dirty="0"/>
              <a:t>ODBC </a:t>
            </a:r>
            <a:r>
              <a:rPr lang="ko-KR" altLang="en-US" sz="2000" dirty="0"/>
              <a:t>연결 핸들</a:t>
            </a:r>
          </a:p>
          <a:p>
            <a:pPr lvl="1"/>
            <a:r>
              <a:rPr lang="en-US" altLang="ko-KR" sz="2000" dirty="0"/>
              <a:t>ODBC Statement </a:t>
            </a:r>
            <a:r>
              <a:rPr lang="ko-KR" altLang="en-US" sz="2000" dirty="0"/>
              <a:t>핸들</a:t>
            </a:r>
          </a:p>
          <a:p>
            <a:pPr lvl="1"/>
            <a:r>
              <a:rPr lang="ko-KR" altLang="en-US" sz="2000" dirty="0"/>
              <a:t>결과 필드 개수</a:t>
            </a:r>
          </a:p>
          <a:p>
            <a:pPr lvl="1"/>
            <a:r>
              <a:rPr lang="ko-KR" altLang="en-US" sz="2000" dirty="0"/>
              <a:t>결과 문자열 버퍼</a:t>
            </a:r>
          </a:p>
          <a:p>
            <a:pPr lvl="1"/>
            <a:r>
              <a:rPr lang="ko-KR" altLang="en-US" sz="2000" dirty="0"/>
              <a:t>결과 길이 버퍼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015017-FFF0-BC98-1BC4-D9BD429FED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5DD63-BF3F-40D4-D4A8-A1118080BD00}"/>
              </a:ext>
            </a:extLst>
          </p:cNvPr>
          <p:cNvSpPr txBox="1"/>
          <p:nvPr/>
        </p:nvSpPr>
        <p:spPr>
          <a:xfrm>
            <a:off x="4355976" y="692150"/>
            <a:ext cx="4572000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HANDLE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m_hEnv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SQLHENV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HANDLE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SQLHDBC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HANDLE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m_hStm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SQLHSTMT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SHORT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05682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9FE2-4E51-32B8-33EF-331E4AA8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2C972-3545-434D-5531-909B9C39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ODBC </a:t>
            </a:r>
            <a:r>
              <a:rPr lang="ko-KR" altLang="en-US" dirty="0"/>
              <a:t>연결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311839-E4A2-40F6-AA1E-E7BE73D8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연결 방식</a:t>
            </a:r>
          </a:p>
          <a:p>
            <a:r>
              <a:rPr lang="en-US" altLang="ko-KR" dirty="0"/>
              <a:t>DB_DSN </a:t>
            </a:r>
            <a:r>
              <a:rPr lang="ko-KR" altLang="en-US" dirty="0"/>
              <a:t>→ </a:t>
            </a:r>
            <a:r>
              <a:rPr lang="en-US" altLang="ko-KR" dirty="0"/>
              <a:t>DSN </a:t>
            </a:r>
            <a:r>
              <a:rPr lang="ko-KR" altLang="en-US" dirty="0"/>
              <a:t>연결</a:t>
            </a:r>
          </a:p>
          <a:p>
            <a:r>
              <a:rPr lang="en-US" altLang="ko-KR" dirty="0"/>
              <a:t>DB_SQL </a:t>
            </a:r>
            <a:r>
              <a:rPr lang="ko-KR" altLang="en-US" dirty="0"/>
              <a:t>→ </a:t>
            </a:r>
            <a:r>
              <a:rPr lang="en-US" altLang="ko-KR" dirty="0"/>
              <a:t>SQL Server </a:t>
            </a:r>
            <a:r>
              <a:rPr lang="ko-KR" altLang="en-US" dirty="0"/>
              <a:t>연결</a:t>
            </a:r>
          </a:p>
          <a:p>
            <a:r>
              <a:rPr lang="en-US" altLang="ko-KR" dirty="0"/>
              <a:t>DB_MDB </a:t>
            </a:r>
            <a:r>
              <a:rPr lang="ko-KR" altLang="en-US" dirty="0"/>
              <a:t>→ </a:t>
            </a:r>
            <a:r>
              <a:rPr lang="en-US" altLang="ko-KR" dirty="0"/>
              <a:t>Access MDB </a:t>
            </a:r>
            <a:r>
              <a:rPr lang="ko-KR" altLang="en-US" dirty="0"/>
              <a:t>연결</a:t>
            </a:r>
          </a:p>
          <a:p>
            <a:r>
              <a:rPr lang="en-US" altLang="ko-KR" dirty="0"/>
              <a:t>DB_EXL </a:t>
            </a:r>
            <a:r>
              <a:rPr lang="ko-KR" altLang="en-US" dirty="0"/>
              <a:t>→ </a:t>
            </a:r>
            <a:r>
              <a:rPr lang="en-US" altLang="ko-KR" dirty="0"/>
              <a:t>Excel </a:t>
            </a:r>
            <a:r>
              <a:rPr lang="ko-KR" altLang="en-US" dirty="0"/>
              <a:t>파일 연결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A617DE-CAE0-032B-0637-1CF64FF7CD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089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2237-2CC6-7CD4-91BF-3709CB4D5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FF4A7-5850-A332-0F34-5377C053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ODBC </a:t>
            </a:r>
            <a:r>
              <a:rPr lang="ko-KR" altLang="en-US" dirty="0"/>
              <a:t>연결 구현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3B980-B833-43F0-A212-B6316312B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F80FBB-DA23-8792-8852-12BD651BE4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AE8BC-F15E-EA32-7497-0923BCF0B8F6}"/>
              </a:ext>
            </a:extLst>
          </p:cNvPr>
          <p:cNvSpPr txBox="1"/>
          <p:nvPr/>
        </p:nvSpPr>
        <p:spPr>
          <a:xfrm>
            <a:off x="755576" y="692150"/>
            <a:ext cx="7560840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ConnectDsn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ConnectSql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ConnectMdb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ConnectExcel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47786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1D39-DF0B-1CBC-B191-EB9A6E4F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72748-6BC3-49C6-698A-40DAAE97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en-US" altLang="ko-KR" dirty="0" err="1"/>
              <a:t>CLcOdbc</a:t>
            </a:r>
            <a:r>
              <a:rPr lang="en-US" altLang="ko-KR" dirty="0"/>
              <a:t> Create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68D-7C3D-3CF2-653E-11E0CA0F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ODBC </a:t>
            </a:r>
            <a:r>
              <a:rPr lang="ko-KR" altLang="en-US" dirty="0"/>
              <a:t>환경 핸들 할당</a:t>
            </a:r>
          </a:p>
          <a:p>
            <a:pPr lvl="1"/>
            <a:r>
              <a:rPr lang="en-US" altLang="ko-KR" dirty="0"/>
              <a:t>ODBC </a:t>
            </a:r>
            <a:r>
              <a:rPr lang="ko-KR" altLang="en-US" dirty="0"/>
              <a:t>버전 속성 설정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연결 핸들 할당</a:t>
            </a:r>
          </a:p>
          <a:p>
            <a:pPr lvl="1"/>
            <a:r>
              <a:rPr lang="ko-KR" altLang="en-US" dirty="0"/>
              <a:t>연결 인자 존재 시 </a:t>
            </a:r>
            <a:r>
              <a:rPr lang="en-US" altLang="ko-KR" dirty="0"/>
              <a:t>Connect </a:t>
            </a:r>
            <a:r>
              <a:rPr lang="ko-KR" altLang="en-US" dirty="0"/>
              <a:t>호출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E0FC6E-6099-9921-327D-17776BD5F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729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28F6-AD0C-8BFA-F05A-852BC9A4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A6E6C-B82B-78B2-82FC-ECBF67A4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en-US" altLang="ko-KR" dirty="0" err="1"/>
              <a:t>CLcOdbc</a:t>
            </a:r>
            <a:r>
              <a:rPr lang="en-US" altLang="ko-KR" dirty="0"/>
              <a:t> Create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63C472-7F44-88E6-E7AD-1F4FABE76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9A47A2-2BB9-CD4E-A05A-092ADADB18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AFA9A-98B0-4D3A-74EE-CBC2EFEF30AE}"/>
              </a:ext>
            </a:extLst>
          </p:cNvPr>
          <p:cNvSpPr txBox="1"/>
          <p:nvPr/>
        </p:nvSpPr>
        <p:spPr>
          <a:xfrm>
            <a:off x="683567" y="764704"/>
            <a:ext cx="8065145" cy="60016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::Create(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p4)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SQLRETURN hr;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SQLAllocHandle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(SQL_HANDLE_ENV,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SQL_NULL_HANDLE,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&amp;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m_hEnv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SQLSetEnvAttr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m_hEnv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SQL_ATTR_ODBC_VERSION,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(SQLPOINTER)SQL_OV_ODBC3,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SQL_IS_INTEGER);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SQLAllocHandle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(SQL_HANDLE_DBC,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m_hEnv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&amp;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(p1)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hr = Connect(p1, p2, p3, p4);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71113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BEAE1-1739-6E11-71FD-F231C79C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A2E7D-4459-22EF-6179-F69C71F6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</a:t>
            </a:r>
            <a:r>
              <a:rPr lang="en-US" altLang="ko-KR" dirty="0" err="1"/>
              <a:t>CLcOdbc</a:t>
            </a:r>
            <a:r>
              <a:rPr lang="en-US" altLang="ko-KR" dirty="0"/>
              <a:t> Connect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FF38D-50B4-729E-3176-78E5FBC1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타입 문자열 확인</a:t>
            </a:r>
          </a:p>
          <a:p>
            <a:pPr lvl="1"/>
            <a:r>
              <a:rPr lang="en-US" altLang="ko-KR" dirty="0" err="1"/>
              <a:t>mdb</a:t>
            </a:r>
            <a:r>
              <a:rPr lang="en-US" altLang="ko-KR" dirty="0"/>
              <a:t>, </a:t>
            </a:r>
            <a:r>
              <a:rPr lang="en-US" altLang="ko-KR" dirty="0" err="1"/>
              <a:t>dsn</a:t>
            </a:r>
            <a:r>
              <a:rPr lang="en-US" altLang="ko-KR" dirty="0"/>
              <a:t>, </a:t>
            </a:r>
            <a:r>
              <a:rPr lang="en-US" altLang="ko-KR" dirty="0" err="1"/>
              <a:t>sql</a:t>
            </a:r>
            <a:r>
              <a:rPr lang="en-US" altLang="ko-KR" dirty="0"/>
              <a:t>, excel</a:t>
            </a:r>
            <a:endParaRPr lang="ko-KR" altLang="en-US" dirty="0"/>
          </a:p>
          <a:p>
            <a:pPr lvl="1"/>
            <a:r>
              <a:rPr lang="ko-KR" altLang="en-US" dirty="0"/>
              <a:t>내부 타입 </a:t>
            </a:r>
            <a:r>
              <a:rPr lang="en-US" altLang="ko-KR" dirty="0"/>
              <a:t>DB_MDB, DB_DSN, DB_SQL, DB_EXL</a:t>
            </a:r>
            <a:endParaRPr lang="ko-KR" altLang="en-US" dirty="0"/>
          </a:p>
          <a:p>
            <a:pPr lvl="1"/>
            <a:r>
              <a:rPr lang="ko-KR" altLang="en-US" dirty="0"/>
              <a:t>타입별 연결 함수 호출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E9C75D-5EBC-0E73-FF9B-5486DB8535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231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47F6-BF99-F535-AF48-759479E6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9B3BF-7F46-2C92-D67B-E6D23535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4.7 </a:t>
            </a:r>
            <a:r>
              <a:rPr lang="en-US" altLang="ko-KR" dirty="0" err="1"/>
              <a:t>CLcOdbc</a:t>
            </a:r>
            <a:r>
              <a:rPr lang="en-US" altLang="ko-KR" dirty="0"/>
              <a:t> Connect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A0D3D-88F4-9119-9650-C2CC4194B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3A7A8F-922E-44D2-E24B-E468137904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28D9-BB1C-4185-8082-7A7F1B2D4FB9}"/>
              </a:ext>
            </a:extLst>
          </p:cNvPr>
          <p:cNvSpPr txBox="1"/>
          <p:nvPr/>
        </p:nvSpPr>
        <p:spPr>
          <a:xfrm>
            <a:off x="695599" y="681519"/>
            <a:ext cx="8064574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::Connect(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SQLRETURN hr;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SQLAllocHandle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(SQL_HANDLE_DBC,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m_hEnv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mdb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DB_MDB;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dsn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DB_DSN;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DB_SQL;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"excel"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DB_EXL;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dirty="0">
              <a:effectLst/>
            </a:endParaRPr>
          </a:p>
          <a:p>
            <a:pPr>
              <a:buNone/>
            </a:pP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(DB_NONE ==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(DB_MDB ==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ConnectMdb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*)p1);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(DB_DSN ==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*)p1);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(DB_SQL ==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*)p1, 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*)p2, 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*)p3);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(DB_EXL ==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ConnectExcel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*)p1);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75421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D032-6419-D3D6-06B9-EF76B9F8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DC6CD-E129-7A16-8F38-FF115818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4.8 ODBC DSN / SQL </a:t>
            </a:r>
            <a:r>
              <a:rPr lang="ko-KR" altLang="en-US" dirty="0"/>
              <a:t>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E4EDC-D663-AA87-4ECC-FE6B65391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DSN </a:t>
            </a:r>
            <a:r>
              <a:rPr lang="ko-KR" altLang="en-US" dirty="0"/>
              <a:t>문자열 준비</a:t>
            </a:r>
          </a:p>
          <a:p>
            <a:pPr lvl="1"/>
            <a:r>
              <a:rPr lang="ko-KR" altLang="en-US" dirty="0"/>
              <a:t>사용자 </a:t>
            </a:r>
            <a:r>
              <a:rPr lang="en-US" altLang="ko-KR" dirty="0"/>
              <a:t>ID / Password </a:t>
            </a:r>
            <a:r>
              <a:rPr lang="ko-KR" altLang="en-US" dirty="0"/>
              <a:t>준비</a:t>
            </a:r>
          </a:p>
          <a:p>
            <a:pPr lvl="1"/>
            <a:r>
              <a:rPr lang="en-US" altLang="ko-KR" dirty="0" err="1"/>
              <a:t>SQLConnect</a:t>
            </a:r>
            <a:endParaRPr lang="ko-KR" altLang="en-US" dirty="0"/>
          </a:p>
          <a:p>
            <a:pPr lvl="1"/>
            <a:r>
              <a:rPr lang="en-US" altLang="ko-KR" dirty="0"/>
              <a:t>Statement </a:t>
            </a:r>
            <a:r>
              <a:rPr lang="ko-KR" altLang="en-US" dirty="0"/>
              <a:t>핸들 할당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0BB500-FF41-2265-8901-4C646CEE97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4725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A9EB-C38C-3332-3E08-B27816EE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81385-16CD-6404-E99B-265CA69D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4.9 ODBC DSN / SQL </a:t>
            </a:r>
            <a:r>
              <a:rPr lang="ko-KR" altLang="en-US" dirty="0"/>
              <a:t>연결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BC80B2-5D19-FD8B-36FC-E3C08E5BD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F334DE-3515-044B-33F1-8C27DE5B65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78CD3-1EB3-177A-B9E1-EA6C70629975}"/>
              </a:ext>
            </a:extLst>
          </p:cNvPr>
          <p:cNvSpPr txBox="1"/>
          <p:nvPr/>
        </p:nvSpPr>
        <p:spPr>
          <a:xfrm>
            <a:off x="4821238" y="692150"/>
            <a:ext cx="4230686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SQLCHAR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260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SQLCHAR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SQLCHAR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SQLRETURN hr;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SQLConnect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SQL_NTS,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SQL_NTS,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SQL_NTS);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SQLAllocHandle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(SQL_HANDLE_STMT,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m_hStm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95A37-765F-A2D7-D3E3-794984C2C9F0}"/>
              </a:ext>
            </a:extLst>
          </p:cNvPr>
          <p:cNvSpPr txBox="1"/>
          <p:nvPr/>
        </p:nvSpPr>
        <p:spPr>
          <a:xfrm>
            <a:off x="233364" y="692150"/>
            <a:ext cx="4446586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SQLCHAR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260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SQLRETURN hr;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SQLConnect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SQL_NTS,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(SQLCHAR*)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SQL_NTS,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(SQLCHAR*)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SQL_NTS);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SQLAllocHandle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(SQL_HANDLE_STMT,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m_hStm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47509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473-5AE0-2154-7532-4AA23784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FF4F8-5762-76AE-1C08-FC01EAD99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4.10 ODBC </a:t>
            </a:r>
            <a:r>
              <a:rPr lang="en-US" altLang="ko-KR" dirty="0" err="1"/>
              <a:t>SqlBind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C8DCBD-0B1D-10BE-05D4-007C8E0C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문자열 준비</a:t>
            </a:r>
          </a:p>
          <a:p>
            <a:pPr lvl="1"/>
            <a:r>
              <a:rPr lang="en-US" altLang="ko-KR" dirty="0" err="1"/>
              <a:t>SQLExecDirect</a:t>
            </a:r>
            <a:endParaRPr lang="ko-KR" altLang="en-US" dirty="0"/>
          </a:p>
          <a:p>
            <a:pPr lvl="1"/>
            <a:r>
              <a:rPr lang="ko-KR" altLang="en-US" dirty="0"/>
              <a:t>결과 컬럼 수 확인</a:t>
            </a:r>
          </a:p>
          <a:p>
            <a:pPr lvl="1"/>
            <a:r>
              <a:rPr lang="ko-KR" altLang="en-US" dirty="0"/>
              <a:t>컬럼 개수만큼 버퍼 할당</a:t>
            </a:r>
          </a:p>
          <a:p>
            <a:pPr lvl="1"/>
            <a:r>
              <a:rPr lang="ko-KR" altLang="en-US" dirty="0"/>
              <a:t>모든 결과를 문자열로 바인딩</a:t>
            </a:r>
          </a:p>
          <a:p>
            <a:pPr lvl="1"/>
            <a:r>
              <a:rPr lang="ko-KR" altLang="en-US" dirty="0"/>
              <a:t>출력 버퍼 포인터 반환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BCF780-6D73-A159-3CA6-A6285FE317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7712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8D36-237C-5110-749B-27BFB71B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D1D65-5477-A752-F942-66D0F7A1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4.11 ODBC </a:t>
            </a:r>
            <a:r>
              <a:rPr lang="en-US" altLang="ko-KR" dirty="0" err="1"/>
              <a:t>SqlBind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D1FC2F-B838-0A92-C7A5-9A820ECEA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87C664-045A-F481-20C2-EED65DB2D7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991DD-697E-6264-0494-7F2682203534}"/>
              </a:ext>
            </a:extLst>
          </p:cNvPr>
          <p:cNvSpPr txBox="1"/>
          <p:nvPr/>
        </p:nvSpPr>
        <p:spPr>
          <a:xfrm>
            <a:off x="539750" y="692150"/>
            <a:ext cx="7992690" cy="61247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CLcOdbc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::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SqlBind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sQuery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***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sDataBufc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**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nDataBufc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nBufSize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SQLRETURN hr;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i=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SQLCHAR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1024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sQuery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);</a:t>
            </a:r>
          </a:p>
          <a:p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SQLExecDirect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m_hStm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SQL_NTS);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SQLNumResultCols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m_hStm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m_nField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  <a:ea typeface="D2Coding" panose="020B0609020101020101" pitchFamily="49" charset="-127"/>
            </a:endParaRPr>
          </a:p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m_pDataBuf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new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*[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m_nField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]{};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new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[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m_nField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{}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for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(i=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 i&lt;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m_nField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 ++i)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m_pDataBuf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[i]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new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nBufSize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]{};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}</a:t>
            </a:r>
          </a:p>
          <a:p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for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(i=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 i&lt;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m_nField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 ++i)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m_pDataBuf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[i];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hr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SQLBindCol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m_hStm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i+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SQL_C_CHAR,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                (SQLPOINTER)(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nBufSize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                (SQLINTEGER*)(&amp;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[i]));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(FAILED(hr))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sDataBufc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m_pDataBuf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nDataBufc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m_nField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}</a:t>
            </a:r>
            <a:endParaRPr lang="ko-KR" altLang="en-US" sz="14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5660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011F-D8C1-C2F2-74AF-ACA6BE08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2BF0D-31F2-7E24-7248-BD31A783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4.12 ODBC </a:t>
            </a:r>
            <a:r>
              <a:rPr lang="en-US" altLang="ko-KR" dirty="0" err="1"/>
              <a:t>SqlExec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4E799-34D5-5487-034B-9D503D5D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 err="1"/>
              <a:t>SqlExec</a:t>
            </a:r>
            <a:endParaRPr lang="ko-KR" altLang="en-US" dirty="0"/>
          </a:p>
          <a:p>
            <a:pPr lvl="1"/>
            <a:r>
              <a:rPr lang="en-US" altLang="ko-KR" dirty="0" err="1"/>
              <a:t>SQLFetch</a:t>
            </a:r>
            <a:endParaRPr lang="ko-KR" altLang="en-US" dirty="0"/>
          </a:p>
          <a:p>
            <a:pPr lvl="1"/>
            <a:r>
              <a:rPr lang="ko-KR" altLang="en-US" dirty="0"/>
              <a:t>행 단위 결과 이동</a:t>
            </a:r>
          </a:p>
          <a:p>
            <a:pPr lvl="1"/>
            <a:r>
              <a:rPr lang="en-US" altLang="ko-KR" dirty="0"/>
              <a:t>SQL_NO_DATA</a:t>
            </a:r>
            <a:r>
              <a:rPr lang="ko-KR" altLang="en-US" dirty="0"/>
              <a:t>면 종료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2D045B-EB61-63C2-595E-725EC63662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674BF-E06F-F638-8E19-4C5E30998575}"/>
              </a:ext>
            </a:extLst>
          </p:cNvPr>
          <p:cNvSpPr txBox="1"/>
          <p:nvPr/>
        </p:nvSpPr>
        <p:spPr>
          <a:xfrm>
            <a:off x="1187624" y="3284984"/>
            <a:ext cx="468052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SqlExec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SQLRETURN hr;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SQLFetch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m_hStm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(SQL_NO_DATA == hr)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47800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156F3-4EB3-66C8-1DD9-6F7FB810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416B4-D01D-7F68-EBDE-FCFD2BB7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4.13 ODBC </a:t>
            </a:r>
            <a:r>
              <a:rPr lang="en-US" altLang="ko-KR" dirty="0" err="1"/>
              <a:t>SqlClose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EBAAD-46F4-1774-5C93-079FB2089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정리 과정</a:t>
            </a:r>
          </a:p>
          <a:p>
            <a:pPr lvl="1"/>
            <a:r>
              <a:rPr lang="ko-KR" altLang="en-US" dirty="0"/>
              <a:t>커서 닫기</a:t>
            </a:r>
          </a:p>
          <a:p>
            <a:pPr lvl="1"/>
            <a:r>
              <a:rPr lang="ko-KR" altLang="en-US" dirty="0"/>
              <a:t>컬럼 버퍼 해제</a:t>
            </a:r>
          </a:p>
          <a:p>
            <a:pPr lvl="1"/>
            <a:r>
              <a:rPr lang="ko-KR" altLang="en-US" dirty="0"/>
              <a:t>길이 버퍼 해제</a:t>
            </a:r>
          </a:p>
          <a:p>
            <a:pPr lvl="1"/>
            <a:r>
              <a:rPr lang="ko-KR" altLang="en-US" dirty="0"/>
              <a:t>필드 수 </a:t>
            </a:r>
            <a:r>
              <a:rPr lang="en-US" altLang="ko-KR" dirty="0"/>
              <a:t>0 </a:t>
            </a:r>
            <a:r>
              <a:rPr lang="ko-KR" altLang="en-US" dirty="0"/>
              <a:t>초기화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C62001-2A6D-004A-82CE-0A26C2170A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9D430-DF7A-4F3F-9E76-CAEFB37E82AA}"/>
              </a:ext>
            </a:extLst>
          </p:cNvPr>
          <p:cNvSpPr txBox="1"/>
          <p:nvPr/>
        </p:nvSpPr>
        <p:spPr>
          <a:xfrm>
            <a:off x="3669457" y="764704"/>
            <a:ext cx="5150693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SqlClose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SQLRETURN hr=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SQLCloseCursor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m_hStm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[]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[]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[]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hr;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15197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4CCC-DC7B-3835-A804-86389445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D77C0-09CE-0F50-3877-CC113152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OLEDB </a:t>
            </a:r>
            <a:r>
              <a:rPr lang="ko-KR" altLang="en-US" dirty="0"/>
              <a:t>구현</a:t>
            </a:r>
            <a:r>
              <a:rPr lang="en-US" altLang="ko-KR" dirty="0"/>
              <a:t>: </a:t>
            </a:r>
            <a:r>
              <a:rPr lang="en-US" altLang="ko-KR" dirty="0" err="1"/>
              <a:t>CLcOledb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161BE-2EAF-79CC-C9D7-AA1D4FCFC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구현 구조</a:t>
            </a:r>
          </a:p>
          <a:p>
            <a:pPr lvl="1"/>
            <a:r>
              <a:rPr lang="en-US" altLang="ko-KR" dirty="0" err="1"/>
              <a:t>CLcDB</a:t>
            </a:r>
            <a:r>
              <a:rPr lang="en-US" altLang="ko-KR" dirty="0"/>
              <a:t> </a:t>
            </a:r>
            <a:r>
              <a:rPr lang="ko-KR" altLang="en-US" dirty="0"/>
              <a:t>상속</a:t>
            </a:r>
          </a:p>
          <a:p>
            <a:pPr lvl="1"/>
            <a:r>
              <a:rPr lang="en-US" altLang="ko-KR" dirty="0"/>
              <a:t>ADO Connection</a:t>
            </a:r>
            <a:endParaRPr lang="ko-KR" altLang="en-US" dirty="0"/>
          </a:p>
          <a:p>
            <a:pPr lvl="1"/>
            <a:r>
              <a:rPr lang="en-US" altLang="ko-KR" dirty="0"/>
              <a:t>ADO </a:t>
            </a:r>
            <a:r>
              <a:rPr lang="en-US" altLang="ko-KR" dirty="0" err="1"/>
              <a:t>Recordset</a:t>
            </a:r>
            <a:endParaRPr lang="ko-KR" altLang="en-US" dirty="0"/>
          </a:p>
          <a:p>
            <a:pPr lvl="1"/>
            <a:r>
              <a:rPr lang="ko-KR" altLang="en-US" dirty="0"/>
              <a:t>결과 필드 개수</a:t>
            </a:r>
          </a:p>
          <a:p>
            <a:pPr lvl="1"/>
            <a:r>
              <a:rPr lang="ko-KR" altLang="en-US" dirty="0"/>
              <a:t>결과 문자열 버퍼</a:t>
            </a:r>
          </a:p>
          <a:p>
            <a:pPr lvl="1"/>
            <a:r>
              <a:rPr lang="ko-KR" altLang="en-US" dirty="0"/>
              <a:t>결과 길이 버퍼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B5959F-E19F-2F3D-DAC1-51EC02949A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B6AB0-93CA-61F2-8631-A91E2940AA9A}"/>
              </a:ext>
            </a:extLst>
          </p:cNvPr>
          <p:cNvSpPr txBox="1"/>
          <p:nvPr/>
        </p:nvSpPr>
        <p:spPr>
          <a:xfrm>
            <a:off x="4355976" y="908720"/>
            <a:ext cx="4536504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CLcDB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_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ConnectionPtr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_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RecordsetPtr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SHORT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18054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379B6-CCB3-C00A-3F8B-8474B59C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78E58-DD2A-48F7-6471-9D01DDAA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OLEDB </a:t>
            </a:r>
            <a:r>
              <a:rPr lang="ko-KR" altLang="en-US" dirty="0"/>
              <a:t>연결 종류</a:t>
            </a:r>
            <a:r>
              <a:rPr lang="en-US" altLang="ko-KR" dirty="0"/>
              <a:t>: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DC34E-0E66-7EA8-C0D5-FAF8209CE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연결 방식</a:t>
            </a:r>
          </a:p>
          <a:p>
            <a:pPr lvl="1"/>
            <a:r>
              <a:rPr lang="en-US" altLang="ko-KR" dirty="0"/>
              <a:t>SQL Server</a:t>
            </a:r>
          </a:p>
          <a:p>
            <a:pPr lvl="1"/>
            <a:r>
              <a:rPr lang="en-US" altLang="ko-KR" dirty="0"/>
              <a:t>Excel</a:t>
            </a:r>
          </a:p>
          <a:p>
            <a:pPr lvl="1"/>
            <a:r>
              <a:rPr lang="en-US" altLang="ko-KR" dirty="0"/>
              <a:t>ODBC DSN</a:t>
            </a:r>
          </a:p>
          <a:p>
            <a:pPr lvl="1"/>
            <a:r>
              <a:rPr lang="en-US" altLang="ko-KR" dirty="0"/>
              <a:t>OLEDB DSN</a:t>
            </a:r>
          </a:p>
          <a:p>
            <a:pPr lvl="1"/>
            <a:r>
              <a:rPr lang="ko-KR" altLang="en-US" dirty="0"/>
              <a:t>독립 </a:t>
            </a:r>
            <a:r>
              <a:rPr lang="en-US" altLang="ko-KR" dirty="0"/>
              <a:t>DSN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1A6B29-3BB2-9401-37F5-3B7281741E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4D8B8-0909-BEB6-E9EB-926B26FE191A}"/>
              </a:ext>
            </a:extLst>
          </p:cNvPr>
          <p:cNvSpPr txBox="1"/>
          <p:nvPr/>
        </p:nvSpPr>
        <p:spPr>
          <a:xfrm>
            <a:off x="3515544" y="698500"/>
            <a:ext cx="5256386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ConnectSql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sDataBase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ConnectExcel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ConnectDsnOdbc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ConnectDsnOledb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ConnectDsnInd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sDSN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82584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A075-25A9-D029-C10A-DB33E8AE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D3563-FCA9-ADB3-FCA4-724FAC3F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en-US" altLang="ko-KR" dirty="0" err="1"/>
              <a:t>CLcOledb</a:t>
            </a:r>
            <a:r>
              <a:rPr lang="en-US" altLang="ko-KR" dirty="0"/>
              <a:t> Create / Destroy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FA4234-F3AB-F099-C964-8B0015E1A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COM </a:t>
            </a:r>
            <a:r>
              <a:rPr lang="ko-KR" altLang="en-US" dirty="0"/>
              <a:t>초기화</a:t>
            </a:r>
          </a:p>
          <a:p>
            <a:pPr lvl="1"/>
            <a:r>
              <a:rPr lang="ko-KR" altLang="en-US" dirty="0"/>
              <a:t>연결 인자 존재 시 </a:t>
            </a:r>
            <a:r>
              <a:rPr lang="en-US" altLang="ko-KR" dirty="0"/>
              <a:t>Connect</a:t>
            </a:r>
          </a:p>
          <a:p>
            <a:pPr lvl="1"/>
            <a:r>
              <a:rPr lang="en-US" altLang="ko-KR" dirty="0" err="1"/>
              <a:t>Recordset</a:t>
            </a:r>
            <a:r>
              <a:rPr lang="en-US" altLang="ko-KR" dirty="0"/>
              <a:t> Close</a:t>
            </a:r>
          </a:p>
          <a:p>
            <a:pPr lvl="1"/>
            <a:r>
              <a:rPr lang="en-US" altLang="ko-KR" dirty="0"/>
              <a:t>Connection Close</a:t>
            </a:r>
          </a:p>
          <a:p>
            <a:pPr lvl="1"/>
            <a:r>
              <a:rPr lang="en-US" altLang="ko-KR" dirty="0"/>
              <a:t>COM </a:t>
            </a:r>
            <a:r>
              <a:rPr lang="ko-KR" altLang="en-US" dirty="0"/>
              <a:t>해제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5AFF33-8B56-AB5C-DED9-822D6CBA1E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4270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E2AA6-2874-3D35-2776-E2706E2E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1ADDE-F341-6C9C-C27C-7268E730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</a:t>
            </a:r>
            <a:r>
              <a:rPr lang="en-US" altLang="ko-KR" dirty="0" err="1"/>
              <a:t>CLcOledb</a:t>
            </a:r>
            <a:r>
              <a:rPr lang="en-US" altLang="ko-KR" dirty="0"/>
              <a:t> Create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12068E-7E66-D6B6-4E80-F7C1BF046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88E740-3488-E5CA-F71A-433940CF1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CDE16-A2EE-0AC4-D108-0A4E230C630C}"/>
              </a:ext>
            </a:extLst>
          </p:cNvPr>
          <p:cNvSpPr txBox="1"/>
          <p:nvPr/>
        </p:nvSpPr>
        <p:spPr>
          <a:xfrm>
            <a:off x="683568" y="692150"/>
            <a:ext cx="6984776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::Create(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p3,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p4)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hr=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CoInitialize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(p1)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hr = Connect(p1, p2, p3, p4);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(FAILED(hr))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03824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2022F-33DE-F512-EF38-3E3857EF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497BD-AFFC-3C9B-9C76-0D8792ED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en-US" altLang="ko-KR" dirty="0" err="1"/>
              <a:t>CLcOledb</a:t>
            </a:r>
            <a:r>
              <a:rPr lang="en-US" altLang="ko-KR" dirty="0"/>
              <a:t> Destroy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4D0A6-AF9E-C0D9-10AD-80D8FE59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2F70D3-4B77-36CD-6CCE-26A407E4EB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E7756-EF07-D36A-7F02-A763EE7F77A8}"/>
              </a:ext>
            </a:extLst>
          </p:cNvPr>
          <p:cNvSpPr txBox="1"/>
          <p:nvPr/>
        </p:nvSpPr>
        <p:spPr>
          <a:xfrm>
            <a:off x="683568" y="692150"/>
            <a:ext cx="7704856" cy="501675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::Destroy()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-&gt;Close();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-&gt;Close();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CoUninitialize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06406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030B-A273-C65D-33AA-6E5AC193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194BA-F3F3-4D89-C4DF-2D7166FC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en-US" altLang="ko-KR" dirty="0" err="1"/>
              <a:t>CLcOledb</a:t>
            </a:r>
            <a:r>
              <a:rPr lang="en-US" altLang="ko-KR" dirty="0"/>
              <a:t> Query / Host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D8C76-CBB7-B165-4BAB-F3DBBAAB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"Set Host" </a:t>
            </a:r>
            <a:r>
              <a:rPr lang="ko-KR" altLang="en-US" dirty="0"/>
              <a:t>명령</a:t>
            </a:r>
          </a:p>
          <a:p>
            <a:pPr lvl="1"/>
            <a:r>
              <a:rPr lang="en-US" altLang="ko-KR" dirty="0"/>
              <a:t>Host </a:t>
            </a:r>
            <a:r>
              <a:rPr lang="ko-KR" altLang="en-US" dirty="0"/>
              <a:t>문자열 저장</a:t>
            </a:r>
          </a:p>
          <a:p>
            <a:pPr lvl="1"/>
            <a:r>
              <a:rPr lang="en-US" altLang="ko-KR" dirty="0"/>
              <a:t>SQL Server </a:t>
            </a:r>
            <a:r>
              <a:rPr lang="ko-KR" altLang="en-US" dirty="0"/>
              <a:t>연결 문자열 생성 시 사용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75BC9C-5D9B-C7C0-7E9D-F43753FD1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AA899-0BDF-C0EE-3CCC-2974496A833A}"/>
              </a:ext>
            </a:extLst>
          </p:cNvPr>
          <p:cNvSpPr txBox="1"/>
          <p:nvPr/>
        </p:nvSpPr>
        <p:spPr>
          <a:xfrm>
            <a:off x="1043609" y="2737460"/>
            <a:ext cx="7380312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::Query(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"Set Host"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sCmd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sHst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m_sHst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sHst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2D01E-17A4-DFEA-92E2-5DBE913B3E0D}"/>
              </a:ext>
            </a:extLst>
          </p:cNvPr>
          <p:cNvSpPr txBox="1"/>
          <p:nvPr/>
        </p:nvSpPr>
        <p:spPr>
          <a:xfrm>
            <a:off x="3851920" y="5811907"/>
            <a:ext cx="457200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(p5)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-&gt;Query(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"Set Host"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p5);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79870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53D9-B9DD-44D2-638B-DA5BF725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6D26D-3D2A-E004-8F5D-64DF4DF3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en-US" altLang="ko-KR" dirty="0" err="1"/>
              <a:t>CLcOledb</a:t>
            </a:r>
            <a:r>
              <a:rPr lang="en-US" altLang="ko-KR" dirty="0"/>
              <a:t> Connect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27B82-BE46-9143-D14D-83CB5A8FA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ko-KR" altLang="en-US" dirty="0"/>
              <a:t>타입 문자열 확인</a:t>
            </a:r>
          </a:p>
          <a:p>
            <a:pPr lvl="1"/>
            <a:r>
              <a:rPr lang="en-US" altLang="ko-KR" dirty="0" err="1"/>
              <a:t>mdb</a:t>
            </a:r>
            <a:r>
              <a:rPr lang="en-US" altLang="ko-KR" dirty="0"/>
              <a:t>, </a:t>
            </a:r>
            <a:r>
              <a:rPr lang="en-US" altLang="ko-KR" dirty="0" err="1"/>
              <a:t>dsn</a:t>
            </a:r>
            <a:r>
              <a:rPr lang="en-US" altLang="ko-KR" dirty="0"/>
              <a:t>, </a:t>
            </a:r>
            <a:r>
              <a:rPr lang="en-US" altLang="ko-KR" dirty="0" err="1"/>
              <a:t>sql</a:t>
            </a:r>
            <a:r>
              <a:rPr lang="en-US" altLang="ko-KR" dirty="0"/>
              <a:t>, excel</a:t>
            </a:r>
          </a:p>
          <a:p>
            <a:pPr lvl="1"/>
            <a:r>
              <a:rPr lang="ko-KR" altLang="en-US" dirty="0"/>
              <a:t>현재 구현 중심</a:t>
            </a:r>
            <a:r>
              <a:rPr lang="en-US" altLang="ko-KR" dirty="0"/>
              <a:t>: SQL / Excel</a:t>
            </a:r>
          </a:p>
          <a:p>
            <a:pPr lvl="1"/>
            <a:r>
              <a:rPr lang="en-US" altLang="ko-KR" dirty="0"/>
              <a:t>SQL</a:t>
            </a:r>
            <a:r>
              <a:rPr lang="ko-KR" altLang="en-US" dirty="0"/>
              <a:t>은 </a:t>
            </a:r>
            <a:r>
              <a:rPr lang="en-US" altLang="ko-KR" dirty="0" err="1"/>
              <a:t>ConnectSql</a:t>
            </a:r>
            <a:endParaRPr lang="en-US" altLang="ko-KR" dirty="0"/>
          </a:p>
          <a:p>
            <a:pPr lvl="1"/>
            <a:r>
              <a:rPr lang="en-US" altLang="ko-KR" dirty="0"/>
              <a:t>Excel</a:t>
            </a:r>
            <a:r>
              <a:rPr lang="ko-KR" altLang="en-US" dirty="0"/>
              <a:t>은 </a:t>
            </a:r>
            <a:r>
              <a:rPr lang="en-US" altLang="ko-KR" dirty="0" err="1"/>
              <a:t>ConnectExcel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F1E0D-F2DB-E8FA-90F7-225D70C270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6081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0706-A017-CA5C-DC7E-47AA0F56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B7EB6-213A-97C3-B553-91E9D0AF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en-US" altLang="ko-KR" dirty="0" err="1"/>
              <a:t>CLcOledb</a:t>
            </a:r>
            <a:r>
              <a:rPr lang="en-US" altLang="ko-KR" dirty="0"/>
              <a:t> Connect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942F22-55DC-4CF8-BCE9-11ECD2B89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058804-8D07-911C-46A0-226F571BDB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67285-7D6D-6B84-06EE-A02293430C78}"/>
              </a:ext>
            </a:extLst>
          </p:cNvPr>
          <p:cNvSpPr txBox="1"/>
          <p:nvPr/>
        </p:nvSpPr>
        <p:spPr>
          <a:xfrm>
            <a:off x="539750" y="620688"/>
            <a:ext cx="8064500" cy="61863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::Connect(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p1,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p2,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p3)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pDataType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mdb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DB_MDB;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dsn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DB_DSN;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DB_SQL;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==_stricmp(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"excel"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DB_EXL;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(DB_NONE ==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(DB_SQL ==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ConnectSql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*)p1,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*)p2,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*)p3);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(DB_EXL ==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m_eType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ConnectExcel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*)p1);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1447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F1F0B-8F30-B79E-75C0-84A19A39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35CD4-1DC3-B6F7-24C5-11B7B75F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5.9 OLEDB SQL </a:t>
            </a:r>
            <a:r>
              <a:rPr lang="ko-KR" altLang="en-US" dirty="0"/>
              <a:t>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1EF702-67C7-F6F6-1DF1-A21549781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ko-KR" altLang="en-US" dirty="0"/>
              <a:t>연결 문자열 생성</a:t>
            </a:r>
          </a:p>
          <a:p>
            <a:pPr lvl="1"/>
            <a:r>
              <a:rPr lang="en-US" altLang="ko-KR" dirty="0"/>
              <a:t>SQLOLEDB Provider</a:t>
            </a:r>
          </a:p>
          <a:p>
            <a:pPr lvl="1"/>
            <a:r>
              <a:rPr lang="en-US" altLang="ko-KR" dirty="0"/>
              <a:t>Data Source</a:t>
            </a:r>
          </a:p>
          <a:p>
            <a:pPr lvl="1"/>
            <a:r>
              <a:rPr lang="en-US" altLang="ko-KR" dirty="0"/>
              <a:t>Initial Catalog</a:t>
            </a:r>
          </a:p>
          <a:p>
            <a:pPr lvl="1"/>
            <a:r>
              <a:rPr lang="en-US" altLang="ko-KR" dirty="0"/>
              <a:t>User Id / Password</a:t>
            </a:r>
          </a:p>
          <a:p>
            <a:pPr lvl="1"/>
            <a:r>
              <a:rPr lang="en-US" altLang="ko-KR" dirty="0"/>
              <a:t>Connection </a:t>
            </a:r>
            <a:r>
              <a:rPr lang="ko-KR" altLang="en-US" dirty="0"/>
              <a:t>객체 생성</a:t>
            </a:r>
          </a:p>
          <a:p>
            <a:pPr lvl="1"/>
            <a:r>
              <a:rPr lang="en-US" altLang="ko-KR" dirty="0"/>
              <a:t>Open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23CC0B-B1D5-2C1B-05DF-52A31F46A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704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1CD49-85D1-9D15-AF10-3B476AF4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58065-1E21-1DDB-BB11-673D1018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5.10 OLEDB SQL </a:t>
            </a:r>
            <a:r>
              <a:rPr lang="ko-KR" altLang="en-US" dirty="0"/>
              <a:t>연결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47C26A-BC2E-F0E1-C846-74ED0EFF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6F57CD-780F-67AB-77B8-037FE7AEEA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C14E55-5F6F-1FC0-EA00-002880180EF3}"/>
              </a:ext>
            </a:extLst>
          </p:cNvPr>
          <p:cNvSpPr txBox="1"/>
          <p:nvPr/>
        </p:nvSpPr>
        <p:spPr>
          <a:xfrm>
            <a:off x="562274" y="603071"/>
            <a:ext cx="8280399" cy="61247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&amp;&amp;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"provider=SQLOLEDB; 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"Data Source=%s; 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"Initial Catalog=%s; 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"User Id=%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s;Password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=%s; 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m_sHst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m_sPwd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"provider=SQLOLEDB; 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"Data Source=%s; 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"Initial Catalog=%s; 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"User Id=%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s;Password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=; 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m_sHst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m_sDsn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m_sUid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ComValidTest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m_pCon.CreateInstance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uuidof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(Connection)));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ConnectionString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ConnectionTimeout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-&gt;Open(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adConnectUnspecified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3815896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987D-3EF9-6668-A3AF-A76EC41A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0FFE2-0C7E-7A1B-36CC-7B5FF636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5.11 OLEDB Excel </a:t>
            </a:r>
            <a:r>
              <a:rPr lang="ko-KR" altLang="en-US" dirty="0"/>
              <a:t>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34F152-680F-F6C7-EF9C-51D4784E5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Microsoft.Jet.OLEDB.4.0 Provider</a:t>
            </a:r>
          </a:p>
          <a:p>
            <a:pPr lvl="1"/>
            <a:r>
              <a:rPr lang="en-US" altLang="ko-KR" dirty="0"/>
              <a:t>Excel </a:t>
            </a:r>
            <a:r>
              <a:rPr lang="ko-KR" altLang="en-US" dirty="0"/>
              <a:t>파일 경로</a:t>
            </a:r>
          </a:p>
          <a:p>
            <a:pPr lvl="1"/>
            <a:r>
              <a:rPr lang="en-US" altLang="ko-KR" dirty="0"/>
              <a:t>Extended Properties</a:t>
            </a:r>
          </a:p>
          <a:p>
            <a:pPr lvl="1"/>
            <a:r>
              <a:rPr lang="en-US" altLang="ko-KR" dirty="0"/>
              <a:t>Connection </a:t>
            </a:r>
            <a:r>
              <a:rPr lang="ko-KR" altLang="en-US" dirty="0"/>
              <a:t>객체 생성</a:t>
            </a:r>
          </a:p>
          <a:p>
            <a:pPr lvl="1"/>
            <a:r>
              <a:rPr lang="en-US" altLang="ko-KR" dirty="0"/>
              <a:t>Open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A0A008-FACD-B6FB-3E00-1CCB6ED1CC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4330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0C07-58FC-0129-B528-246D007A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69D74-5EF7-CE64-D7C2-517109D5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5.12 OLEDB Excel </a:t>
            </a:r>
            <a:r>
              <a:rPr lang="ko-KR" altLang="en-US" dirty="0"/>
              <a:t>연결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C1A8FC-9CE0-F4C1-E0A4-4F6DAFB5C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BAE8D6-7BA8-AF81-0124-578E3D89B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0926F-7928-49EF-2EAC-93E371A5D066}"/>
              </a:ext>
            </a:extLst>
          </p:cNvPr>
          <p:cNvSpPr txBox="1"/>
          <p:nvPr/>
        </p:nvSpPr>
        <p:spPr>
          <a:xfrm>
            <a:off x="539749" y="619125"/>
            <a:ext cx="8208963" cy="535531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ConnectExcel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"provider=Microsoft.Jet.OLEDB.4.0; "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"Data Source= %s ; "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"Extended Properties=\"Excel 8.0; "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"HDR=No; 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=False\" 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ComValidTest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m_pCon.CreateInstance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uuidof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(Connection)));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ConnectionString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ConnectionTimeout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-&gt;Open(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adConnectUnspecified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5865861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7038-E303-5E8E-0FB0-C0F65738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1539F-AA05-7C28-7601-24F671F8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5.13 OLEDB </a:t>
            </a:r>
            <a:r>
              <a:rPr lang="en-US" altLang="ko-KR" dirty="0" err="1"/>
              <a:t>SqlBind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AA291-F082-6E94-1777-242A671A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문자열 준비</a:t>
            </a:r>
          </a:p>
          <a:p>
            <a:pPr lvl="1"/>
            <a:r>
              <a:rPr lang="en-US" altLang="ko-KR" dirty="0" err="1"/>
              <a:t>Recordset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  <a:p>
            <a:pPr lvl="1"/>
            <a:r>
              <a:rPr lang="en-US" altLang="ko-KR" dirty="0" err="1"/>
              <a:t>Recordset</a:t>
            </a:r>
            <a:r>
              <a:rPr lang="en-US" altLang="ko-KR" dirty="0"/>
              <a:t> Open</a:t>
            </a:r>
            <a:endParaRPr lang="ko-KR" altLang="en-US" dirty="0"/>
          </a:p>
          <a:p>
            <a:pPr lvl="1"/>
            <a:r>
              <a:rPr lang="en-US" altLang="ko-KR" dirty="0"/>
              <a:t>Fields </a:t>
            </a:r>
            <a:r>
              <a:rPr lang="ko-KR" altLang="en-US" dirty="0"/>
              <a:t>접근</a:t>
            </a:r>
          </a:p>
          <a:p>
            <a:pPr lvl="1"/>
            <a:r>
              <a:rPr lang="ko-KR" altLang="en-US" dirty="0"/>
              <a:t>필드 개수 확인</a:t>
            </a:r>
          </a:p>
          <a:p>
            <a:pPr lvl="1"/>
            <a:r>
              <a:rPr lang="ko-KR" altLang="en-US" dirty="0"/>
              <a:t>결과 버퍼 할당</a:t>
            </a:r>
          </a:p>
          <a:p>
            <a:pPr lvl="1"/>
            <a:r>
              <a:rPr lang="ko-KR" altLang="en-US" dirty="0"/>
              <a:t>결과 버퍼 포인터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1687A6-E2E1-04FE-F769-78CE07D359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142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9CA09-16A3-D38A-9082-CE69335EF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8177E-27F8-376A-84B8-AB9F795D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5.14 OLEDB </a:t>
            </a:r>
            <a:r>
              <a:rPr lang="en-US" altLang="ko-KR" dirty="0" err="1"/>
              <a:t>SqlBind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C4E304-4A61-DD84-BBA8-ECD53094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C2B17E-4B19-6E89-DD58-8A68D98A2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32215-E631-35FE-70EF-BB6C0901642B}"/>
              </a:ext>
            </a:extLst>
          </p:cNvPr>
          <p:cNvSpPr txBox="1"/>
          <p:nvPr/>
        </p:nvSpPr>
        <p:spPr>
          <a:xfrm>
            <a:off x="539749" y="692150"/>
            <a:ext cx="8208963" cy="50783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SqlBind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sQuery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HRESULT hr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sQuery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ComValidTest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m_pRsc.CreateInstance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uuidof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Recordset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-&gt;Open(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m_pCon.GetInterfacePtr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adOpenForwardOnly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adLockReadOnly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adCmdText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FieldsPtr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pFldLoop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pFldLoop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pFldLoop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GetCount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*[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(LONG i=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[i],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045666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3326-7A4A-09D9-D18F-24AFC6FF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CA3B4-E652-A560-EF76-1EDCB3E9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5.15 OLEDB </a:t>
            </a:r>
            <a:r>
              <a:rPr lang="en-US" altLang="ko-KR" dirty="0" err="1"/>
              <a:t>SqlExec</a:t>
            </a:r>
            <a:r>
              <a:rPr lang="en-US" altLang="ko-KR" dirty="0"/>
              <a:t> / </a:t>
            </a:r>
            <a:r>
              <a:rPr lang="en-US" altLang="ko-KR" dirty="0" err="1"/>
              <a:t>SqlClose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57FCC0-3B57-64E9-AAAE-3206BF598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 err="1"/>
              <a:t>EndOfFile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</a:p>
          <a:p>
            <a:pPr lvl="1"/>
            <a:r>
              <a:rPr lang="ko-KR" altLang="en-US" dirty="0"/>
              <a:t>필드별 값 획득</a:t>
            </a:r>
          </a:p>
          <a:p>
            <a:pPr lvl="1"/>
            <a:r>
              <a:rPr lang="ko-KR" altLang="en-US" dirty="0"/>
              <a:t>문자열 버퍼 변환</a:t>
            </a:r>
          </a:p>
          <a:p>
            <a:pPr lvl="1"/>
            <a:r>
              <a:rPr lang="ko-KR" altLang="en-US" dirty="0"/>
              <a:t>다음 레코드 이동</a:t>
            </a:r>
          </a:p>
          <a:p>
            <a:pPr lvl="1"/>
            <a:r>
              <a:rPr lang="ko-KR" altLang="en-US" dirty="0"/>
              <a:t>버퍼 해제</a:t>
            </a:r>
          </a:p>
          <a:p>
            <a:pPr lvl="1"/>
            <a:r>
              <a:rPr lang="en-US" altLang="ko-KR" dirty="0" err="1"/>
              <a:t>Recordset</a:t>
            </a:r>
            <a:r>
              <a:rPr lang="en-US" altLang="ko-KR" dirty="0"/>
              <a:t> Close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F7FA60-0036-97C4-DD60-C0E879D79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550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BF2A-FE8B-4DA2-D89A-86421DBD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6FCD-0684-9EFA-1D65-68B2B5AF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5.16 OLEDB </a:t>
            </a:r>
            <a:r>
              <a:rPr lang="en-US" altLang="ko-KR" dirty="0" err="1"/>
              <a:t>SqlExec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1C802-4E18-0783-A0F5-7E8F6CFFE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1A78D8-138C-36F0-E79E-3ABFE4A0B3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F61BF-3D4A-03DF-5014-6673C73605DD}"/>
              </a:ext>
            </a:extLst>
          </p:cNvPr>
          <p:cNvSpPr txBox="1"/>
          <p:nvPr/>
        </p:nvSpPr>
        <p:spPr>
          <a:xfrm>
            <a:off x="539750" y="692150"/>
            <a:ext cx="7920682" cy="59400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SqlExec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EndOfFile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(LONG i=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20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variant_t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var;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var =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-&gt;Fields-&gt;Item[i]-&gt;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variant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 → 문자열 버퍼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MoveNext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928305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B271-3C4A-102D-9508-2C86506E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99D74-A33E-C3FB-026A-9F13D40C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5.17 OLEDB </a:t>
            </a:r>
            <a:r>
              <a:rPr lang="en-US" altLang="ko-KR" dirty="0" err="1"/>
              <a:t>SqlClose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2F4AC-BE91-0EAC-04A5-A91AC10D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FC76DA-B72F-810B-EE98-CFDA090916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5E9F5-052A-05AE-1DD0-509E44BA5E9B}"/>
              </a:ext>
            </a:extLst>
          </p:cNvPr>
          <p:cNvSpPr txBox="1"/>
          <p:nvPr/>
        </p:nvSpPr>
        <p:spPr>
          <a:xfrm>
            <a:off x="539750" y="697930"/>
            <a:ext cx="7416626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SqlClose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[]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[]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[]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m_nDataBuf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m_nField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-&gt;Close();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m_pRsc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54356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00D4-E674-1A04-3692-768A873B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6D470-187C-92FB-4E46-1C350A8D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DB </a:t>
            </a:r>
            <a:r>
              <a:rPr lang="ko-KR" altLang="en-US" dirty="0"/>
              <a:t>사용</a:t>
            </a:r>
            <a:r>
              <a:rPr lang="en-US" altLang="ko-KR" dirty="0"/>
              <a:t>: ODBC </a:t>
            </a:r>
            <a:r>
              <a:rPr lang="ko-KR" altLang="en-US" dirty="0"/>
              <a:t>사용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30496-772C-806B-230B-7D4F5251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종류 설정</a:t>
            </a:r>
          </a:p>
          <a:p>
            <a:pPr lvl="1"/>
            <a:r>
              <a:rPr lang="ko-KR" altLang="en-US" dirty="0"/>
              <a:t>파일 또는 </a:t>
            </a:r>
            <a:r>
              <a:rPr lang="en-US" altLang="ko-KR" dirty="0"/>
              <a:t>DSN </a:t>
            </a:r>
            <a:r>
              <a:rPr lang="ko-KR" altLang="en-US" dirty="0"/>
              <a:t>설정</a:t>
            </a:r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문자열 설정</a:t>
            </a:r>
          </a:p>
          <a:p>
            <a:pPr lvl="1"/>
            <a:r>
              <a:rPr lang="en-US" altLang="ko-KR" dirty="0" err="1"/>
              <a:t>LnDB_CreateAndConnect</a:t>
            </a:r>
            <a:endParaRPr lang="en-US" altLang="ko-KR" dirty="0"/>
          </a:p>
          <a:p>
            <a:pPr lvl="1"/>
            <a:r>
              <a:rPr lang="en-US" altLang="ko-KR" dirty="0" err="1"/>
              <a:t>SqlBind</a:t>
            </a:r>
            <a:endParaRPr lang="en-US" altLang="ko-KR" dirty="0"/>
          </a:p>
          <a:p>
            <a:pPr lvl="1"/>
            <a:r>
              <a:rPr lang="en-US" altLang="ko-KR" dirty="0" err="1"/>
              <a:t>SqlExec</a:t>
            </a:r>
            <a:r>
              <a:rPr lang="en-US" altLang="ko-KR" dirty="0"/>
              <a:t> </a:t>
            </a:r>
            <a:r>
              <a:rPr lang="ko-KR" altLang="en-US" dirty="0"/>
              <a:t>반복</a:t>
            </a:r>
          </a:p>
          <a:p>
            <a:pPr lvl="1"/>
            <a:r>
              <a:rPr lang="en-US" altLang="ko-KR" dirty="0" err="1"/>
              <a:t>SqlClose</a:t>
            </a:r>
            <a:endParaRPr lang="en-US" altLang="ko-KR" dirty="0"/>
          </a:p>
          <a:p>
            <a:pPr lvl="1"/>
            <a:r>
              <a:rPr lang="en-US" altLang="ko-KR" dirty="0"/>
              <a:t>Close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6EDAD1-34E3-8DEA-D27B-DF3E9D538C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677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EADE-586C-139D-39CA-7E067F90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81AF4-4CF8-0C45-F942-AA82FE6E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DB </a:t>
            </a:r>
            <a:r>
              <a:rPr lang="ko-KR" altLang="en-US" dirty="0"/>
              <a:t>사용</a:t>
            </a:r>
            <a:r>
              <a:rPr lang="en-US" altLang="ko-KR" dirty="0"/>
              <a:t>: ODBC </a:t>
            </a:r>
            <a:r>
              <a:rPr lang="ko-KR" altLang="en-US" dirty="0"/>
              <a:t>사용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57F487-C1FE-C6DE-4F25-25CEDC748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267114-E08C-4813-F58B-F65E18CC1E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AF670-1669-4821-9D07-22783CF763AA}"/>
              </a:ext>
            </a:extLst>
          </p:cNvPr>
          <p:cNvSpPr txBox="1"/>
          <p:nvPr/>
        </p:nvSpPr>
        <p:spPr>
          <a:xfrm>
            <a:off x="323850" y="692150"/>
            <a:ext cx="8712646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sDBtype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[MAX_PATH];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sDBtype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"excel"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"database/user.xls"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"select </a:t>
            </a:r>
            <a:r>
              <a:rPr lang="en-US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name,skill,hp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from [Sheet1$]"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LnDB_CreateAndConnect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"ODBC"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sDBtype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iColumn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iColumn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SqlBind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161684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97FE-4979-FE0E-E331-BDD5081C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24D70-6AED-77B1-A158-81C1B68F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ODBC </a:t>
            </a:r>
            <a:r>
              <a:rPr lang="ko-KR" altLang="en-US" dirty="0"/>
              <a:t>결과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1F50B-F790-C445-D056-DDD660C46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ko-KR" altLang="en-US" dirty="0"/>
              <a:t>컬럼 수 확인</a:t>
            </a:r>
          </a:p>
          <a:p>
            <a:pPr lvl="1"/>
            <a:r>
              <a:rPr lang="en-US" altLang="ko-KR" dirty="0" err="1"/>
              <a:t>SqlExec</a:t>
            </a:r>
            <a:r>
              <a:rPr lang="en-US" altLang="ko-KR" dirty="0"/>
              <a:t> </a:t>
            </a:r>
            <a:r>
              <a:rPr lang="ko-KR" altLang="en-US" dirty="0"/>
              <a:t>성공 동안 행 처리</a:t>
            </a:r>
          </a:p>
          <a:p>
            <a:pPr lvl="1"/>
            <a:r>
              <a:rPr lang="ko-KR" altLang="en-US" dirty="0"/>
              <a:t>컬럼별 문자열 출력</a:t>
            </a:r>
          </a:p>
          <a:p>
            <a:pPr lvl="1"/>
            <a:r>
              <a:rPr lang="en-US" altLang="ko-KR" dirty="0" err="1"/>
              <a:t>SqlClose</a:t>
            </a:r>
            <a:endParaRPr lang="ko-KR" altLang="en-US" dirty="0"/>
          </a:p>
          <a:p>
            <a:pPr lvl="1"/>
            <a:r>
              <a:rPr lang="en-US" altLang="ko-KR" dirty="0"/>
              <a:t>Close</a:t>
            </a:r>
            <a:endParaRPr lang="ko-KR" altLang="en-US" dirty="0"/>
          </a:p>
          <a:p>
            <a:pPr lvl="1"/>
            <a:r>
              <a:rPr lang="ko-KR" altLang="en-US" dirty="0"/>
              <a:t>객체 삭제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D34526-9DF0-F02D-4411-9E104712B4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1444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C299-F7D2-1270-2EA3-7F597B66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14525-FCC6-58AD-7B69-F8437B30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ODBC </a:t>
            </a:r>
            <a:r>
              <a:rPr lang="ko-KR" altLang="en-US" dirty="0"/>
              <a:t>결과 처리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E15EE4-217D-BA39-6C0D-58A1A6733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A9C18E-5A67-A510-B893-701675CEA6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96ED-CD69-8271-6580-1142252C20AD}"/>
              </a:ext>
            </a:extLst>
          </p:cNvPr>
          <p:cNvSpPr txBox="1"/>
          <p:nvPr/>
        </p:nvSpPr>
        <p:spPr>
          <a:xfrm>
            <a:off x="539749" y="692150"/>
            <a:ext cx="8280399" cy="50783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(SUCCEEDED(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iColumn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이름            경험치                체력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"----------------------------------------\n"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SqlExec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iColumn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"%12s(%2d)\t"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[i],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SqlClose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"---------------------------------------\n\n"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-&gt;Close();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676026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5207-F061-F31F-91CB-B64C8C99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CC87A-F176-5C18-7E32-D476A8C8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OLEDB </a:t>
            </a:r>
            <a:r>
              <a:rPr lang="ko-KR" altLang="en-US" dirty="0"/>
              <a:t>사용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62F5E-7E4A-6E16-4389-07D433DEB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  <a:p>
            <a:pPr lvl="1"/>
            <a:r>
              <a:rPr lang="en-US" altLang="ko-KR" dirty="0"/>
              <a:t>OLEDB </a:t>
            </a:r>
            <a:r>
              <a:rPr lang="ko-KR" altLang="en-US" dirty="0"/>
              <a:t>선택</a:t>
            </a:r>
          </a:p>
          <a:p>
            <a:pPr lvl="1"/>
            <a:r>
              <a:rPr lang="en-US" altLang="ko-KR" dirty="0"/>
              <a:t>Excel </a:t>
            </a:r>
            <a:r>
              <a:rPr lang="ko-KR" altLang="en-US" dirty="0"/>
              <a:t>연결</a:t>
            </a:r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실행</a:t>
            </a:r>
          </a:p>
          <a:p>
            <a:pPr lvl="1"/>
            <a:r>
              <a:rPr lang="ko-KR" altLang="en-US" dirty="0"/>
              <a:t>결과 바인딩</a:t>
            </a:r>
          </a:p>
          <a:p>
            <a:pPr lvl="1"/>
            <a:r>
              <a:rPr lang="ko-KR" altLang="en-US" dirty="0"/>
              <a:t>행 단위 결과 처리</a:t>
            </a:r>
          </a:p>
          <a:p>
            <a:pPr lvl="1"/>
            <a:r>
              <a:rPr lang="en-US" altLang="ko-KR" dirty="0"/>
              <a:t>Destroy </a:t>
            </a:r>
            <a:r>
              <a:rPr lang="ko-KR" altLang="en-US" dirty="0"/>
              <a:t>포함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0DFA29-EC57-5F26-8F65-02A1094F98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6494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7339-B085-070A-F0D9-0E2461CE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FD3F4-3FDA-0390-4F31-E46D9D79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OLEDB </a:t>
            </a:r>
            <a:r>
              <a:rPr lang="ko-KR" altLang="en-US" dirty="0"/>
              <a:t>사용 구현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97AFB4-6685-1C59-6941-40AAAA8C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816A1E-8918-FCDF-F834-5E496E05CF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9F665-879E-0358-BE65-879388C79D0B}"/>
              </a:ext>
            </a:extLst>
          </p:cNvPr>
          <p:cNvSpPr txBox="1"/>
          <p:nvPr/>
        </p:nvSpPr>
        <p:spPr>
          <a:xfrm>
            <a:off x="539750" y="685032"/>
            <a:ext cx="7776666" cy="61247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sDBtype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[MAX_PATH];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sDBtype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"excel"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"database/user.xls"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"Select * from [Sheet1$]"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LnDB_CreateAndConnect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"OLEDB"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sDBtype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sFile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iColumn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iColumn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g_pDataBase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SqlBind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sSQL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nDataBuf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nBufSize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SqlExec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SqlClose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Close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Destroy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9537863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9331-6E36-6E65-F95A-BC5C3787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CCE4F-1116-A4AC-08F9-166CF9E3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DB Library </a:t>
            </a:r>
            <a:r>
              <a:rPr lang="ko-KR" altLang="en-US" dirty="0"/>
              <a:t>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F51B0D-D9BD-2868-579B-9344EAAA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ILcDB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DB </a:t>
            </a:r>
            <a:r>
              <a:rPr lang="ko-KR" altLang="en-US" dirty="0"/>
              <a:t>사용 규칙</a:t>
            </a:r>
          </a:p>
          <a:p>
            <a:r>
              <a:rPr lang="en-US" altLang="ko-KR" dirty="0" err="1"/>
              <a:t>CLcDB</a:t>
            </a:r>
            <a:r>
              <a:rPr lang="en-US" altLang="ko-KR" dirty="0"/>
              <a:t> </a:t>
            </a:r>
            <a:r>
              <a:rPr lang="ko-KR" altLang="en-US" dirty="0"/>
              <a:t>→ 공통 상태</a:t>
            </a:r>
          </a:p>
          <a:p>
            <a:r>
              <a:rPr lang="en-US" altLang="ko-KR" dirty="0" err="1"/>
              <a:t>CLcOdbc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ODBC </a:t>
            </a:r>
            <a:r>
              <a:rPr lang="ko-KR" altLang="en-US" dirty="0"/>
              <a:t>기반 구현</a:t>
            </a:r>
          </a:p>
          <a:p>
            <a:r>
              <a:rPr lang="en-US" altLang="ko-KR" dirty="0" err="1"/>
              <a:t>CLcOledb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OLEDB / ADO </a:t>
            </a:r>
            <a:r>
              <a:rPr lang="ko-KR" altLang="en-US" dirty="0"/>
              <a:t>기반 구현</a:t>
            </a:r>
          </a:p>
          <a:p>
            <a:r>
              <a:rPr lang="en-US" altLang="ko-KR" dirty="0" err="1"/>
              <a:t>LnDB_CreateAndConnect</a:t>
            </a:r>
            <a:r>
              <a:rPr lang="en-US" altLang="ko-KR" dirty="0"/>
              <a:t>  </a:t>
            </a:r>
            <a:r>
              <a:rPr lang="ko-KR" altLang="en-US" dirty="0"/>
              <a:t>→ 구현 선택 </a:t>
            </a:r>
            <a:r>
              <a:rPr lang="en-US" altLang="ko-KR" dirty="0"/>
              <a:t>+ </a:t>
            </a:r>
            <a:r>
              <a:rPr lang="ko-KR" altLang="en-US" dirty="0"/>
              <a:t>연결</a:t>
            </a:r>
          </a:p>
          <a:p>
            <a:r>
              <a:rPr lang="en-US" altLang="ko-KR" dirty="0" err="1"/>
              <a:t>SqlBind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SQL </a:t>
            </a:r>
            <a:r>
              <a:rPr lang="ko-KR" altLang="en-US" dirty="0"/>
              <a:t>실행 준비 </a:t>
            </a:r>
            <a:r>
              <a:rPr lang="en-US" altLang="ko-KR" dirty="0"/>
              <a:t>+ </a:t>
            </a:r>
            <a:r>
              <a:rPr lang="ko-KR" altLang="en-US" dirty="0"/>
              <a:t>결과 버퍼 연결</a:t>
            </a:r>
          </a:p>
          <a:p>
            <a:r>
              <a:rPr lang="en-US" altLang="ko-KR" dirty="0" err="1"/>
              <a:t>SqlExec</a:t>
            </a:r>
            <a:r>
              <a:rPr lang="en-US" altLang="ko-KR" dirty="0"/>
              <a:t> </a:t>
            </a:r>
            <a:r>
              <a:rPr lang="ko-KR" altLang="en-US" dirty="0"/>
              <a:t>→ 행 단위 결과 처리</a:t>
            </a:r>
          </a:p>
          <a:p>
            <a:r>
              <a:rPr lang="en-US" altLang="ko-KR" dirty="0" err="1"/>
              <a:t>SqlClose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SQL </a:t>
            </a:r>
            <a:r>
              <a:rPr lang="ko-KR" altLang="en-US" dirty="0"/>
              <a:t>결과 정리</a:t>
            </a:r>
          </a:p>
          <a:p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5BCEB4-59B9-3E19-0983-02F67E7181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19692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9D22-1C42-9CBF-9302-F5E1E9C7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0F33E-BDD5-6C8E-D934-7C315348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 </a:t>
            </a:r>
            <a:r>
              <a:rPr lang="ko-KR" altLang="en-US" dirty="0"/>
              <a:t>암호화 </a:t>
            </a:r>
            <a:r>
              <a:rPr lang="en-US" altLang="ko-KR" dirty="0"/>
              <a:t>/ </a:t>
            </a:r>
            <a:r>
              <a:rPr lang="ko-KR" altLang="en-US" dirty="0"/>
              <a:t>복호화 계층 </a:t>
            </a:r>
            <a:r>
              <a:rPr lang="en-US" altLang="ko-KR" dirty="0"/>
              <a:t>32. </a:t>
            </a:r>
            <a:r>
              <a:rPr lang="ko-KR" altLang="en-US" dirty="0"/>
              <a:t>암호화 계층 필요성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C80D37-442F-4EC2-9FE9-C72A4FDC7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설계 방향</a:t>
            </a:r>
          </a:p>
          <a:p>
            <a:pPr lvl="1"/>
            <a:r>
              <a:rPr lang="ko-KR" altLang="en-US" sz="2000" dirty="0"/>
              <a:t>패킷 데이터 보호</a:t>
            </a:r>
          </a:p>
          <a:p>
            <a:pPr lvl="1"/>
            <a:r>
              <a:rPr lang="ko-KR" altLang="en-US" sz="2000" dirty="0" err="1"/>
              <a:t>평문</a:t>
            </a:r>
            <a:r>
              <a:rPr lang="ko-KR" altLang="en-US" sz="2000" dirty="0"/>
              <a:t> 메시지 노출 방지</a:t>
            </a:r>
          </a:p>
          <a:p>
            <a:pPr lvl="1"/>
            <a:r>
              <a:rPr lang="en-US" altLang="ko-KR" sz="2000" dirty="0" err="1"/>
              <a:t>PacketEncode</a:t>
            </a:r>
            <a:r>
              <a:rPr lang="en-US" altLang="ko-KR" sz="2000" dirty="0"/>
              <a:t> </a:t>
            </a:r>
            <a:r>
              <a:rPr lang="ko-KR" altLang="en-US" sz="2000" dirty="0"/>
              <a:t>이후 암호화</a:t>
            </a:r>
          </a:p>
          <a:p>
            <a:pPr lvl="1"/>
            <a:r>
              <a:rPr lang="en-US" altLang="ko-KR" sz="2000" dirty="0"/>
              <a:t>recv </a:t>
            </a:r>
            <a:r>
              <a:rPr lang="ko-KR" altLang="en-US" sz="2000" dirty="0"/>
              <a:t>이후 복호화</a:t>
            </a:r>
          </a:p>
          <a:p>
            <a:pPr lvl="1"/>
            <a:r>
              <a:rPr lang="en-US" altLang="ko-KR" sz="2000" dirty="0" err="1"/>
              <a:t>PacketDecode</a:t>
            </a:r>
            <a:r>
              <a:rPr lang="en-US" altLang="ko-KR" sz="2000" dirty="0"/>
              <a:t> </a:t>
            </a:r>
            <a:r>
              <a:rPr lang="ko-KR" altLang="en-US" sz="2000" dirty="0"/>
              <a:t>이전 </a:t>
            </a:r>
            <a:r>
              <a:rPr lang="ko-KR" altLang="en-US" sz="2000" dirty="0" err="1"/>
              <a:t>평문</a:t>
            </a:r>
            <a:r>
              <a:rPr lang="ko-KR" altLang="en-US" sz="2000" dirty="0"/>
              <a:t> 복원</a:t>
            </a:r>
          </a:p>
          <a:p>
            <a:pPr lvl="1"/>
            <a:r>
              <a:rPr lang="ko-KR" altLang="en-US" sz="2000" dirty="0"/>
              <a:t>암호화 알고리즘 교체 가능 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84E386-3385-3B92-E22C-F5C8F855E5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FC588-3E24-BE36-D252-8271AC71D0B5}"/>
              </a:ext>
            </a:extLst>
          </p:cNvPr>
          <p:cNvSpPr txBox="1"/>
          <p:nvPr/>
        </p:nvSpPr>
        <p:spPr>
          <a:xfrm>
            <a:off x="5523558" y="692150"/>
            <a:ext cx="3296592" cy="552301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24000" tIns="144000" rIns="324000" bIns="144000">
            <a:spAutoFit/>
          </a:bodyPr>
          <a:lstStyle/>
          <a:p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송신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 Data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수신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Decrypt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 Data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107680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DD9F-3AA3-4A11-A756-60CF3406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204AB-38C7-DBF6-157E-36AE622C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7.2 </a:t>
            </a:r>
            <a:r>
              <a:rPr lang="ko-KR" altLang="en-US" dirty="0"/>
              <a:t>암호화 계층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5B502-E722-396E-DF77-F2924E05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41DBC1-3D0D-B631-E168-BDB49C5656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5CF4C-BC4E-7E7C-0547-D7329582AD09}"/>
              </a:ext>
            </a:extLst>
          </p:cNvPr>
          <p:cNvSpPr txBox="1"/>
          <p:nvPr/>
        </p:nvSpPr>
        <p:spPr>
          <a:xfrm>
            <a:off x="539750" y="1522419"/>
            <a:ext cx="2736106" cy="37238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기존 흐름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rbSnd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E0A56-BA3E-B2FC-D043-A9E8C6FAF8FE}"/>
              </a:ext>
            </a:extLst>
          </p:cNvPr>
          <p:cNvSpPr txBox="1"/>
          <p:nvPr/>
        </p:nvSpPr>
        <p:spPr>
          <a:xfrm>
            <a:off x="3491880" y="1522419"/>
            <a:ext cx="2664296" cy="44988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확장 흐름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rbSnd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F2FDB-71E3-88F1-4DE5-FD428018E8FE}"/>
              </a:ext>
            </a:extLst>
          </p:cNvPr>
          <p:cNvSpPr txBox="1"/>
          <p:nvPr/>
        </p:nvSpPr>
        <p:spPr>
          <a:xfrm>
            <a:off x="6315312" y="1522419"/>
            <a:ext cx="2664296" cy="44988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수신 확장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rbRcv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66256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9015-4508-D974-F933-CD0FA00E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FD748-E793-C5AD-4FF1-0E5875F3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7.3 </a:t>
            </a:r>
            <a:r>
              <a:rPr lang="ko-KR" altLang="en-US" dirty="0"/>
              <a:t>암호화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58068-E031-10CF-AB83-7E8A757A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설</a:t>
            </a:r>
            <a:r>
              <a:rPr lang="ko-KR" altLang="en-US" dirty="0"/>
              <a:t>계 기준</a:t>
            </a:r>
          </a:p>
          <a:p>
            <a:pPr lvl="1"/>
            <a:r>
              <a:rPr lang="ko-KR" altLang="en-US" dirty="0"/>
              <a:t>패킷 전체 암호화</a:t>
            </a:r>
          </a:p>
          <a:p>
            <a:pPr lvl="1"/>
            <a:r>
              <a:rPr lang="en-US" altLang="ko-KR" dirty="0"/>
              <a:t>Payload</a:t>
            </a:r>
            <a:r>
              <a:rPr lang="ko-KR" altLang="en-US" dirty="0"/>
              <a:t>만 암호화</a:t>
            </a:r>
          </a:p>
          <a:p>
            <a:pPr lvl="1"/>
            <a:r>
              <a:rPr lang="en-US" altLang="ko-KR" dirty="0"/>
              <a:t>Header </a:t>
            </a:r>
            <a:r>
              <a:rPr lang="ko-KR" altLang="en-US" dirty="0" err="1"/>
              <a:t>평문</a:t>
            </a:r>
            <a:r>
              <a:rPr lang="ko-KR" altLang="en-US" dirty="0"/>
              <a:t> 유지 여부 선택</a:t>
            </a:r>
          </a:p>
          <a:p>
            <a:pPr lvl="1"/>
            <a:r>
              <a:rPr lang="ko-KR" altLang="en-US" dirty="0"/>
              <a:t>패킷 크기 확인 방식과 충돌 주의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B087A2-28AE-0087-7263-2FC6FFFE0E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319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A2F2-A851-24A6-2DC5-73160531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A1BCC-FEFD-205C-4591-A36E87C9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7.4 Header</a:t>
            </a:r>
            <a:r>
              <a:rPr lang="ko-KR" altLang="en-US" dirty="0"/>
              <a:t>와 </a:t>
            </a:r>
            <a:r>
              <a:rPr lang="en-US" altLang="ko-KR" dirty="0"/>
              <a:t>Payload </a:t>
            </a:r>
            <a:r>
              <a:rPr lang="ko-KR" altLang="en-US" dirty="0"/>
              <a:t>암호화 구현 방식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8373F-B643-1DFB-AB74-D90AB0D3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방식 </a:t>
            </a:r>
            <a:r>
              <a:rPr lang="en-US" altLang="ko-KR" dirty="0"/>
              <a:t>1 : [Header][</a:t>
            </a:r>
            <a:r>
              <a:rPr lang="en-US" altLang="ko-KR" dirty="0">
                <a:solidFill>
                  <a:srgbClr val="0070C0"/>
                </a:solidFill>
              </a:rPr>
              <a:t>Encrypted Payload</a:t>
            </a:r>
            <a:r>
              <a:rPr lang="en-US" altLang="ko-KR" dirty="0"/>
              <a:t>]</a:t>
            </a:r>
            <a:endParaRPr lang="ko-KR" altLang="en-US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패킷 크기 확인 쉬움</a:t>
            </a:r>
            <a:r>
              <a:rPr lang="en-US" altLang="ko-KR" dirty="0"/>
              <a:t>, </a:t>
            </a:r>
            <a:r>
              <a:rPr lang="ko-KR" altLang="en-US" dirty="0"/>
              <a:t>수신 버퍼 처리 단순</a:t>
            </a:r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Header </a:t>
            </a:r>
            <a:r>
              <a:rPr lang="ko-KR" altLang="en-US" dirty="0"/>
              <a:t>정보 노출</a:t>
            </a:r>
            <a:endParaRPr lang="en-US" altLang="ko-KR" dirty="0"/>
          </a:p>
          <a:p>
            <a:pPr lvl="1"/>
            <a:endParaRPr lang="ko-KR" altLang="en-US" sz="2000" dirty="0"/>
          </a:p>
          <a:p>
            <a:r>
              <a:rPr lang="ko-KR" altLang="en-US" dirty="0"/>
              <a:t>방식 </a:t>
            </a:r>
            <a:r>
              <a:rPr lang="en-US" altLang="ko-KR" dirty="0"/>
              <a:t>2: [</a:t>
            </a:r>
            <a:r>
              <a:rPr lang="en-US" altLang="ko-KR" dirty="0">
                <a:solidFill>
                  <a:srgbClr val="0070C0"/>
                </a:solidFill>
              </a:rPr>
              <a:t>Encrypted Header + Payload</a:t>
            </a:r>
            <a:r>
              <a:rPr lang="en-US" altLang="ko-KR" dirty="0"/>
              <a:t>]</a:t>
            </a:r>
            <a:endParaRPr lang="ko-KR" altLang="en-US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정보 노출 감소</a:t>
            </a:r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</a:t>
            </a:r>
            <a:r>
              <a:rPr lang="ko-KR" altLang="en-US" dirty="0"/>
              <a:t>패킷 크기 확인 어려움</a:t>
            </a:r>
            <a:r>
              <a:rPr lang="en-US" altLang="ko-KR" dirty="0"/>
              <a:t>, </a:t>
            </a:r>
            <a:r>
              <a:rPr lang="ko-KR" altLang="en-US" dirty="0"/>
              <a:t>수신 버퍼 처리 복잡</a:t>
            </a:r>
            <a:endParaRPr lang="en-US" altLang="ko-KR" dirty="0"/>
          </a:p>
          <a:p>
            <a:pPr lvl="1"/>
            <a:endParaRPr lang="ko-KR" altLang="en-US" sz="2000" dirty="0"/>
          </a:p>
          <a:p>
            <a:r>
              <a:rPr lang="ko-KR" altLang="en-US" dirty="0"/>
              <a:t>기본 방향</a:t>
            </a:r>
          </a:p>
          <a:p>
            <a:pPr lvl="1"/>
            <a:r>
              <a:rPr lang="en-US" altLang="ko-KR" dirty="0"/>
              <a:t>Header </a:t>
            </a:r>
            <a:r>
              <a:rPr lang="ko-KR" altLang="en-US" dirty="0" err="1"/>
              <a:t>평문</a:t>
            </a:r>
            <a:r>
              <a:rPr lang="ko-KR" altLang="en-US" dirty="0"/>
              <a:t> </a:t>
            </a:r>
            <a:r>
              <a:rPr lang="en-US" altLang="ko-KR" dirty="0"/>
              <a:t>+ Payload </a:t>
            </a:r>
            <a:r>
              <a:rPr lang="ko-KR" altLang="en-US" dirty="0"/>
              <a:t>암호화</a:t>
            </a:r>
          </a:p>
          <a:p>
            <a:pPr lvl="1"/>
            <a:r>
              <a:rPr lang="ko-KR" altLang="en-US" dirty="0"/>
              <a:t>실전 확장 → 별도 보안 프로토콜 또는 검증 구조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2412C5-2217-5A07-DF0C-82667732C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52828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DBB75-95C7-AEAD-78D8-F594F55A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0D06B-1384-E680-8294-D68E0966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7.5 </a:t>
            </a:r>
            <a:r>
              <a:rPr lang="en-US" altLang="ko-KR" dirty="0" err="1"/>
              <a:t>ILcCrypt</a:t>
            </a:r>
            <a:r>
              <a:rPr lang="en-US" altLang="ko-KR" dirty="0"/>
              <a:t> </a:t>
            </a:r>
            <a:r>
              <a:rPr lang="ko-KR" altLang="en-US" dirty="0"/>
              <a:t>인터페이스 </a:t>
            </a:r>
            <a:r>
              <a:rPr lang="ko-KR" altLang="en-US" dirty="0" err="1"/>
              <a:t>설계안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ECC2E5-614B-ED9F-5299-A5C47C90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설계 의미</a:t>
            </a:r>
          </a:p>
          <a:p>
            <a:pPr lvl="1"/>
            <a:r>
              <a:rPr lang="ko-KR" altLang="en-US" dirty="0"/>
              <a:t>암호화 사용 규칙</a:t>
            </a:r>
          </a:p>
          <a:p>
            <a:pPr lvl="1"/>
            <a:r>
              <a:rPr lang="ko-KR" altLang="en-US" dirty="0"/>
              <a:t>알고리즘 구현 은닉</a:t>
            </a:r>
          </a:p>
          <a:p>
            <a:pPr lvl="1"/>
            <a:r>
              <a:rPr lang="en-US" altLang="ko-KR" dirty="0"/>
              <a:t>XOR / </a:t>
            </a:r>
            <a:r>
              <a:rPr lang="ko-KR" altLang="en-US" dirty="0"/>
              <a:t>외부 라이브러리 교체 가능</a:t>
            </a:r>
          </a:p>
          <a:p>
            <a:pPr lvl="1"/>
            <a:r>
              <a:rPr lang="ko-KR" altLang="en-US" dirty="0"/>
              <a:t>네트워크 라이브러리와 분리된 계층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610084-76B2-2551-21F4-53DC7886B4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14613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BA14-DC64-15D1-A9E5-1D47C312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CC4A9-2D65-7C80-BF31-BAC072EF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7.6 </a:t>
            </a:r>
            <a:r>
              <a:rPr lang="en-US" altLang="ko-KR" dirty="0" err="1"/>
              <a:t>ILcCrypt</a:t>
            </a:r>
            <a:r>
              <a:rPr lang="en-US" altLang="ko-KR" dirty="0"/>
              <a:t> </a:t>
            </a:r>
            <a:r>
              <a:rPr lang="ko-KR" altLang="en-US" dirty="0"/>
              <a:t>인터페이스 구현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2CE575-5187-9C43-CEE8-A427B8345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5C6D98-1570-52B7-04B9-0835F88635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4D054-31EE-B1F1-0D84-97A04DD1E0DD}"/>
              </a:ext>
            </a:extLst>
          </p:cNvPr>
          <p:cNvSpPr txBox="1"/>
          <p:nvPr/>
        </p:nvSpPr>
        <p:spPr>
          <a:xfrm>
            <a:off x="543198" y="692150"/>
            <a:ext cx="8061052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#ifndef interface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interface struct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#endif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pKey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pOption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Destroy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Encrypt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(BYTE* pOut,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BYTE* pIn,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Decrypt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(BYTE* pOut,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BYTE* pIn,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)=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946507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931A-18B5-B445-881E-6850132F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164F8-48D4-2C6D-CDD5-C38BEE8E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7.7 </a:t>
            </a:r>
            <a:r>
              <a:rPr lang="en-US" altLang="ko-KR" dirty="0" err="1"/>
              <a:t>CLcCrypt</a:t>
            </a:r>
            <a:r>
              <a:rPr lang="en-US" altLang="ko-KR" dirty="0"/>
              <a:t> </a:t>
            </a:r>
            <a:r>
              <a:rPr lang="ko-KR" altLang="en-US" dirty="0"/>
              <a:t>공통 기반 </a:t>
            </a:r>
            <a:r>
              <a:rPr lang="ko-KR" altLang="en-US" dirty="0" err="1"/>
              <a:t>설계안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21835-CE28-E892-A5D7-38E416071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설계 의미</a:t>
            </a:r>
          </a:p>
          <a:p>
            <a:pPr lvl="1"/>
            <a:r>
              <a:rPr lang="ko-KR" altLang="en-US" dirty="0"/>
              <a:t>공통 </a:t>
            </a:r>
            <a:r>
              <a:rPr lang="en-US" altLang="ko-KR" dirty="0"/>
              <a:t>Key </a:t>
            </a:r>
            <a:r>
              <a:rPr lang="ko-KR" altLang="en-US" dirty="0"/>
              <a:t>저장</a:t>
            </a:r>
          </a:p>
          <a:p>
            <a:pPr lvl="1"/>
            <a:r>
              <a:rPr lang="en-US" altLang="ko-KR" dirty="0"/>
              <a:t>Key </a:t>
            </a:r>
            <a:r>
              <a:rPr lang="ko-KR" altLang="en-US" dirty="0"/>
              <a:t>크기 관리</a:t>
            </a:r>
          </a:p>
          <a:p>
            <a:pPr lvl="1"/>
            <a:r>
              <a:rPr lang="ko-KR" altLang="en-US" dirty="0"/>
              <a:t>알고리즘별 파생 클래스 기반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0DF53D-FDE4-BC26-987C-C18CC3C427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07630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5BE0-1E19-4C8C-6180-5DF1DDBC2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33EEF-F469-6252-2B25-13D611EF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7.8 </a:t>
            </a:r>
            <a:r>
              <a:rPr lang="en-US" altLang="ko-KR" dirty="0" err="1"/>
              <a:t>CLcCrypt</a:t>
            </a:r>
            <a:r>
              <a:rPr lang="en-US" altLang="ko-KR" dirty="0"/>
              <a:t> </a:t>
            </a:r>
            <a:r>
              <a:rPr lang="ko-KR" altLang="en-US" dirty="0"/>
              <a:t>공통 기반 구현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E304E0-FC8B-4EBA-6945-8F8143EC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498124-EAA2-9FC9-4CBC-78CD5B2973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27FB1-6E68-E6CF-8A36-4E6B26C090F2}"/>
              </a:ext>
            </a:extLst>
          </p:cNvPr>
          <p:cNvSpPr txBox="1"/>
          <p:nvPr/>
        </p:nvSpPr>
        <p:spPr>
          <a:xfrm>
            <a:off x="539750" y="692150"/>
            <a:ext cx="8136706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CLcCrypt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BYTE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]{};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m_iKeySize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{}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CLcCrypt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pOption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m_iKeySize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m_iKeySize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Destroy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m_sKey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m_iKeySize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338036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9D49-9852-6949-36D8-D909D78D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EFF7-12ED-C71A-6C28-138D69A8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7.9 XOR </a:t>
            </a:r>
            <a:r>
              <a:rPr lang="ko-KR" altLang="en-US" dirty="0"/>
              <a:t>암호화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82B42D-87FB-5255-7AC2-1565DA3E5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en-US" altLang="ko-KR" dirty="0"/>
              <a:t>Encrypt</a:t>
            </a:r>
            <a:r>
              <a:rPr lang="ko-KR" altLang="en-US" dirty="0"/>
              <a:t>와 </a:t>
            </a:r>
            <a:r>
              <a:rPr lang="en-US" altLang="ko-KR" dirty="0"/>
              <a:t>Decrypt </a:t>
            </a:r>
            <a:r>
              <a:rPr lang="ko-KR" altLang="en-US" dirty="0"/>
              <a:t>동일</a:t>
            </a:r>
          </a:p>
          <a:p>
            <a:pPr lvl="1"/>
            <a:r>
              <a:rPr lang="ko-KR" altLang="en-US" dirty="0"/>
              <a:t>실제 보안 목적 부적합</a:t>
            </a:r>
          </a:p>
          <a:p>
            <a:pPr lvl="1"/>
            <a:r>
              <a:rPr lang="ko-KR" altLang="en-US" dirty="0"/>
              <a:t>패킷 처리 위치 설명에 적합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3E4BEC-3551-0D1E-7C3F-068A61A62A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93953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78DE-AD38-B7A9-2A0D-F746A885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540F0-A5F1-E470-8C7D-67DB53A5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7.10 XOR </a:t>
            </a:r>
            <a:r>
              <a:rPr lang="ko-KR" altLang="en-US" dirty="0"/>
              <a:t>암호화 구조 </a:t>
            </a:r>
            <a:r>
              <a:rPr lang="en-US" altLang="ko-KR" dirty="0"/>
              <a:t>-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CC144D-2CD5-FDC6-E6C2-0EC906300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5EA998-4B6C-E292-E83E-3CCDF22090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3D8D9-1852-1EF1-8144-C8EBD4CF9473}"/>
              </a:ext>
            </a:extLst>
          </p:cNvPr>
          <p:cNvSpPr txBox="1"/>
          <p:nvPr/>
        </p:nvSpPr>
        <p:spPr>
          <a:xfrm>
            <a:off x="539750" y="692150"/>
            <a:ext cx="8280400" cy="48320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CLcXorCrypt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CLcCrypt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Encrypt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(BYTE* pOut,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BYTE* pIn,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pOut || 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pIn ||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m_iKeySize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pOut[i] = pIn[i] ^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m_sKey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 %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m_iKeySize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Decrypt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(BYTE* pOut,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BYTE* pIn,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Encrypt(pOut,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pOutSize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pIn,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iInSize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752973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35A1-6F7C-72AD-CD6E-ACADF7CC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034CC-59F3-D787-02B1-5B0ED3A7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7.11 </a:t>
            </a:r>
            <a:r>
              <a:rPr lang="en-US" altLang="ko-KR" dirty="0" err="1"/>
              <a:t>PacketEncode</a:t>
            </a:r>
            <a:r>
              <a:rPr lang="ko-KR" altLang="en-US" dirty="0"/>
              <a:t>와 </a:t>
            </a:r>
            <a:r>
              <a:rPr lang="en-US" altLang="ko-KR" dirty="0"/>
              <a:t>Encrypt </a:t>
            </a:r>
            <a:r>
              <a:rPr lang="ko-KR" altLang="en-US" dirty="0"/>
              <a:t>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04CF7-D06D-F514-AEA9-1AD798B17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F1102-E8CE-FDBA-B1CF-9F7BF945CD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1955E-73D4-74E2-117D-18B321B19B6C}"/>
              </a:ext>
            </a:extLst>
          </p:cNvPr>
          <p:cNvSpPr txBox="1"/>
          <p:nvPr/>
        </p:nvSpPr>
        <p:spPr>
          <a:xfrm>
            <a:off x="537865" y="692150"/>
            <a:ext cx="5042247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CLcNet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SendEncrypted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pSrc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iSnd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DWORD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dMsg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BYTE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sPacket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[PCK_BUF_MAX_MSG] = {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BYTE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sCrypt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[PCK_BUF_MAX_MSG] = {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iPacketSize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LcNet_PacketEncode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sPacket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pSrc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iSnd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dMsg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iCryptSize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m_pCrypt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-&gt;Encrypt(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sCrypt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&amp;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iCryptSize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sPacket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iPacketSize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m_rbSnd.PushBack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sCrypt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iCryptSize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E91B6-3F2D-82AF-E737-A096D03C038B}"/>
              </a:ext>
            </a:extLst>
          </p:cNvPr>
          <p:cNvSpPr txBox="1"/>
          <p:nvPr/>
        </p:nvSpPr>
        <p:spPr>
          <a:xfrm>
            <a:off x="5796136" y="666279"/>
            <a:ext cx="3250691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>
            <a:spAutoFit/>
          </a:bodyPr>
          <a:lstStyle/>
          <a:p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구현 위치</a:t>
            </a:r>
            <a:b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rbSnd.PushBack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136357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FFE4-84A7-A9E7-F1AD-35FDE543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5BA21-0AB3-9C0C-2AB8-D3C1204D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7.12 Decrypt</a:t>
            </a:r>
            <a:r>
              <a:rPr lang="ko-KR" altLang="en-US" dirty="0"/>
              <a:t>와 </a:t>
            </a:r>
            <a:r>
              <a:rPr lang="en-US" altLang="ko-KR" dirty="0" err="1"/>
              <a:t>PacketDecode</a:t>
            </a:r>
            <a:r>
              <a:rPr lang="en-US" altLang="ko-KR" dirty="0"/>
              <a:t> </a:t>
            </a:r>
            <a:r>
              <a:rPr lang="ko-KR" altLang="en-US" dirty="0"/>
              <a:t>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5F088-A60A-08B2-2CE9-6F17CFE83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B1CE40-532F-2E9D-68BF-F75185E912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82A10-7AFB-8654-A266-B863D7F8F467}"/>
              </a:ext>
            </a:extLst>
          </p:cNvPr>
          <p:cNvSpPr txBox="1"/>
          <p:nvPr/>
        </p:nvSpPr>
        <p:spPr>
          <a:xfrm>
            <a:off x="539750" y="658342"/>
            <a:ext cx="4572000" cy="54784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CLcNet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RecvEncrypted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iRcv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  DWORD*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dMsg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BYTE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[PCK_BUF_MAX_MSG] = 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BYTE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sPacket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[PCK_BUF_MAX_MSG] = 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WORD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iCryptSize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iPacketSize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(FAILED(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m_rbRcv.PopFront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iCryptSize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m_pCrypt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-&gt;Decrypt(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sPacket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iPacketSize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sCrypt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iCryptSize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iRcv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LcNet_PacketDecode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((BYTE*)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pDst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dMsg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sPacket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iPacketSize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8A18A-6D53-05FF-AFA1-04D21CD86132}"/>
              </a:ext>
            </a:extLst>
          </p:cNvPr>
          <p:cNvSpPr txBox="1"/>
          <p:nvPr/>
        </p:nvSpPr>
        <p:spPr>
          <a:xfrm>
            <a:off x="5364088" y="658342"/>
            <a:ext cx="3384625" cy="3390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24000" tIns="216000" rIns="216000" bIns="216000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구현 위치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rbRcv.PopFront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 Data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749928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52F34-E108-33D9-603D-FC705AC6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7.13 </a:t>
            </a:r>
            <a:r>
              <a:rPr lang="ko-KR" altLang="en-US" dirty="0"/>
              <a:t>암호화 적용 단위 </a:t>
            </a:r>
            <a:r>
              <a:rPr lang="en-US" altLang="ko-KR" dirty="0"/>
              <a:t>- </a:t>
            </a:r>
            <a:r>
              <a:rPr lang="ko-KR" altLang="en-US" dirty="0"/>
              <a:t>구현 방식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CAD403-5BD7-DCE6-D2D6-C68A75B43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Payload </a:t>
            </a:r>
            <a:r>
              <a:rPr lang="ko-KR" altLang="en-US" dirty="0"/>
              <a:t>암호화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기존 </a:t>
            </a:r>
            <a:r>
              <a:rPr lang="en-US" altLang="ko-KR" dirty="0" err="1"/>
              <a:t>RingBuffer</a:t>
            </a:r>
            <a:r>
              <a:rPr lang="en-US" altLang="ko-KR" dirty="0"/>
              <a:t> </a:t>
            </a:r>
            <a:r>
              <a:rPr lang="ko-KR" altLang="en-US" dirty="0"/>
              <a:t>구조 유지</a:t>
            </a:r>
          </a:p>
          <a:p>
            <a:pPr lvl="1"/>
            <a:r>
              <a:rPr lang="en-US" altLang="ko-KR" dirty="0"/>
              <a:t>Length </a:t>
            </a:r>
            <a:r>
              <a:rPr lang="ko-KR" altLang="en-US" dirty="0"/>
              <a:t>기반 </a:t>
            </a:r>
            <a:r>
              <a:rPr lang="en-US" altLang="ko-KR" dirty="0" err="1"/>
              <a:t>PopFront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단점</a:t>
            </a:r>
          </a:p>
          <a:p>
            <a:pPr lvl="1"/>
            <a:r>
              <a:rPr lang="en-US" altLang="ko-KR" dirty="0"/>
              <a:t>Kind </a:t>
            </a:r>
            <a:r>
              <a:rPr lang="ko-KR" altLang="en-US" dirty="0"/>
              <a:t>값 노출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7859D1-DE78-CECD-2FFA-97A06FB8C0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CA6D9-CF7F-8C86-0079-DF3572DC06BC}"/>
              </a:ext>
            </a:extLst>
          </p:cNvPr>
          <p:cNvSpPr txBox="1"/>
          <p:nvPr/>
        </p:nvSpPr>
        <p:spPr>
          <a:xfrm>
            <a:off x="791890" y="1484784"/>
            <a:ext cx="7812360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[Length][Kind][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Encrypted Message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][Tail]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97583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0A60A-49CA-27DA-0C39-E89B8215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21551-B0C4-E687-3FEF-763BDF94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7.14 </a:t>
            </a:r>
            <a:r>
              <a:rPr lang="ko-KR" altLang="en-US" dirty="0"/>
              <a:t>암호화 적용 단위 </a:t>
            </a:r>
            <a:r>
              <a:rPr lang="en-US" altLang="ko-KR" dirty="0"/>
              <a:t>- </a:t>
            </a:r>
            <a:r>
              <a:rPr lang="ko-KR" altLang="en-US" dirty="0"/>
              <a:t>구현 방식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B6264-C323-7383-575E-F0AC66A6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Payload + Kind </a:t>
            </a:r>
            <a:r>
              <a:rPr lang="ko-KR" altLang="en-US" dirty="0"/>
              <a:t>암호화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메시지 종류 노출 감소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단점</a:t>
            </a:r>
          </a:p>
          <a:p>
            <a:pPr lvl="1"/>
            <a:r>
              <a:rPr lang="en-US" altLang="ko-KR" dirty="0"/>
              <a:t>Decode </a:t>
            </a:r>
            <a:r>
              <a:rPr lang="ko-KR" altLang="en-US" dirty="0"/>
              <a:t>순서 변경 필요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0E8394-A69C-C68B-7FE5-335A2AF95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AF4C4-7370-694B-9928-398860664ADC}"/>
              </a:ext>
            </a:extLst>
          </p:cNvPr>
          <p:cNvSpPr txBox="1"/>
          <p:nvPr/>
        </p:nvSpPr>
        <p:spPr>
          <a:xfrm>
            <a:off x="770794" y="1628800"/>
            <a:ext cx="8100888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[Length][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Encrypted Kind + Message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][Tail]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599211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6E0F8-3ABD-A889-478D-1F401F02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C631F-32A3-C865-5565-3E0E71F7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7.15 </a:t>
            </a:r>
            <a:r>
              <a:rPr lang="ko-KR" altLang="en-US" dirty="0"/>
              <a:t>암호화 적용 단위 </a:t>
            </a:r>
            <a:r>
              <a:rPr lang="en-US" altLang="ko-KR" dirty="0"/>
              <a:t>- </a:t>
            </a:r>
            <a:r>
              <a:rPr lang="ko-KR" altLang="en-US" dirty="0"/>
              <a:t>구현 방식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BBAF0-B18C-BAB9-BF0C-7B1883B05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 패킷 암호화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정보 노출 최소화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단점</a:t>
            </a:r>
          </a:p>
          <a:p>
            <a:pPr lvl="1"/>
            <a:r>
              <a:rPr lang="ko-KR" altLang="en-US" dirty="0"/>
              <a:t>패킷 크기 판별 구조 변경 필요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119FB6-8DAB-D26E-B12F-A55D8021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14669-3239-AF02-C5B2-3C8CFC63332E}"/>
              </a:ext>
            </a:extLst>
          </p:cNvPr>
          <p:cNvSpPr txBox="1"/>
          <p:nvPr/>
        </p:nvSpPr>
        <p:spPr>
          <a:xfrm>
            <a:off x="395536" y="1556792"/>
            <a:ext cx="8496943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Encrypted Length + Kind + Message + Tail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326700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94F5-9841-EE5D-6C7A-716599FA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536CF-0309-31BE-5FA5-1EEC1792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7.16 </a:t>
            </a:r>
            <a:r>
              <a:rPr lang="ko-KR" altLang="en-US" dirty="0"/>
              <a:t>암호화 라이브러리 후보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A15484-393D-9ADF-2A1E-97D0E5598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직접 구현</a:t>
            </a:r>
          </a:p>
          <a:p>
            <a:pPr lvl="1"/>
            <a:r>
              <a:rPr lang="en-US" altLang="ko-KR" sz="2000" dirty="0"/>
              <a:t>XOR</a:t>
            </a:r>
            <a:endParaRPr lang="ko-KR" altLang="en-US" sz="2000" dirty="0"/>
          </a:p>
          <a:p>
            <a:pPr lvl="1"/>
            <a:r>
              <a:rPr lang="ko-KR" altLang="en-US" sz="2000" dirty="0"/>
              <a:t>구조 설명용</a:t>
            </a:r>
          </a:p>
          <a:p>
            <a:pPr lvl="1"/>
            <a:r>
              <a:rPr lang="ko-KR" altLang="en-US" sz="2000" dirty="0"/>
              <a:t>보안 목적 부적합</a:t>
            </a:r>
            <a:endParaRPr lang="en-US" altLang="ko-KR" sz="2000" dirty="0"/>
          </a:p>
          <a:p>
            <a:pPr lvl="2"/>
            <a:endParaRPr lang="ko-KR" altLang="en-US" sz="1800" dirty="0"/>
          </a:p>
          <a:p>
            <a:r>
              <a:rPr lang="ko-KR" altLang="en-US" sz="2400" dirty="0"/>
              <a:t>외부 라이브러리</a:t>
            </a:r>
          </a:p>
          <a:p>
            <a:pPr lvl="1"/>
            <a:r>
              <a:rPr lang="en-US" altLang="ko-KR" sz="2000" dirty="0" err="1"/>
              <a:t>libsodium</a:t>
            </a:r>
            <a:endParaRPr lang="ko-KR" altLang="en-US" sz="2000" dirty="0"/>
          </a:p>
          <a:p>
            <a:pPr lvl="1"/>
            <a:r>
              <a:rPr lang="en-US" altLang="ko-KR" sz="2000" dirty="0"/>
              <a:t>Crypto++</a:t>
            </a:r>
            <a:endParaRPr lang="ko-KR" altLang="en-US" sz="2000" dirty="0"/>
          </a:p>
          <a:p>
            <a:pPr lvl="1"/>
            <a:r>
              <a:rPr lang="en-US" altLang="ko-KR" sz="2000" dirty="0"/>
              <a:t>OpenSSL EVP</a:t>
            </a:r>
          </a:p>
          <a:p>
            <a:pPr lvl="2"/>
            <a:endParaRPr lang="ko-KR" altLang="en-US" sz="1800" dirty="0"/>
          </a:p>
          <a:p>
            <a:r>
              <a:rPr lang="en-US" altLang="ko-KR" sz="2400" dirty="0" err="1"/>
              <a:t>ILcCrypt</a:t>
            </a:r>
            <a:r>
              <a:rPr lang="en-US" altLang="ko-KR" sz="2400" dirty="0"/>
              <a:t> </a:t>
            </a:r>
            <a:r>
              <a:rPr lang="ko-KR" altLang="en-US" sz="2400" dirty="0"/>
              <a:t>유지</a:t>
            </a:r>
          </a:p>
          <a:p>
            <a:pPr lvl="1"/>
            <a:r>
              <a:rPr lang="ko-KR" altLang="en-US" sz="2000" dirty="0"/>
              <a:t>내부 구현만 외부 라이브러리로 교체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응용 계층</a:t>
            </a:r>
          </a:p>
          <a:p>
            <a:pPr lvl="1"/>
            <a:r>
              <a:rPr lang="en-US" altLang="ko-KR" sz="2000" dirty="0"/>
              <a:t>Encrypt / Decrypt </a:t>
            </a:r>
            <a:r>
              <a:rPr lang="ko-KR" altLang="en-US" sz="2000" dirty="0"/>
              <a:t>직접 호출 최소화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94188-8E9B-7DEA-8287-51D6A8DEFC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889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A0050-ABB0-4921-87E6-35511C76F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512F6-A92E-E8AE-71BB-6FF6F54C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7.17 </a:t>
            </a:r>
            <a:r>
              <a:rPr lang="ko-KR" altLang="en-US" dirty="0"/>
              <a:t>암호화 계층 설계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3DEF8-7722-0110-82C6-EC2ADCF0C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ILcCrypt</a:t>
            </a:r>
            <a:r>
              <a:rPr lang="en-US" altLang="ko-KR" dirty="0"/>
              <a:t> </a:t>
            </a:r>
            <a:r>
              <a:rPr lang="ko-KR" altLang="en-US" dirty="0"/>
              <a:t>→ 암호화 사용 규칙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en-US" altLang="ko-KR" dirty="0" err="1"/>
              <a:t>CLcCrypt</a:t>
            </a:r>
            <a:r>
              <a:rPr lang="en-US" altLang="ko-KR" dirty="0"/>
              <a:t> </a:t>
            </a:r>
            <a:r>
              <a:rPr lang="ko-KR" altLang="en-US" dirty="0"/>
              <a:t>→ 공통 </a:t>
            </a:r>
            <a:r>
              <a:rPr lang="en-US" altLang="ko-KR" dirty="0"/>
              <a:t>Key </a:t>
            </a:r>
            <a:r>
              <a:rPr lang="ko-KR" altLang="en-US" dirty="0"/>
              <a:t>상태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en-US" altLang="ko-KR" dirty="0" err="1"/>
              <a:t>CLcXorCrypt</a:t>
            </a:r>
            <a:r>
              <a:rPr lang="en-US" altLang="ko-KR" dirty="0"/>
              <a:t> </a:t>
            </a:r>
            <a:r>
              <a:rPr lang="ko-KR" altLang="en-US" dirty="0"/>
              <a:t>→ 구조 설명용 구현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ko-KR" altLang="en-US" dirty="0"/>
              <a:t>외부 암호화 라이브러리</a:t>
            </a:r>
            <a:r>
              <a:rPr lang="en-US" altLang="ko-KR" dirty="0"/>
              <a:t> </a:t>
            </a:r>
            <a:r>
              <a:rPr lang="ko-KR" altLang="en-US" dirty="0"/>
              <a:t>→ 실전 구현 후보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en-US" altLang="ko-KR" dirty="0"/>
              <a:t>Network Library </a:t>
            </a:r>
            <a:r>
              <a:rPr lang="ko-KR" altLang="en-US" dirty="0"/>
              <a:t>→ </a:t>
            </a:r>
            <a:r>
              <a:rPr lang="en-US" altLang="ko-KR" dirty="0" err="1"/>
              <a:t>ILcCrypt</a:t>
            </a:r>
            <a:r>
              <a:rPr lang="en-US" altLang="ko-KR" dirty="0"/>
              <a:t> </a:t>
            </a:r>
            <a:r>
              <a:rPr lang="ko-KR" altLang="en-US" dirty="0"/>
              <a:t>포인터 보관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en-US" altLang="ko-KR" dirty="0"/>
              <a:t>Send: </a:t>
            </a:r>
            <a:r>
              <a:rPr lang="en-US" altLang="ko-KR" dirty="0" err="1"/>
              <a:t>PacketEncode</a:t>
            </a:r>
            <a:r>
              <a:rPr lang="en-US" altLang="ko-KR" dirty="0"/>
              <a:t> → Encrypt → </a:t>
            </a:r>
            <a:r>
              <a:rPr lang="en-US" altLang="ko-KR" dirty="0" err="1"/>
              <a:t>rbSnd</a:t>
            </a:r>
            <a:endParaRPr lang="en-US" altLang="ko-KR" dirty="0"/>
          </a:p>
          <a:p>
            <a:pPr lvl="3"/>
            <a:endParaRPr lang="ko-KR" altLang="en-US" dirty="0"/>
          </a:p>
          <a:p>
            <a:r>
              <a:rPr lang="en-US" altLang="ko-KR" dirty="0"/>
              <a:t>Recv: </a:t>
            </a:r>
            <a:r>
              <a:rPr lang="en-US" altLang="ko-KR" dirty="0" err="1"/>
              <a:t>rbRcv</a:t>
            </a:r>
            <a:r>
              <a:rPr lang="en-US" altLang="ko-KR" dirty="0"/>
              <a:t> → Decrypt → </a:t>
            </a:r>
            <a:r>
              <a:rPr lang="en-US" altLang="ko-KR" dirty="0" err="1"/>
              <a:t>PacketDecode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655F65-688D-C165-891A-CBD11633E3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0849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F020-235E-C0B9-CD7D-E1C2E862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9C9EF-0B24-41FF-7247-921E4434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통합 구조</a:t>
            </a:r>
            <a:r>
              <a:rPr lang="en-US" altLang="ko-KR" dirty="0"/>
              <a:t>: Network + DB + Crypt </a:t>
            </a:r>
            <a:r>
              <a:rPr lang="ko-KR" altLang="en-US" dirty="0"/>
              <a:t>통합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6308E2-29AB-9347-14C8-22FF6C6B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DB253B-94AE-5F21-A90C-138FF0645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865B0-EACE-9115-F986-8F5213176BC2}"/>
              </a:ext>
            </a:extLst>
          </p:cNvPr>
          <p:cNvSpPr txBox="1"/>
          <p:nvPr/>
        </p:nvSpPr>
        <p:spPr>
          <a:xfrm>
            <a:off x="683567" y="692150"/>
            <a:ext cx="3528393" cy="41295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구현 구조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ILcNet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::Encrypt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 Send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A1A1D-7818-5E9F-B615-517A5B452644}"/>
              </a:ext>
            </a:extLst>
          </p:cNvPr>
          <p:cNvSpPr txBox="1"/>
          <p:nvPr/>
        </p:nvSpPr>
        <p:spPr>
          <a:xfrm>
            <a:off x="4599806" y="692150"/>
            <a:ext cx="4044980" cy="523753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 Recv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::Decrypt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 Logic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ODBC / OLEDB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Database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420593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F605-953C-7F63-E6BE-AE7CCF9B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9001A-1B9B-5641-F78E-B4E2D955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로그인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66943-E54D-9C90-162C-3CAC9B1EB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처리 계층</a:t>
            </a:r>
          </a:p>
          <a:p>
            <a:pPr lvl="1"/>
            <a:r>
              <a:rPr lang="en-US" altLang="ko-KR" dirty="0"/>
              <a:t>Network Layer </a:t>
            </a:r>
            <a:r>
              <a:rPr lang="ko-KR" altLang="en-US" dirty="0"/>
              <a:t>→ 접속 </a:t>
            </a:r>
            <a:r>
              <a:rPr lang="en-US" altLang="ko-KR" dirty="0"/>
              <a:t>/ </a:t>
            </a:r>
            <a:r>
              <a:rPr lang="ko-KR" altLang="en-US" dirty="0"/>
              <a:t>송수신</a:t>
            </a:r>
          </a:p>
          <a:p>
            <a:pPr lvl="1"/>
            <a:r>
              <a:rPr lang="en-US" altLang="ko-KR" dirty="0"/>
              <a:t>Packet Layer </a:t>
            </a:r>
            <a:r>
              <a:rPr lang="ko-KR" altLang="en-US" dirty="0"/>
              <a:t>→ 메시지 형식</a:t>
            </a:r>
          </a:p>
          <a:p>
            <a:pPr lvl="1"/>
            <a:r>
              <a:rPr lang="en-US" altLang="ko-KR" dirty="0"/>
              <a:t>Crypt Layer </a:t>
            </a:r>
            <a:r>
              <a:rPr lang="ko-KR" altLang="en-US" dirty="0"/>
              <a:t>→ 데이터 보호</a:t>
            </a:r>
          </a:p>
          <a:p>
            <a:pPr lvl="1"/>
            <a:r>
              <a:rPr lang="en-US" altLang="ko-KR" dirty="0"/>
              <a:t>DB Layer </a:t>
            </a:r>
            <a:r>
              <a:rPr lang="ko-KR" altLang="en-US" dirty="0"/>
              <a:t>→ 계정 </a:t>
            </a:r>
            <a:r>
              <a:rPr lang="en-US" altLang="ko-KR" dirty="0"/>
              <a:t>/ </a:t>
            </a:r>
            <a:r>
              <a:rPr lang="ko-KR" altLang="en-US" dirty="0"/>
              <a:t>캐릭터 </a:t>
            </a:r>
            <a:r>
              <a:rPr lang="en-US" altLang="ko-KR" dirty="0"/>
              <a:t>/ </a:t>
            </a:r>
            <a:r>
              <a:rPr lang="ko-KR" altLang="en-US" dirty="0"/>
              <a:t>기록 조회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2E2B1F-FE5F-E2D2-A74C-566E70CAD2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28D46-8319-CE42-DFF5-A8BE593B1C03}"/>
              </a:ext>
            </a:extLst>
          </p:cNvPr>
          <p:cNvSpPr txBox="1"/>
          <p:nvPr/>
        </p:nvSpPr>
        <p:spPr>
          <a:xfrm>
            <a:off x="853082" y="3343860"/>
            <a:ext cx="3600078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Client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Login Packet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생성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Encrypt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Send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DDBAF-C08A-436C-4053-7D71C6C5FEC2}"/>
              </a:ext>
            </a:extLst>
          </p:cNvPr>
          <p:cNvSpPr txBox="1"/>
          <p:nvPr/>
        </p:nvSpPr>
        <p:spPr>
          <a:xfrm>
            <a:off x="4932040" y="3343860"/>
            <a:ext cx="3600078" cy="317009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Recv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Decrypt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Login Request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처리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SqlBind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SqlExec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결과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생성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Send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478557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1F8B6-0951-FFE0-8763-70F2A9DC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21567-9984-185F-EC54-7F614E06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</a:t>
            </a:r>
            <a:r>
              <a:rPr lang="ko-KR" altLang="en-US" dirty="0"/>
              <a:t>채팅 로그 저장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C4577C-4C1A-9B84-1B5B-90C3AFF2F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DB </a:t>
            </a:r>
            <a:r>
              <a:rPr lang="ko-KR" altLang="en-US" dirty="0"/>
              <a:t>사용 위치</a:t>
            </a:r>
          </a:p>
          <a:p>
            <a:pPr lvl="1"/>
            <a:r>
              <a:rPr lang="ko-KR" altLang="en-US" dirty="0"/>
              <a:t>실시간 처리</a:t>
            </a:r>
          </a:p>
          <a:p>
            <a:pPr lvl="2"/>
            <a:r>
              <a:rPr lang="en-US" altLang="ko-KR" dirty="0"/>
              <a:t>Broadcast</a:t>
            </a:r>
          </a:p>
          <a:p>
            <a:pPr lvl="1"/>
            <a:r>
              <a:rPr lang="ko-KR" altLang="en-US" dirty="0"/>
              <a:t>비동기 저장 대상</a:t>
            </a:r>
          </a:p>
          <a:p>
            <a:pPr lvl="2"/>
            <a:r>
              <a:rPr lang="en-US" altLang="ko-KR" dirty="0"/>
              <a:t>Chat Log</a:t>
            </a:r>
          </a:p>
          <a:p>
            <a:pPr lvl="2"/>
            <a:r>
              <a:rPr lang="en-US" altLang="ko-KR" dirty="0"/>
              <a:t>Login Log</a:t>
            </a:r>
          </a:p>
          <a:p>
            <a:pPr lvl="2"/>
            <a:r>
              <a:rPr lang="en-US" altLang="ko-KR" dirty="0"/>
              <a:t>Error Log</a:t>
            </a:r>
          </a:p>
          <a:p>
            <a:pPr lvl="2"/>
            <a:r>
              <a:rPr lang="en-US" altLang="ko-KR" dirty="0"/>
              <a:t>Game Result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1E92D8-E137-DFB4-296D-3C5261BDFE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5BEFD-6035-EB55-C10D-F3510FC363FF}"/>
              </a:ext>
            </a:extLst>
          </p:cNvPr>
          <p:cNvSpPr txBox="1"/>
          <p:nvPr/>
        </p:nvSpPr>
        <p:spPr>
          <a:xfrm>
            <a:off x="4883956" y="669925"/>
            <a:ext cx="3802037" cy="59761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처리 과정</a:t>
            </a:r>
            <a:endParaRPr lang="en-US" altLang="ko-KR" sz="2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Client Chat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Encrypt Packet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 Recv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Decrypt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Broadcast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DB Log Insert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326859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5A9E6-98E4-2BD9-EDF4-6AF490E12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10D1D-3F89-F310-6E70-666016D4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2B3C44-452D-3F21-9A69-AA6D80AC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공통 설계 방향</a:t>
            </a:r>
          </a:p>
          <a:p>
            <a:pPr lvl="1"/>
            <a:r>
              <a:rPr lang="ko-KR" altLang="en-US" dirty="0"/>
              <a:t>인터페이스 추상화</a:t>
            </a:r>
          </a:p>
          <a:p>
            <a:pPr lvl="1"/>
            <a:r>
              <a:rPr lang="ko-KR" altLang="en-US" dirty="0"/>
              <a:t>공통 기반 클래스</a:t>
            </a:r>
          </a:p>
          <a:p>
            <a:pPr lvl="1"/>
            <a:r>
              <a:rPr lang="ko-KR" altLang="en-US" dirty="0"/>
              <a:t>구체 구현 클래스</a:t>
            </a:r>
          </a:p>
          <a:p>
            <a:pPr lvl="1"/>
            <a:r>
              <a:rPr lang="en-US" altLang="ko-KR" dirty="0"/>
              <a:t>Factory </a:t>
            </a:r>
            <a:r>
              <a:rPr lang="ko-KR" altLang="en-US" dirty="0"/>
              <a:t>선택</a:t>
            </a:r>
          </a:p>
          <a:p>
            <a:pPr lvl="1"/>
            <a:r>
              <a:rPr lang="ko-KR" altLang="en-US" dirty="0"/>
              <a:t>응용 계층 코드 단순화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AE5B12-A6AC-E493-386F-4A3B618E7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AD59A-2AF3-69C2-F706-77C517BEB522}"/>
              </a:ext>
            </a:extLst>
          </p:cNvPr>
          <p:cNvSpPr txBox="1"/>
          <p:nvPr/>
        </p:nvSpPr>
        <p:spPr>
          <a:xfrm>
            <a:off x="4427984" y="671096"/>
            <a:ext cx="4572000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Consolas" panose="020B0609020204030204" pitchFamily="49" charset="0"/>
              </a:rPr>
              <a:t>Network Library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ILcNet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CLcNet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>
                <a:latin typeface="Consolas" panose="020B0609020204030204" pitchFamily="49" charset="0"/>
              </a:rPr>
              <a:t>Select / Event / IOCP</a:t>
            </a:r>
            <a:endParaRPr lang="ko-KR" altLang="en-US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DB Library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ILcDB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CLcDB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CLcOdbc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CLcOledb</a:t>
            </a:r>
            <a:endParaRPr lang="ko-KR" altLang="en-US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Crypt Layer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ILcCrypt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CLcCrypt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en-US" altLang="ko-KR" b="1" dirty="0" err="1">
                <a:latin typeface="Consolas" panose="020B0609020204030204" pitchFamily="49" charset="0"/>
              </a:rPr>
              <a:t>CLcXorCrypt</a:t>
            </a:r>
            <a:endParaRPr lang="ko-KR" altLang="en-US" b="1" dirty="0">
              <a:latin typeface="Consolas" panose="020B0609020204030204" pitchFamily="49" charset="0"/>
            </a:endParaRPr>
          </a:p>
          <a:p>
            <a:pPr lvl="1"/>
            <a:r>
              <a:rPr lang="ko-KR" altLang="en-US" b="1" dirty="0">
                <a:latin typeface="Consolas" panose="020B0609020204030204" pitchFamily="49" charset="0"/>
              </a:rPr>
              <a:t>외부 라이브러리 교체 가능</a:t>
            </a:r>
          </a:p>
        </p:txBody>
      </p:sp>
    </p:spTree>
    <p:extLst>
      <p:ext uri="{BB962C8B-B14F-4D97-AF65-F5344CB8AC3E}">
        <p14:creationId xmlns:p14="http://schemas.microsoft.com/office/powerpoint/2010/main" val="25298615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B0EA5-4187-0DEB-4435-8153C912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EF382-57C4-EE5D-3D82-ACBE005B9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→ 송수신 추상화</a:t>
            </a:r>
          </a:p>
          <a:p>
            <a:r>
              <a:rPr lang="en-US" altLang="ko-KR" dirty="0"/>
              <a:t>DB</a:t>
            </a:r>
            <a:r>
              <a:rPr lang="ko-KR" altLang="en-US" dirty="0"/>
              <a:t> → 데이터 접근 추상화</a:t>
            </a:r>
          </a:p>
          <a:p>
            <a:r>
              <a:rPr lang="ko-KR" altLang="en-US" dirty="0"/>
              <a:t>암호화 → 패킷 보호 계층</a:t>
            </a:r>
          </a:p>
          <a:p>
            <a:r>
              <a:rPr lang="ko-KR" altLang="en-US" dirty="0"/>
              <a:t>공통 방향 → 인터페이스 기반 라이브러리화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16F62D-9F1D-2CC0-987E-FFDB0380E7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C32F6-2B75-907E-C630-3BE95F1C40CA}"/>
              </a:ext>
            </a:extLst>
          </p:cNvPr>
          <p:cNvSpPr txBox="1"/>
          <p:nvPr/>
        </p:nvSpPr>
        <p:spPr>
          <a:xfrm>
            <a:off x="755576" y="2776345"/>
            <a:ext cx="2985541" cy="2929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24000" tIns="216000" rIns="216000" bIns="216000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Application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ILcNet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PacketEncode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</a:t>
            </a:r>
            <a:endParaRPr lang="ko-KR" alt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FFDA4-F008-49FD-DE6E-7CF04CD44982}"/>
              </a:ext>
            </a:extLst>
          </p:cNvPr>
          <p:cNvSpPr txBox="1"/>
          <p:nvPr/>
        </p:nvSpPr>
        <p:spPr>
          <a:xfrm>
            <a:off x="4322763" y="2776345"/>
            <a:ext cx="2985541" cy="4037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24000" tIns="216000" rIns="216000" bIns="216000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ILcCrypt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PacketDecode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 Logic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ILcDB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CLcOdbc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CLcOledb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Database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77312557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600" b="1" dirty="0">
            <a:solidFill>
              <a:srgbClr val="0000FF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3765</TotalTime>
  <Words>7225</Words>
  <Application>Microsoft Office PowerPoint</Application>
  <PresentationFormat>화면 슬라이드 쇼(4:3)</PresentationFormat>
  <Paragraphs>618</Paragraphs>
  <Slides>79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87" baseType="lpstr">
      <vt:lpstr>HY견고딕</vt:lpstr>
      <vt:lpstr>가을체</vt:lpstr>
      <vt:lpstr>굴림</vt:lpstr>
      <vt:lpstr>나눔바른고딕</vt:lpstr>
      <vt:lpstr>Arial</vt:lpstr>
      <vt:lpstr>Consolas</vt:lpstr>
      <vt:lpstr>Wingdings</vt:lpstr>
      <vt:lpstr>기본 디자인</vt:lpstr>
      <vt:lpstr>Network Programming - 18 Network Library 확장  afewhee@gmail.com</vt:lpstr>
      <vt:lpstr>0 목차</vt:lpstr>
      <vt:lpstr>1.1 Network Library 확장 방향</vt:lpstr>
      <vt:lpstr>1.1 Network Library 확장 방향</vt:lpstr>
      <vt:lpstr>1.2 주요 구성 요소</vt:lpstr>
      <vt:lpstr>1.3 라이브러리 확장 기준</vt:lpstr>
      <vt:lpstr>1.4 ODBC / OLE DB 개요</vt:lpstr>
      <vt:lpstr>1.5 ODBC 주요 함수</vt:lpstr>
      <vt:lpstr>1.6 OLEDB / ADO 주요 함수</vt:lpstr>
      <vt:lpstr>2.1 DB Library 설계 : DB Library 설계 방향</vt:lpstr>
      <vt:lpstr>2.1 DB Library 설계 : Application 흐름</vt:lpstr>
      <vt:lpstr>2.2 ILcDB 인터페이스 구현 내용</vt:lpstr>
      <vt:lpstr>2.2 ILcDB 인터페이스 구현 내용</vt:lpstr>
      <vt:lpstr>2.3 ILcDB 함수 구성</vt:lpstr>
      <vt:lpstr>2.4 DB Factory</vt:lpstr>
      <vt:lpstr>2.4 DB Factory</vt:lpstr>
      <vt:lpstr>2.5 CreateAndConnect</vt:lpstr>
      <vt:lpstr>2.5 CreateAndConnect</vt:lpstr>
      <vt:lpstr>3.1 CLcDB 공통 기반: CLcDB 기본 클래스</vt:lpstr>
      <vt:lpstr>3.2 CLcDB 기본 구현: 구현 내용</vt:lpstr>
      <vt:lpstr>4.1 ODBC 구현: CLcOdbc 구조</vt:lpstr>
      <vt:lpstr>4.2 ODBC 연결 종류</vt:lpstr>
      <vt:lpstr>4.3 ODBC 연결 구현 내용</vt:lpstr>
      <vt:lpstr>4.4 CLcOdbc Create</vt:lpstr>
      <vt:lpstr>4.5 CLcOdbc Create 구현</vt:lpstr>
      <vt:lpstr>4.6 CLcOdbc Connect</vt:lpstr>
      <vt:lpstr>4.7 CLcOdbc Connect 구현</vt:lpstr>
      <vt:lpstr>4.8 ODBC DSN / SQL 연결</vt:lpstr>
      <vt:lpstr>4.9 ODBC DSN / SQL 연결 구현</vt:lpstr>
      <vt:lpstr>4.10 ODBC SqlBind</vt:lpstr>
      <vt:lpstr>4.11 ODBC SqlBind 구현</vt:lpstr>
      <vt:lpstr>4.12 ODBC SqlExec</vt:lpstr>
      <vt:lpstr>4.13 ODBC SqlClose</vt:lpstr>
      <vt:lpstr>5.1 OLEDB 구현: CLcOledb 구조</vt:lpstr>
      <vt:lpstr>5.2 OLEDB 연결 종류: 구현</vt:lpstr>
      <vt:lpstr>5.3 CLcOledb Create / Destroy</vt:lpstr>
      <vt:lpstr>5.4 CLcOledb Create 구현</vt:lpstr>
      <vt:lpstr>5.5 CLcOledb Destroy 구현</vt:lpstr>
      <vt:lpstr>5.6 CLcOledb Query / Host 설정</vt:lpstr>
      <vt:lpstr>5.7 CLcOledb Connect</vt:lpstr>
      <vt:lpstr>5.8 CLcOledb Connect 구현</vt:lpstr>
      <vt:lpstr>5.9 OLEDB SQL 연결</vt:lpstr>
      <vt:lpstr>5.10 OLEDB SQL 연결 구현</vt:lpstr>
      <vt:lpstr>5.11 OLEDB Excel 연결</vt:lpstr>
      <vt:lpstr>5.12 OLEDB Excel 연결 구현</vt:lpstr>
      <vt:lpstr>5.13 OLEDB SqlBind</vt:lpstr>
      <vt:lpstr>5.14 OLEDB SqlBind 구현</vt:lpstr>
      <vt:lpstr>5.15 OLEDB SqlExec / SqlClose</vt:lpstr>
      <vt:lpstr>5.16 OLEDB SqlExec 구현</vt:lpstr>
      <vt:lpstr>5.17 OLEDB SqlClose 구현</vt:lpstr>
      <vt:lpstr>6.1 DB 사용: ODBC 사용 예</vt:lpstr>
      <vt:lpstr>6.1 DB 사용: ODBC 사용 예</vt:lpstr>
      <vt:lpstr>6.2 ODBC 결과 처리</vt:lpstr>
      <vt:lpstr>6.3 ODBC 결과 처리 구현</vt:lpstr>
      <vt:lpstr>6.4 OLEDB 사용 예</vt:lpstr>
      <vt:lpstr>6.5 OLEDB 사용 구현 예</vt:lpstr>
      <vt:lpstr>6.6 DB Library 요약</vt:lpstr>
      <vt:lpstr>7.1 암호화 / 복호화 계층 32. 암호화 계층 필요성</vt:lpstr>
      <vt:lpstr>7.2 암호화 계층 위치</vt:lpstr>
      <vt:lpstr>7.3 암호화</vt:lpstr>
      <vt:lpstr>7.4 Header와 Payload 암호화 구현 방식 비교</vt:lpstr>
      <vt:lpstr>7.5 ILcCrypt 인터페이스 설계안</vt:lpstr>
      <vt:lpstr>7.6 ILcCrypt 인터페이스 구현 구조</vt:lpstr>
      <vt:lpstr>7.7 CLcCrypt 공통 기반 설계안</vt:lpstr>
      <vt:lpstr>7.8 CLcCrypt 공통 기반 구현 구조</vt:lpstr>
      <vt:lpstr>7.9 XOR 암호화 구조</vt:lpstr>
      <vt:lpstr>7.10 XOR 암호화 구조 - 구현</vt:lpstr>
      <vt:lpstr>7.11 PacketEncode와 Encrypt 결합</vt:lpstr>
      <vt:lpstr>7.12 Decrypt와 PacketDecode 결합</vt:lpstr>
      <vt:lpstr>7.13 암호화 적용 단위 - 구현 방식 비교</vt:lpstr>
      <vt:lpstr>7.14 암호화 적용 단위 - 구현 방식 비교</vt:lpstr>
      <vt:lpstr>7.15 암호화 적용 단위 - 구현 방식 비교</vt:lpstr>
      <vt:lpstr>7.16 암호화 라이브러리 후보</vt:lpstr>
      <vt:lpstr>7.17 암호화 계층 설계 요약</vt:lpstr>
      <vt:lpstr>8.1 통합 구조: Network + DB + Crypt 통합</vt:lpstr>
      <vt:lpstr>8.2 로그인 처리 예시</vt:lpstr>
      <vt:lpstr>8.3 채팅 로그 저장 예시</vt:lpstr>
      <vt:lpstr>9. 정리</vt:lpstr>
      <vt:lpstr>9.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KOREAIT</cp:lastModifiedBy>
  <cp:revision>214</cp:revision>
  <dcterms:created xsi:type="dcterms:W3CDTF">2003-11-30T16:03:20Z</dcterms:created>
  <dcterms:modified xsi:type="dcterms:W3CDTF">2026-06-10T01:50:07Z</dcterms:modified>
</cp:coreProperties>
</file>